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8" r:id="rId1"/>
  </p:sldMasterIdLst>
  <p:notesMasterIdLst>
    <p:notesMasterId r:id="rId16"/>
  </p:notesMasterIdLst>
  <p:sldIdLst>
    <p:sldId id="345" r:id="rId2"/>
    <p:sldId id="258" r:id="rId3"/>
    <p:sldId id="264" r:id="rId4"/>
    <p:sldId id="336" r:id="rId5"/>
    <p:sldId id="266" r:id="rId6"/>
    <p:sldId id="267" r:id="rId7"/>
    <p:sldId id="337" r:id="rId8"/>
    <p:sldId id="339" r:id="rId9"/>
    <p:sldId id="338" r:id="rId10"/>
    <p:sldId id="340" r:id="rId11"/>
    <p:sldId id="341" r:id="rId12"/>
    <p:sldId id="342" r:id="rId13"/>
    <p:sldId id="343" r:id="rId14"/>
    <p:sldId id="344" r:id="rId15"/>
  </p:sldIdLst>
  <p:sldSz cx="9144000" cy="5143500" type="screen16x9"/>
  <p:notesSz cx="6858000" cy="9144000"/>
  <p:embeddedFontLst>
    <p:embeddedFont>
      <p:font typeface="Bahnschrift SemiBold" panose="020B0502040204020203" pitchFamily="34" charset="0"/>
      <p:bold r:id="rId17"/>
    </p:embeddedFont>
    <p:embeddedFont>
      <p:font typeface="Bahnschrift SemiBold SemiConden" panose="020B0502040204020203" pitchFamily="34" charset="0"/>
      <p:bold r:id="rId18"/>
    </p:embeddedFont>
    <p:embeddedFont>
      <p:font typeface="Bahnschrift SemiCondensed" panose="020B0502040204020203" pitchFamily="34" charset="0"/>
      <p:regular r:id="rId19"/>
      <p:bold r:id="rId20"/>
    </p:embeddedFont>
    <p:embeddedFont>
      <p:font typeface="Bahnschrift SemiLight Condensed" panose="020B0502040204020203" pitchFamily="34" charset="0"/>
      <p:regular r:id="rId21"/>
    </p:embeddedFont>
    <p:embeddedFont>
      <p:font typeface="Bebas Neue" panose="020B0606020202050201" pitchFamily="34" charset="0"/>
      <p:regular r:id="rId22"/>
    </p:embeddedFont>
    <p:embeddedFont>
      <p:font typeface="Century Gothic" panose="020B0502020202020204" pitchFamily="34" charset="0"/>
      <p:regular r:id="rId23"/>
      <p:bold r:id="rId24"/>
      <p:italic r:id="rId25"/>
      <p:boldItalic r:id="rId26"/>
    </p:embeddedFont>
    <p:embeddedFont>
      <p:font typeface="Darker Grotesque Medium" panose="020B0604020202020204" charset="0"/>
      <p:regular r:id="rId27"/>
      <p:bold r:id="rId28"/>
    </p:embeddedFont>
    <p:embeddedFont>
      <p:font typeface="Prompt" panose="00000500000000000000" pitchFamily="2" charset="-34"/>
      <p:regular r:id="rId29"/>
      <p:bold r:id="rId30"/>
      <p:italic r:id="rId31"/>
      <p:boldItalic r:id="rId32"/>
    </p:embeddedFont>
    <p:embeddedFont>
      <p:font typeface="Roboto Condensed Light" panose="02000000000000000000" pitchFamily="2" charset="0"/>
      <p:regular r:id="rId33"/>
      <p: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1D47D95-B006-47B1-9FE8-6B8A894E8558}">
  <a:tblStyle styleId="{D1D47D95-B006-47B1-9FE8-6B8A894E85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a99c09f7d2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a99c09f7d2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ad4e9fce70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ad4e9fce70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a99c09f7d2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a99c09f7d2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1615d0df03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1615d0df03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0184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20000" y="3527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20000" y="101772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entury Gothic"/>
              <a:buAutoNum type="arabicPeriod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 sz="1600"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 sz="1600"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 sz="1600"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 sz="1600"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 sz="1600"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 sz="1600"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 sz="1600"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 sz="16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2330850" y="1193175"/>
            <a:ext cx="44823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ubTitle" idx="1"/>
          </p:nvPr>
        </p:nvSpPr>
        <p:spPr>
          <a:xfrm>
            <a:off x="2330850" y="2441553"/>
            <a:ext cx="44823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entury Gothic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 txBox="1">
            <a:spLocks noGrp="1"/>
          </p:cNvSpPr>
          <p:nvPr>
            <p:ph type="subTitle" idx="1"/>
          </p:nvPr>
        </p:nvSpPr>
        <p:spPr>
          <a:xfrm>
            <a:off x="1874100" y="1664950"/>
            <a:ext cx="5395800" cy="26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lvl="2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lvl="3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lvl="4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lvl="5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lvl="6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lvl="7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lvl="8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title"/>
          </p:nvPr>
        </p:nvSpPr>
        <p:spPr>
          <a:xfrm>
            <a:off x="720000" y="3527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1543370" y="1370800"/>
            <a:ext cx="2439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title" idx="2" hasCustomPrompt="1"/>
          </p:nvPr>
        </p:nvSpPr>
        <p:spPr>
          <a:xfrm>
            <a:off x="884000" y="1470575"/>
            <a:ext cx="6594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7"/>
          <p:cNvSpPr txBox="1">
            <a:spLocks noGrp="1"/>
          </p:cNvSpPr>
          <p:nvPr>
            <p:ph type="subTitle" idx="1"/>
          </p:nvPr>
        </p:nvSpPr>
        <p:spPr>
          <a:xfrm>
            <a:off x="1543386" y="1804925"/>
            <a:ext cx="2722800" cy="7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title" idx="3"/>
          </p:nvPr>
        </p:nvSpPr>
        <p:spPr>
          <a:xfrm>
            <a:off x="5537187" y="1370800"/>
            <a:ext cx="2439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title" idx="4" hasCustomPrompt="1"/>
          </p:nvPr>
        </p:nvSpPr>
        <p:spPr>
          <a:xfrm>
            <a:off x="4877826" y="1470575"/>
            <a:ext cx="6594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7"/>
          <p:cNvSpPr txBox="1">
            <a:spLocks noGrp="1"/>
          </p:cNvSpPr>
          <p:nvPr>
            <p:ph type="subTitle" idx="5"/>
          </p:nvPr>
        </p:nvSpPr>
        <p:spPr>
          <a:xfrm>
            <a:off x="5537203" y="1804925"/>
            <a:ext cx="2722800" cy="7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title" idx="6"/>
          </p:nvPr>
        </p:nvSpPr>
        <p:spPr>
          <a:xfrm>
            <a:off x="1543370" y="2869150"/>
            <a:ext cx="2439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title" idx="7" hasCustomPrompt="1"/>
          </p:nvPr>
        </p:nvSpPr>
        <p:spPr>
          <a:xfrm>
            <a:off x="884000" y="2968925"/>
            <a:ext cx="6594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7"/>
          <p:cNvSpPr txBox="1">
            <a:spLocks noGrp="1"/>
          </p:cNvSpPr>
          <p:nvPr>
            <p:ph type="subTitle" idx="8"/>
          </p:nvPr>
        </p:nvSpPr>
        <p:spPr>
          <a:xfrm>
            <a:off x="1543386" y="3303275"/>
            <a:ext cx="2722800" cy="7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title" idx="9"/>
          </p:nvPr>
        </p:nvSpPr>
        <p:spPr>
          <a:xfrm>
            <a:off x="5537187" y="2869150"/>
            <a:ext cx="2439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title" idx="13" hasCustomPrompt="1"/>
          </p:nvPr>
        </p:nvSpPr>
        <p:spPr>
          <a:xfrm>
            <a:off x="4877826" y="2968925"/>
            <a:ext cx="6594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7"/>
          <p:cNvSpPr txBox="1">
            <a:spLocks noGrp="1"/>
          </p:cNvSpPr>
          <p:nvPr>
            <p:ph type="subTitle" idx="14"/>
          </p:nvPr>
        </p:nvSpPr>
        <p:spPr>
          <a:xfrm>
            <a:off x="5537203" y="3303275"/>
            <a:ext cx="2722800" cy="7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title" idx="15"/>
          </p:nvPr>
        </p:nvSpPr>
        <p:spPr>
          <a:xfrm>
            <a:off x="720000" y="3527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>
            <a:spLocks noGrp="1"/>
          </p:cNvSpPr>
          <p:nvPr>
            <p:ph type="title"/>
          </p:nvPr>
        </p:nvSpPr>
        <p:spPr>
          <a:xfrm>
            <a:off x="720000" y="2603360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subTitle" idx="1"/>
          </p:nvPr>
        </p:nvSpPr>
        <p:spPr>
          <a:xfrm>
            <a:off x="720000" y="3048425"/>
            <a:ext cx="2336400" cy="8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title" idx="2"/>
          </p:nvPr>
        </p:nvSpPr>
        <p:spPr>
          <a:xfrm>
            <a:off x="3403800" y="2603360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subTitle" idx="3"/>
          </p:nvPr>
        </p:nvSpPr>
        <p:spPr>
          <a:xfrm>
            <a:off x="3403800" y="3048425"/>
            <a:ext cx="2336400" cy="8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title" idx="4"/>
          </p:nvPr>
        </p:nvSpPr>
        <p:spPr>
          <a:xfrm>
            <a:off x="6087600" y="2603360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subTitle" idx="5"/>
          </p:nvPr>
        </p:nvSpPr>
        <p:spPr>
          <a:xfrm>
            <a:off x="6087600" y="3048425"/>
            <a:ext cx="2336400" cy="8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title" idx="6"/>
          </p:nvPr>
        </p:nvSpPr>
        <p:spPr>
          <a:xfrm>
            <a:off x="720000" y="3527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>
            <a:spLocks noGrp="1"/>
          </p:cNvSpPr>
          <p:nvPr>
            <p:ph type="title"/>
          </p:nvPr>
        </p:nvSpPr>
        <p:spPr>
          <a:xfrm>
            <a:off x="1705825" y="1533313"/>
            <a:ext cx="2584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subTitle" idx="1"/>
          </p:nvPr>
        </p:nvSpPr>
        <p:spPr>
          <a:xfrm>
            <a:off x="1705825" y="1916675"/>
            <a:ext cx="258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title" idx="2"/>
          </p:nvPr>
        </p:nvSpPr>
        <p:spPr>
          <a:xfrm>
            <a:off x="5723975" y="1533325"/>
            <a:ext cx="2700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ubTitle" idx="3"/>
          </p:nvPr>
        </p:nvSpPr>
        <p:spPr>
          <a:xfrm>
            <a:off x="5723975" y="1916687"/>
            <a:ext cx="27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title" idx="4"/>
          </p:nvPr>
        </p:nvSpPr>
        <p:spPr>
          <a:xfrm>
            <a:off x="1705825" y="3119113"/>
            <a:ext cx="2584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subTitle" idx="5"/>
          </p:nvPr>
        </p:nvSpPr>
        <p:spPr>
          <a:xfrm>
            <a:off x="1705825" y="3507350"/>
            <a:ext cx="258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25"/>
          <p:cNvSpPr txBox="1">
            <a:spLocks noGrp="1"/>
          </p:cNvSpPr>
          <p:nvPr>
            <p:ph type="title" idx="6"/>
          </p:nvPr>
        </p:nvSpPr>
        <p:spPr>
          <a:xfrm>
            <a:off x="5723975" y="3119117"/>
            <a:ext cx="2700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4" name="Google Shape;134;p25"/>
          <p:cNvSpPr txBox="1">
            <a:spLocks noGrp="1"/>
          </p:cNvSpPr>
          <p:nvPr>
            <p:ph type="subTitle" idx="7"/>
          </p:nvPr>
        </p:nvSpPr>
        <p:spPr>
          <a:xfrm>
            <a:off x="5723975" y="3507353"/>
            <a:ext cx="27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5" name="Google Shape;135;p25"/>
          <p:cNvSpPr txBox="1">
            <a:spLocks noGrp="1"/>
          </p:cNvSpPr>
          <p:nvPr>
            <p:ph type="title" idx="8"/>
          </p:nvPr>
        </p:nvSpPr>
        <p:spPr>
          <a:xfrm>
            <a:off x="720000" y="3527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CUSTOM_1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>
            <a:spLocks noGrp="1"/>
          </p:cNvSpPr>
          <p:nvPr>
            <p:ph type="title"/>
          </p:nvPr>
        </p:nvSpPr>
        <p:spPr>
          <a:xfrm>
            <a:off x="2726700" y="352952"/>
            <a:ext cx="3690600" cy="7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18" name="Google Shape;218;p40"/>
          <p:cNvSpPr txBox="1">
            <a:spLocks noGrp="1"/>
          </p:cNvSpPr>
          <p:nvPr>
            <p:ph type="body" idx="1"/>
          </p:nvPr>
        </p:nvSpPr>
        <p:spPr>
          <a:xfrm>
            <a:off x="2679000" y="1251950"/>
            <a:ext cx="3786000" cy="29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entury Gothic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 sz="1600"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 sz="1600"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 sz="1600"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 sz="1600"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 sz="1600"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 sz="1600"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 sz="1600"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 sz="16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1"/>
          <p:cNvSpPr txBox="1">
            <a:spLocks noGrp="1"/>
          </p:cNvSpPr>
          <p:nvPr>
            <p:ph type="subTitle" idx="1"/>
          </p:nvPr>
        </p:nvSpPr>
        <p:spPr>
          <a:xfrm>
            <a:off x="4572004" y="1431900"/>
            <a:ext cx="3078000" cy="22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1" name="Google Shape;221;p41"/>
          <p:cNvSpPr txBox="1">
            <a:spLocks noGrp="1"/>
          </p:cNvSpPr>
          <p:nvPr>
            <p:ph type="title"/>
          </p:nvPr>
        </p:nvSpPr>
        <p:spPr>
          <a:xfrm>
            <a:off x="720000" y="377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41"/>
          <p:cNvSpPr txBox="1">
            <a:spLocks noGrp="1"/>
          </p:cNvSpPr>
          <p:nvPr>
            <p:ph type="subTitle" idx="2"/>
          </p:nvPr>
        </p:nvSpPr>
        <p:spPr>
          <a:xfrm>
            <a:off x="1493996" y="1431900"/>
            <a:ext cx="3078000" cy="22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>
            <a:spLocks noGrp="1"/>
          </p:cNvSpPr>
          <p:nvPr>
            <p:ph type="subTitle" idx="1"/>
          </p:nvPr>
        </p:nvSpPr>
        <p:spPr>
          <a:xfrm>
            <a:off x="1253175" y="3613400"/>
            <a:ext cx="2785800" cy="8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entury Gothic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Century Gothic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25" name="Google Shape;225;p42"/>
          <p:cNvSpPr txBox="1">
            <a:spLocks noGrp="1"/>
          </p:cNvSpPr>
          <p:nvPr>
            <p:ph type="subTitle" idx="2"/>
          </p:nvPr>
        </p:nvSpPr>
        <p:spPr>
          <a:xfrm>
            <a:off x="5105100" y="3613400"/>
            <a:ext cx="2785800" cy="8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entury Gothic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Century Gothic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26" name="Google Shape;226;p42"/>
          <p:cNvSpPr txBox="1">
            <a:spLocks noGrp="1"/>
          </p:cNvSpPr>
          <p:nvPr>
            <p:ph type="subTitle" idx="3"/>
          </p:nvPr>
        </p:nvSpPr>
        <p:spPr>
          <a:xfrm>
            <a:off x="1253025" y="3128600"/>
            <a:ext cx="2785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entury Gothic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27" name="Google Shape;227;p42"/>
          <p:cNvSpPr txBox="1">
            <a:spLocks noGrp="1"/>
          </p:cNvSpPr>
          <p:nvPr>
            <p:ph type="subTitle" idx="4"/>
          </p:nvPr>
        </p:nvSpPr>
        <p:spPr>
          <a:xfrm>
            <a:off x="5105100" y="3128600"/>
            <a:ext cx="2785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entury Gothic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28" name="Google Shape;228;p42"/>
          <p:cNvSpPr txBox="1">
            <a:spLocks noGrp="1"/>
          </p:cNvSpPr>
          <p:nvPr>
            <p:ph type="title"/>
          </p:nvPr>
        </p:nvSpPr>
        <p:spPr>
          <a:xfrm>
            <a:off x="720000" y="3527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arker Grotesque Medium"/>
              <a:buChar char="●"/>
              <a:defRPr sz="18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○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■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●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○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■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●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○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arker Grotesque Medium"/>
              <a:buChar char="■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8" r:id="rId3"/>
    <p:sldLayoutId id="2147483659" r:id="rId4"/>
    <p:sldLayoutId id="2147483663" r:id="rId5"/>
    <p:sldLayoutId id="2147483667" r:id="rId6"/>
    <p:sldLayoutId id="2147483671" r:id="rId7"/>
    <p:sldLayoutId id="2147483686" r:id="rId8"/>
    <p:sldLayoutId id="2147483687" r:id="rId9"/>
    <p:sldLayoutId id="2147483688" r:id="rId10"/>
    <p:sldLayoutId id="2147483702" r:id="rId11"/>
    <p:sldLayoutId id="2147483703" r:id="rId12"/>
    <p:sldLayoutId id="2147483704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bin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55C76A-9EA3-94B3-26EC-F0177CB60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455" y="143588"/>
            <a:ext cx="2207089" cy="6369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63A362-4BA9-A745-8CFA-962AEDC297E1}"/>
              </a:ext>
            </a:extLst>
          </p:cNvPr>
          <p:cNvSpPr txBox="1"/>
          <p:nvPr/>
        </p:nvSpPr>
        <p:spPr>
          <a:xfrm>
            <a:off x="2285999" y="1142545"/>
            <a:ext cx="4572000" cy="3896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PROJECT PRESENTATION</a:t>
            </a:r>
          </a:p>
          <a:p>
            <a:pPr algn="ctr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 algn="ctr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 TICKET BOOKING SYSTEM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  <a:tabLst>
                <a:tab pos="4052570" algn="l"/>
              </a:tabLst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</a:p>
          <a:p>
            <a:pPr algn="ctr">
              <a:buNone/>
              <a:tabLst>
                <a:tab pos="2633345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Tirth Prajapati | En. No. - 2104030100785</a:t>
            </a:r>
          </a:p>
          <a:p>
            <a:pPr algn="ctr">
              <a:buNone/>
              <a:tabLst>
                <a:tab pos="263334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Lakshya Parihar | En. No. - 2104030100551</a:t>
            </a:r>
          </a:p>
          <a:p>
            <a:pPr algn="ctr">
              <a:buNone/>
              <a:tabLst>
                <a:tab pos="263334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Uday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Sathvara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En. No. - 2104030100885</a:t>
            </a:r>
          </a:p>
          <a:p>
            <a:pPr algn="ctr">
              <a:buNone/>
              <a:tabLst>
                <a:tab pos="2633345" algn="l"/>
              </a:tabLst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lnSpc>
                <a:spcPct val="170000"/>
              </a:lnSpc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B.C.A.  - V</a:t>
            </a:r>
          </a:p>
          <a:p>
            <a:pPr algn="ctr">
              <a:buNone/>
            </a:pPr>
            <a:endParaRPr lang="en-US" sz="1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buNone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Guide</a:t>
            </a:r>
          </a:p>
          <a:p>
            <a:pPr algn="ctr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Vandana Patel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264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6"/>
          <p:cNvSpPr txBox="1">
            <a:spLocks noGrp="1"/>
          </p:cNvSpPr>
          <p:nvPr>
            <p:ph type="title"/>
          </p:nvPr>
        </p:nvSpPr>
        <p:spPr>
          <a:xfrm>
            <a:off x="1543370" y="989438"/>
            <a:ext cx="2439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INTRODUCTION</a:t>
            </a:r>
            <a:endParaRPr sz="1800" dirty="0"/>
          </a:p>
        </p:txBody>
      </p:sp>
      <p:sp>
        <p:nvSpPr>
          <p:cNvPr id="302" name="Google Shape;302;p66"/>
          <p:cNvSpPr txBox="1">
            <a:spLocks noGrp="1"/>
          </p:cNvSpPr>
          <p:nvPr>
            <p:ph type="title" idx="2"/>
          </p:nvPr>
        </p:nvSpPr>
        <p:spPr>
          <a:xfrm>
            <a:off x="883985" y="907950"/>
            <a:ext cx="6594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01</a:t>
            </a:r>
            <a:endParaRPr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3" name="Google Shape;303;p66"/>
          <p:cNvSpPr txBox="1">
            <a:spLocks noGrp="1"/>
          </p:cNvSpPr>
          <p:nvPr>
            <p:ph type="subTitle" idx="1"/>
          </p:nvPr>
        </p:nvSpPr>
        <p:spPr>
          <a:xfrm>
            <a:off x="1543370" y="1341128"/>
            <a:ext cx="2722800" cy="4526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>
                <a:latin typeface="Bebas Neue" panose="020B0606020202050201" pitchFamily="34" charset="0"/>
              </a:rPr>
              <a:t>OBJECTIVES</a:t>
            </a:r>
            <a:endParaRPr dirty="0">
              <a:latin typeface="Bebas Neue" panose="020B0606020202050201" pitchFamily="34" charset="0"/>
            </a:endParaRPr>
          </a:p>
        </p:txBody>
      </p:sp>
      <p:sp>
        <p:nvSpPr>
          <p:cNvPr id="304" name="Google Shape;304;p66"/>
          <p:cNvSpPr txBox="1">
            <a:spLocks noGrp="1"/>
          </p:cNvSpPr>
          <p:nvPr>
            <p:ph type="title" idx="3"/>
          </p:nvPr>
        </p:nvSpPr>
        <p:spPr>
          <a:xfrm>
            <a:off x="1543359" y="1905845"/>
            <a:ext cx="3340877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/>
              <a:t>T</a:t>
            </a:r>
            <a:r>
              <a:rPr lang="en" sz="1800" dirty="0"/>
              <a:t>ools/platform hardware and software</a:t>
            </a:r>
            <a:endParaRPr sz="1800" dirty="0"/>
          </a:p>
        </p:txBody>
      </p:sp>
      <p:sp>
        <p:nvSpPr>
          <p:cNvPr id="305" name="Google Shape;305;p66"/>
          <p:cNvSpPr txBox="1">
            <a:spLocks noGrp="1"/>
          </p:cNvSpPr>
          <p:nvPr>
            <p:ph type="title" idx="4"/>
          </p:nvPr>
        </p:nvSpPr>
        <p:spPr>
          <a:xfrm>
            <a:off x="883978" y="1217791"/>
            <a:ext cx="6594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02</a:t>
            </a:r>
            <a:endParaRPr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6" name="Google Shape;306;p66"/>
          <p:cNvSpPr txBox="1">
            <a:spLocks noGrp="1"/>
          </p:cNvSpPr>
          <p:nvPr>
            <p:ph type="subTitle" idx="5"/>
          </p:nvPr>
        </p:nvSpPr>
        <p:spPr>
          <a:xfrm>
            <a:off x="1543313" y="3051353"/>
            <a:ext cx="2722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>
                <a:latin typeface="Bebas Neue" panose="020B0606020202050201" pitchFamily="34" charset="0"/>
              </a:rPr>
              <a:t>SCOPE OF THE PROJECT</a:t>
            </a:r>
            <a:endParaRPr dirty="0">
              <a:latin typeface="Bebas Neue" panose="020B0606020202050201" pitchFamily="34" charset="0"/>
            </a:endParaRPr>
          </a:p>
        </p:txBody>
      </p:sp>
      <p:sp>
        <p:nvSpPr>
          <p:cNvPr id="307" name="Google Shape;307;p66"/>
          <p:cNvSpPr txBox="1">
            <a:spLocks noGrp="1"/>
          </p:cNvSpPr>
          <p:nvPr>
            <p:ph type="title" idx="6"/>
          </p:nvPr>
        </p:nvSpPr>
        <p:spPr>
          <a:xfrm>
            <a:off x="1543355" y="1606226"/>
            <a:ext cx="2439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/>
              <a:t>Project</a:t>
            </a:r>
            <a:r>
              <a:rPr lang="en" sz="1800" dirty="0"/>
              <a:t> category</a:t>
            </a:r>
            <a:endParaRPr sz="1800" dirty="0"/>
          </a:p>
        </p:txBody>
      </p:sp>
      <p:sp>
        <p:nvSpPr>
          <p:cNvPr id="308" name="Google Shape;308;p66"/>
          <p:cNvSpPr txBox="1">
            <a:spLocks noGrp="1"/>
          </p:cNvSpPr>
          <p:nvPr>
            <p:ph type="title" idx="7"/>
          </p:nvPr>
        </p:nvSpPr>
        <p:spPr>
          <a:xfrm>
            <a:off x="883946" y="1514491"/>
            <a:ext cx="6594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03</a:t>
            </a:r>
            <a:endParaRPr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9" name="Google Shape;309;p66"/>
          <p:cNvSpPr txBox="1">
            <a:spLocks noGrp="1"/>
          </p:cNvSpPr>
          <p:nvPr>
            <p:ph type="subTitle" idx="8"/>
          </p:nvPr>
        </p:nvSpPr>
        <p:spPr>
          <a:xfrm>
            <a:off x="1543313" y="3322721"/>
            <a:ext cx="2722800" cy="4272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>
                <a:latin typeface="Bebas Neue" panose="020B0606020202050201" pitchFamily="34" charset="0"/>
              </a:rPr>
              <a:t>screenshots</a:t>
            </a:r>
            <a:endParaRPr dirty="0">
              <a:latin typeface="Bebas Neue" panose="020B0606020202050201" pitchFamily="34" charset="0"/>
            </a:endParaRPr>
          </a:p>
        </p:txBody>
      </p:sp>
      <p:sp>
        <p:nvSpPr>
          <p:cNvPr id="310" name="Google Shape;310;p66"/>
          <p:cNvSpPr txBox="1">
            <a:spLocks noGrp="1"/>
          </p:cNvSpPr>
          <p:nvPr>
            <p:ph type="title" idx="9"/>
          </p:nvPr>
        </p:nvSpPr>
        <p:spPr>
          <a:xfrm>
            <a:off x="1543355" y="2186151"/>
            <a:ext cx="2439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/>
              <a:t>P</a:t>
            </a:r>
            <a:r>
              <a:rPr lang="en" sz="1800" dirty="0"/>
              <a:t>roposed system description</a:t>
            </a:r>
            <a:endParaRPr sz="1800" dirty="0"/>
          </a:p>
        </p:txBody>
      </p:sp>
      <p:sp>
        <p:nvSpPr>
          <p:cNvPr id="311" name="Google Shape;311;p66"/>
          <p:cNvSpPr txBox="1">
            <a:spLocks noGrp="1"/>
          </p:cNvSpPr>
          <p:nvPr>
            <p:ph type="title" idx="13"/>
          </p:nvPr>
        </p:nvSpPr>
        <p:spPr>
          <a:xfrm>
            <a:off x="883913" y="1793740"/>
            <a:ext cx="6594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04</a:t>
            </a:r>
            <a:endParaRPr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Google Shape;312;p66"/>
          <p:cNvSpPr txBox="1">
            <a:spLocks noGrp="1"/>
          </p:cNvSpPr>
          <p:nvPr>
            <p:ph type="subTitle" idx="14"/>
          </p:nvPr>
        </p:nvSpPr>
        <p:spPr>
          <a:xfrm rot="10800000" flipV="1">
            <a:off x="3598127" y="3439293"/>
            <a:ext cx="1947746" cy="4297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000" dirty="0">
                <a:latin typeface="Bebas Neue" panose="020B0606020202050201" pitchFamily="34" charset="0"/>
              </a:rPr>
              <a:t>~</a:t>
            </a:r>
            <a:endParaRPr sz="2000" dirty="0">
              <a:latin typeface="Bebas Neue" panose="020B0606020202050201" pitchFamily="34" charset="0"/>
            </a:endParaRPr>
          </a:p>
        </p:txBody>
      </p:sp>
      <p:sp>
        <p:nvSpPr>
          <p:cNvPr id="313" name="Google Shape;313;p66"/>
          <p:cNvSpPr txBox="1">
            <a:spLocks noGrp="1"/>
          </p:cNvSpPr>
          <p:nvPr>
            <p:ph type="title" idx="15"/>
          </p:nvPr>
        </p:nvSpPr>
        <p:spPr>
          <a:xfrm>
            <a:off x="720000" y="188691"/>
            <a:ext cx="7704000" cy="7367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TABLE OF CONTENTS   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Google Shape;311;p66">
            <a:extLst>
              <a:ext uri="{FF2B5EF4-FFF2-40B4-BE49-F238E27FC236}">
                <a16:creationId xmlns:a16="http://schemas.microsoft.com/office/drawing/2014/main" id="{EB1DBDA1-969D-7552-82AE-BEDC0959EBD5}"/>
              </a:ext>
            </a:extLst>
          </p:cNvPr>
          <p:cNvSpPr txBox="1">
            <a:spLocks/>
          </p:cNvSpPr>
          <p:nvPr/>
        </p:nvSpPr>
        <p:spPr>
          <a:xfrm>
            <a:off x="883913" y="2072077"/>
            <a:ext cx="6594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6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05</a:t>
            </a:r>
          </a:p>
        </p:txBody>
      </p:sp>
      <p:sp>
        <p:nvSpPr>
          <p:cNvPr id="3" name="Google Shape;311;p66">
            <a:extLst>
              <a:ext uri="{FF2B5EF4-FFF2-40B4-BE49-F238E27FC236}">
                <a16:creationId xmlns:a16="http://schemas.microsoft.com/office/drawing/2014/main" id="{0C2646E9-63F7-A5DB-B699-7BA20B5D2CC6}"/>
              </a:ext>
            </a:extLst>
          </p:cNvPr>
          <p:cNvSpPr txBox="1">
            <a:spLocks/>
          </p:cNvSpPr>
          <p:nvPr/>
        </p:nvSpPr>
        <p:spPr>
          <a:xfrm>
            <a:off x="883913" y="2354865"/>
            <a:ext cx="6594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6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06</a:t>
            </a:r>
          </a:p>
        </p:txBody>
      </p:sp>
      <p:sp>
        <p:nvSpPr>
          <p:cNvPr id="4" name="Google Shape;311;p66">
            <a:extLst>
              <a:ext uri="{FF2B5EF4-FFF2-40B4-BE49-F238E27FC236}">
                <a16:creationId xmlns:a16="http://schemas.microsoft.com/office/drawing/2014/main" id="{FB3BDF6C-98D4-8F41-5E5C-D33944E05EFE}"/>
              </a:ext>
            </a:extLst>
          </p:cNvPr>
          <p:cNvSpPr txBox="1">
            <a:spLocks/>
          </p:cNvSpPr>
          <p:nvPr/>
        </p:nvSpPr>
        <p:spPr>
          <a:xfrm>
            <a:off x="883913" y="2624222"/>
            <a:ext cx="6594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6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9C63BC-0BCD-E9B0-CBEA-DA42A7001431}"/>
              </a:ext>
            </a:extLst>
          </p:cNvPr>
          <p:cNvSpPr txBox="1"/>
          <p:nvPr/>
        </p:nvSpPr>
        <p:spPr>
          <a:xfrm>
            <a:off x="1543313" y="252520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latin typeface="Bebas Neue" panose="020B0606020202050201" pitchFamily="34" charset="0"/>
              </a:rPr>
              <a:t>MODULE DESCRIPTION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54236B-D10A-0149-043C-B3E917F4ED34}"/>
              </a:ext>
            </a:extLst>
          </p:cNvPr>
          <p:cNvSpPr txBox="1"/>
          <p:nvPr/>
        </p:nvSpPr>
        <p:spPr>
          <a:xfrm>
            <a:off x="1543313" y="281895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latin typeface="Bebas Neue" panose="020B0606020202050201" pitchFamily="34" charset="0"/>
              </a:rPr>
              <a:t>ER-DIAGRAM / DFD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6C063E-A405-E734-C4BC-C6D9328A2239}"/>
              </a:ext>
            </a:extLst>
          </p:cNvPr>
          <p:cNvSpPr txBox="1"/>
          <p:nvPr/>
        </p:nvSpPr>
        <p:spPr>
          <a:xfrm>
            <a:off x="1179586" y="3069229"/>
            <a:ext cx="640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08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F23CBA-E377-F6D0-910F-CFCFE6AD9422}"/>
              </a:ext>
            </a:extLst>
          </p:cNvPr>
          <p:cNvSpPr txBox="1"/>
          <p:nvPr/>
        </p:nvSpPr>
        <p:spPr>
          <a:xfrm>
            <a:off x="1179586" y="3356753"/>
            <a:ext cx="466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72"/>
          <p:cNvSpPr/>
          <p:nvPr/>
        </p:nvSpPr>
        <p:spPr>
          <a:xfrm>
            <a:off x="1353015" y="921834"/>
            <a:ext cx="6765074" cy="3932664"/>
          </a:xfrm>
          <a:prstGeom prst="roundRect">
            <a:avLst>
              <a:gd name="adj" fmla="val 14497"/>
            </a:avLst>
          </a:prstGeom>
          <a:solidFill>
            <a:srgbClr val="FFFFFF">
              <a:alpha val="245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9" name="Google Shape;369;p72"/>
          <p:cNvSpPr txBox="1">
            <a:spLocks noGrp="1"/>
          </p:cNvSpPr>
          <p:nvPr>
            <p:ph type="title"/>
          </p:nvPr>
        </p:nvSpPr>
        <p:spPr>
          <a:xfrm>
            <a:off x="2330850" y="107790"/>
            <a:ext cx="44823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>
                    <a:lumMod val="50000"/>
                  </a:schemeClr>
                </a:solidFill>
              </a:rPr>
              <a:t>INTRODUCTION</a:t>
            </a:r>
            <a:endParaRPr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70" name="Google Shape;370;p72"/>
          <p:cNvSpPr txBox="1">
            <a:spLocks noGrp="1"/>
          </p:cNvSpPr>
          <p:nvPr>
            <p:ph type="subTitle" idx="1"/>
          </p:nvPr>
        </p:nvSpPr>
        <p:spPr>
          <a:xfrm>
            <a:off x="1405055" y="1086916"/>
            <a:ext cx="6713035" cy="36226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-US" sz="1600" dirty="0">
                <a:solidFill>
                  <a:schemeClr val="accent1"/>
                </a:solidFill>
                <a:latin typeface="Bahnschrift SemiBold" panose="020B0502040204020203" pitchFamily="34" charset="0"/>
                <a:ea typeface="Mukta" pitchFamily="34" charset="-122"/>
                <a:cs typeface="Mukta" pitchFamily="34" charset="-120"/>
              </a:rPr>
              <a:t>A bus ticket booking system is a digital platform designed to streamline the process of reserving seats or tickets for bus journeys. </a:t>
            </a:r>
          </a:p>
          <a:p>
            <a:pPr marL="0" indent="0" algn="l"/>
            <a:endParaRPr lang="en-US" sz="1600" dirty="0">
              <a:solidFill>
                <a:schemeClr val="accent1"/>
              </a:solidFill>
              <a:latin typeface="Bahnschrift SemiBold" panose="020B0502040204020203" pitchFamily="34" charset="0"/>
              <a:ea typeface="Mukta" pitchFamily="34" charset="-122"/>
              <a:cs typeface="Mukta" pitchFamily="34" charset="-120"/>
            </a:endParaRPr>
          </a:p>
          <a:p>
            <a:pPr marL="0" indent="0" algn="l"/>
            <a:r>
              <a:rPr lang="en-US" sz="1600" dirty="0">
                <a:solidFill>
                  <a:schemeClr val="accent1"/>
                </a:solidFill>
                <a:latin typeface="Bahnschrift SemiBold" panose="020B0502040204020203" pitchFamily="34" charset="0"/>
                <a:ea typeface="Mukta" pitchFamily="34" charset="-122"/>
                <a:cs typeface="Mukta" pitchFamily="34" charset="-120"/>
              </a:rPr>
              <a:t>This system allows users to conveniently plan their travels, choose specific routes, select preferred seats, and make secure online payments. </a:t>
            </a:r>
          </a:p>
          <a:p>
            <a:pPr marL="0" indent="0" algn="l"/>
            <a:endParaRPr lang="en-US" sz="1600" dirty="0">
              <a:solidFill>
                <a:schemeClr val="accent1"/>
              </a:solidFill>
              <a:latin typeface="Bahnschrift SemiBold" panose="020B0502040204020203" pitchFamily="34" charset="0"/>
              <a:ea typeface="Mukta" pitchFamily="34" charset="-122"/>
              <a:cs typeface="Mukta" pitchFamily="34" charset="-120"/>
            </a:endParaRPr>
          </a:p>
          <a:p>
            <a:pPr marL="0" indent="0" algn="l"/>
            <a:r>
              <a:rPr lang="en-US" sz="1600" dirty="0">
                <a:solidFill>
                  <a:schemeClr val="accent1"/>
                </a:solidFill>
                <a:latin typeface="Bahnschrift SemiBold" panose="020B0502040204020203" pitchFamily="34" charset="0"/>
                <a:ea typeface="Mukta" pitchFamily="34" charset="-122"/>
                <a:cs typeface="Mukta" pitchFamily="34" charset="-120"/>
              </a:rPr>
              <a:t>It offers a user-friendly interface that enables individuals to browse through available bus schedules, compare prices, and make informed decisions based on their preferences and requirements. </a:t>
            </a:r>
          </a:p>
          <a:p>
            <a:pPr marL="0" indent="0" algn="l"/>
            <a:endParaRPr lang="en-US" sz="1600" dirty="0">
              <a:solidFill>
                <a:schemeClr val="accent1"/>
              </a:solidFill>
              <a:latin typeface="Bahnschrift SemiBold" panose="020B0502040204020203" pitchFamily="34" charset="0"/>
              <a:ea typeface="Mukta" pitchFamily="34" charset="-122"/>
              <a:cs typeface="Mukta" pitchFamily="34" charset="-120"/>
            </a:endParaRPr>
          </a:p>
          <a:p>
            <a:pPr marL="0" indent="0" algn="l"/>
            <a:r>
              <a:rPr lang="en-US" sz="1600" dirty="0">
                <a:solidFill>
                  <a:schemeClr val="accent1"/>
                </a:solidFill>
                <a:latin typeface="Bahnschrift SemiBold" panose="020B0502040204020203" pitchFamily="34" charset="0"/>
                <a:ea typeface="Mukta" pitchFamily="34" charset="-122"/>
                <a:cs typeface="Mukta" pitchFamily="34" charset="-120"/>
              </a:rPr>
              <a:t>By leveraging technology, this system enhances efficiency and accessibility, ensuring a smoother and more organized bus ticket booking experience for both passengers and bus operators.</a:t>
            </a:r>
            <a:endParaRPr lang="en-US" sz="1600" dirty="0">
              <a:solidFill>
                <a:schemeClr val="accent1"/>
              </a:solidFill>
              <a:latin typeface="Bahnschrift SemiBold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D5D735-53C5-8E5A-4B2E-26499B093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825" y="1109559"/>
            <a:ext cx="2584800" cy="527700"/>
          </a:xfrm>
        </p:spPr>
        <p:txBody>
          <a:bodyPr/>
          <a:lstStyle/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USER CONVENIENCe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CA2256-D929-819B-AC56-35771090A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4331" y="1448718"/>
            <a:ext cx="3086293" cy="655075"/>
          </a:xfrm>
        </p:spPr>
        <p:txBody>
          <a:bodyPr/>
          <a:lstStyle/>
          <a:p>
            <a:r>
              <a:rPr lang="en-IN" sz="1600" b="1" dirty="0"/>
              <a:t>Book Bus Tickets online and avoid</a:t>
            </a:r>
          </a:p>
          <a:p>
            <a:r>
              <a:rPr lang="en-IN" sz="1600" b="1" dirty="0"/>
              <a:t>Long Queues at Ticket Counters.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522B79E-4640-6ED9-B405-67349FBF82B3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5671936" y="1109559"/>
            <a:ext cx="2700000" cy="527700"/>
          </a:xfrm>
        </p:spPr>
        <p:txBody>
          <a:bodyPr/>
          <a:lstStyle/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CHEAPER TRANSPORT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D19D8C9-0C52-0055-76D5-740DC7A85936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5084956" y="1448718"/>
            <a:ext cx="3339019" cy="871119"/>
          </a:xfrm>
        </p:spPr>
        <p:txBody>
          <a:bodyPr/>
          <a:lstStyle/>
          <a:p>
            <a:r>
              <a:rPr lang="en-IN" sz="1600" b="1" dirty="0"/>
              <a:t>The System aims to provide affordable</a:t>
            </a:r>
          </a:p>
          <a:p>
            <a:r>
              <a:rPr lang="en-IN" sz="1600" b="1" dirty="0"/>
              <a:t>travel for all types of passengers with</a:t>
            </a:r>
          </a:p>
          <a:p>
            <a:r>
              <a:rPr lang="en-IN" sz="1600" b="1" dirty="0"/>
              <a:t>its reasonable ticket prices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080F608-66B6-56C1-FA30-0972FBFD7F98}"/>
              </a:ext>
            </a:extLst>
          </p:cNvPr>
          <p:cNvSpPr>
            <a:spLocks noGrp="1"/>
          </p:cNvSpPr>
          <p:nvPr>
            <p:ph type="title" idx="4"/>
          </p:nvPr>
        </p:nvSpPr>
        <p:spPr>
          <a:xfrm>
            <a:off x="1705825" y="2400747"/>
            <a:ext cx="2584800" cy="527700"/>
          </a:xfrm>
        </p:spPr>
        <p:txBody>
          <a:bodyPr/>
          <a:lstStyle/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EFFICIENT MANAGEMENT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E5E5614A-24D0-179E-277E-F7B2F4AA4E44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1130025" y="2771918"/>
            <a:ext cx="3160599" cy="1101271"/>
          </a:xfrm>
        </p:spPr>
        <p:txBody>
          <a:bodyPr/>
          <a:lstStyle/>
          <a:p>
            <a:r>
              <a:rPr lang="en-IN" sz="1600" b="1" dirty="0"/>
              <a:t>The System ensures Efficient</a:t>
            </a:r>
          </a:p>
          <a:p>
            <a:r>
              <a:rPr lang="en-IN" sz="1600" b="1" dirty="0"/>
              <a:t>Management of Bus Schedules , </a:t>
            </a:r>
          </a:p>
          <a:p>
            <a:r>
              <a:rPr lang="en-IN" sz="1600" b="1" dirty="0"/>
              <a:t>including Seat Availability and Route</a:t>
            </a:r>
          </a:p>
          <a:p>
            <a:r>
              <a:rPr lang="en-IN" sz="1600" b="1" dirty="0"/>
              <a:t>Convenience.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64EC531-D700-AE86-01E3-7C4FD89C0CA7}"/>
              </a:ext>
            </a:extLst>
          </p:cNvPr>
          <p:cNvSpPr>
            <a:spLocks noGrp="1"/>
          </p:cNvSpPr>
          <p:nvPr>
            <p:ph type="title" idx="6"/>
          </p:nvPr>
        </p:nvSpPr>
        <p:spPr>
          <a:xfrm>
            <a:off x="5671936" y="2400747"/>
            <a:ext cx="2700000" cy="527700"/>
          </a:xfrm>
        </p:spPr>
        <p:txBody>
          <a:bodyPr/>
          <a:lstStyle/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CASHLESS BOOKING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BBD61521-7239-D631-3B00-EBBA276434A5}"/>
              </a:ext>
            </a:extLst>
          </p:cNvPr>
          <p:cNvSpPr>
            <a:spLocks noGrp="1"/>
          </p:cNvSpPr>
          <p:nvPr>
            <p:ph type="subTitle" idx="7"/>
          </p:nvPr>
        </p:nvSpPr>
        <p:spPr>
          <a:xfrm>
            <a:off x="5263376" y="2771917"/>
            <a:ext cx="3160599" cy="1101271"/>
          </a:xfrm>
        </p:spPr>
        <p:txBody>
          <a:bodyPr/>
          <a:lstStyle/>
          <a:p>
            <a:r>
              <a:rPr lang="en-IN" sz="1600" b="1" dirty="0"/>
              <a:t>The System has a Secure Payment</a:t>
            </a:r>
          </a:p>
          <a:p>
            <a:r>
              <a:rPr lang="en-IN" sz="1600" b="1" dirty="0"/>
              <a:t>Gateway that uses various Payment</a:t>
            </a:r>
          </a:p>
          <a:p>
            <a:r>
              <a:rPr lang="en-IN" sz="1600" b="1" dirty="0"/>
              <a:t>options to make Online Bookings</a:t>
            </a:r>
          </a:p>
          <a:p>
            <a:r>
              <a:rPr lang="en-IN" sz="1600" b="1" dirty="0"/>
              <a:t>Cashless.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16C3999B-1B1A-EE21-48CC-175D37325348}"/>
              </a:ext>
            </a:extLst>
          </p:cNvPr>
          <p:cNvSpPr>
            <a:spLocks noGrp="1"/>
          </p:cNvSpPr>
          <p:nvPr>
            <p:ph type="title" idx="8"/>
          </p:nvPr>
        </p:nvSpPr>
        <p:spPr>
          <a:xfrm>
            <a:off x="720000" y="164817"/>
            <a:ext cx="7704000" cy="760584"/>
          </a:xfrm>
        </p:spPr>
        <p:txBody>
          <a:bodyPr/>
          <a:lstStyle/>
          <a:p>
            <a:r>
              <a:rPr lang="en-IN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3713273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74"/>
          <p:cNvSpPr txBox="1">
            <a:spLocks noGrp="1"/>
          </p:cNvSpPr>
          <p:nvPr>
            <p:ph type="title"/>
          </p:nvPr>
        </p:nvSpPr>
        <p:spPr>
          <a:xfrm>
            <a:off x="720000" y="118946"/>
            <a:ext cx="7704000" cy="7767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</a:t>
            </a:r>
            <a:r>
              <a:rPr lang="en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roject category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2" name="Google Shape;382;p74"/>
          <p:cNvSpPr txBox="1">
            <a:spLocks noGrp="1"/>
          </p:cNvSpPr>
          <p:nvPr>
            <p:ph type="subTitle" idx="1"/>
          </p:nvPr>
        </p:nvSpPr>
        <p:spPr>
          <a:xfrm>
            <a:off x="1874100" y="919436"/>
            <a:ext cx="5395800" cy="33046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ahnschrift SemiBold" panose="020B0502040204020203" pitchFamily="34" charset="0"/>
                <a:ea typeface="Mukta" pitchFamily="34" charset="-122"/>
                <a:cs typeface="Mukta" pitchFamily="34" charset="-120"/>
              </a:rPr>
              <a:t>The bus ticket management system falls under the category of "Transportation and Ticketing Solutions.“</a:t>
            </a:r>
          </a:p>
          <a:p>
            <a:pPr marL="0" indent="0">
              <a:buNone/>
            </a:pPr>
            <a:endParaRPr lang="en-US" sz="1600" dirty="0">
              <a:solidFill>
                <a:schemeClr val="tx2">
                  <a:lumMod val="50000"/>
                </a:schemeClr>
              </a:solidFill>
              <a:latin typeface="Bahnschrift SemiBold" panose="020B0502040204020203" pitchFamily="34" charset="0"/>
              <a:ea typeface="Mukta" pitchFamily="34" charset="-122"/>
              <a:cs typeface="Mukta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ahnschrift SemiBold" panose="020B0502040204020203" pitchFamily="34" charset="0"/>
                <a:ea typeface="Mukta" pitchFamily="34" charset="-122"/>
                <a:cs typeface="Mukta" pitchFamily="34" charset="-120"/>
              </a:rPr>
              <a:t>This category encompasses various software and digital platforms that facilitate ticketing, reservations, and management processes for transportation services, including buses, trains, flights, and more.</a:t>
            </a:r>
          </a:p>
          <a:p>
            <a:pPr marL="0" indent="0">
              <a:buNone/>
            </a:pPr>
            <a:endParaRPr lang="en-US" sz="1600" dirty="0">
              <a:solidFill>
                <a:schemeClr val="tx2">
                  <a:lumMod val="50000"/>
                </a:schemeClr>
              </a:solidFill>
              <a:latin typeface="Bahnschrift SemiBold" panose="020B0502040204020203" pitchFamily="34" charset="0"/>
              <a:ea typeface="Mukta" pitchFamily="34" charset="-122"/>
              <a:cs typeface="Mukta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ahnschrift SemiBold" panose="020B0502040204020203" pitchFamily="34" charset="0"/>
                <a:ea typeface="Mukta" pitchFamily="34" charset="-122"/>
                <a:cs typeface="Mukta" pitchFamily="34" charset="-120"/>
              </a:rPr>
              <a:t>These solutions aim to streamline ticket purchasing, seat selection, scheduling, payment processing, and passenger management for a seamless and efficient travel experience.</a:t>
            </a:r>
            <a:endParaRPr lang="en-US" sz="1600" dirty="0">
              <a:solidFill>
                <a:schemeClr val="tx2">
                  <a:lumMod val="50000"/>
                </a:schemeClr>
              </a:solidFill>
              <a:latin typeface="Bahnschrift SemiBold" panose="020B0502040204020203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75"/>
          <p:cNvSpPr txBox="1">
            <a:spLocks noGrp="1"/>
          </p:cNvSpPr>
          <p:nvPr>
            <p:ph type="subTitle" idx="1"/>
          </p:nvPr>
        </p:nvSpPr>
        <p:spPr>
          <a:xfrm>
            <a:off x="1253175" y="1360449"/>
            <a:ext cx="2785800" cy="29513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endParaRPr dirty="0">
              <a:solidFill>
                <a:schemeClr val="lt1"/>
              </a:solidFill>
            </a:endParaRPr>
          </a:p>
          <a:p>
            <a:pPr marL="342900" algn="l">
              <a:lnSpc>
                <a:spcPts val="2799"/>
              </a:lnSpc>
              <a:buSzPct val="100000"/>
              <a:buChar char="•"/>
            </a:pPr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ebas Neue" panose="020B0606020202050201" pitchFamily="34" charset="0"/>
                <a:ea typeface="Mukta" pitchFamily="34" charset="-122"/>
                <a:cs typeface="Mukta" pitchFamily="34" charset="-120"/>
              </a:rPr>
              <a:t>Processor : Core2duo Or Above</a:t>
            </a:r>
            <a:endParaRPr lang="en-US" sz="1600" dirty="0">
              <a:solidFill>
                <a:schemeClr val="tx2">
                  <a:lumMod val="50000"/>
                </a:schemeClr>
              </a:solidFill>
              <a:latin typeface="Bebas Neue" panose="020B0606020202050201" pitchFamily="34" charset="0"/>
            </a:endParaRPr>
          </a:p>
          <a:p>
            <a:pPr marL="342900" algn="l">
              <a:lnSpc>
                <a:spcPts val="2799"/>
              </a:lnSpc>
              <a:buSzPct val="100000"/>
              <a:buChar char="•"/>
            </a:pPr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ebas Neue" panose="020B0606020202050201" pitchFamily="34" charset="0"/>
                <a:ea typeface="Mukta" pitchFamily="34" charset="-122"/>
                <a:cs typeface="Mukta" pitchFamily="34" charset="-120"/>
              </a:rPr>
              <a:t>Ram : 2048MB or Above</a:t>
            </a:r>
            <a:endParaRPr lang="en-US" sz="1600" dirty="0">
              <a:solidFill>
                <a:schemeClr val="tx2">
                  <a:lumMod val="50000"/>
                </a:schemeClr>
              </a:solidFill>
              <a:latin typeface="Bebas Neue" panose="020B0606020202050201" pitchFamily="34" charset="0"/>
            </a:endParaRPr>
          </a:p>
          <a:p>
            <a:pPr marL="342900" algn="l">
              <a:lnSpc>
                <a:spcPts val="2799"/>
              </a:lnSpc>
              <a:buSzPct val="100000"/>
              <a:buChar char="•"/>
            </a:pPr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ebas Neue" panose="020B0606020202050201" pitchFamily="34" charset="0"/>
                <a:ea typeface="Mukta" pitchFamily="34" charset="-122"/>
                <a:cs typeface="Mukta" pitchFamily="34" charset="-120"/>
              </a:rPr>
              <a:t>Cache Memory : 128kb or Above</a:t>
            </a:r>
            <a:endParaRPr lang="en-US" sz="1600" dirty="0">
              <a:solidFill>
                <a:schemeClr val="tx2">
                  <a:lumMod val="50000"/>
                </a:schemeClr>
              </a:solidFill>
              <a:latin typeface="Bebas Neue" panose="020B0606020202050201" pitchFamily="34" charset="0"/>
            </a:endParaRPr>
          </a:p>
          <a:p>
            <a:pPr marL="342900" algn="l">
              <a:lnSpc>
                <a:spcPts val="2799"/>
              </a:lnSpc>
              <a:buSzPct val="100000"/>
              <a:buChar char="•"/>
            </a:pPr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ebas Neue" panose="020B0606020202050201" pitchFamily="34" charset="0"/>
                <a:ea typeface="Mukta" pitchFamily="34" charset="-122"/>
                <a:cs typeface="Mukta" pitchFamily="34" charset="-120"/>
              </a:rPr>
              <a:t>Word-Editors : Notepad++</a:t>
            </a:r>
            <a:endParaRPr lang="en-US" sz="1600" dirty="0">
              <a:solidFill>
                <a:schemeClr val="tx2">
                  <a:lumMod val="50000"/>
                </a:schemeClr>
              </a:solidFill>
              <a:latin typeface="Bebas Neue" panose="020B0606020202050201" pitchFamily="34" charset="0"/>
            </a:endParaRPr>
          </a:p>
          <a:p>
            <a:pPr marL="342900" algn="l">
              <a:lnSpc>
                <a:spcPts val="2799"/>
              </a:lnSpc>
              <a:buSzPct val="100000"/>
              <a:buChar char="•"/>
            </a:pPr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ebas Neue" panose="020B0606020202050201" pitchFamily="34" charset="0"/>
                <a:ea typeface="Mukta" pitchFamily="34" charset="-122"/>
                <a:cs typeface="Mukta" pitchFamily="34" charset="-120"/>
              </a:rPr>
              <a:t>Scripting Language : JS , HTML , CSS , PHP</a:t>
            </a:r>
            <a:endParaRPr lang="en-US" sz="1600" dirty="0">
              <a:solidFill>
                <a:schemeClr val="tx2">
                  <a:lumMod val="50000"/>
                </a:schemeClr>
              </a:solidFill>
              <a:latin typeface="Bebas Neue" panose="020B0606020202050201" pitchFamily="34" charset="0"/>
            </a:endParaRPr>
          </a:p>
          <a:p>
            <a:pPr marL="342900" algn="l">
              <a:lnSpc>
                <a:spcPts val="2799"/>
              </a:lnSpc>
              <a:buSzPct val="100000"/>
              <a:buChar char="•"/>
            </a:pPr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ebas Neue" panose="020B0606020202050201" pitchFamily="34" charset="0"/>
                <a:ea typeface="Mukta" pitchFamily="34" charset="-122"/>
                <a:cs typeface="Mukta" pitchFamily="34" charset="-120"/>
              </a:rPr>
              <a:t>Backend : SQL Server</a:t>
            </a:r>
            <a:endParaRPr lang="en-US" sz="1600" dirty="0">
              <a:solidFill>
                <a:schemeClr val="tx2">
                  <a:lumMod val="50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388" name="Google Shape;388;p75"/>
          <p:cNvSpPr txBox="1">
            <a:spLocks noGrp="1"/>
          </p:cNvSpPr>
          <p:nvPr>
            <p:ph type="subTitle" idx="2"/>
          </p:nvPr>
        </p:nvSpPr>
        <p:spPr>
          <a:xfrm>
            <a:off x="5105025" y="1628079"/>
            <a:ext cx="2785800" cy="22716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algn="l">
              <a:lnSpc>
                <a:spcPts val="2799"/>
              </a:lnSpc>
              <a:buSzPct val="100000"/>
              <a:buChar char="•"/>
            </a:pPr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ebas Neue" panose="020B0606020202050201" pitchFamily="34" charset="0"/>
                <a:ea typeface="Mukta" pitchFamily="34" charset="-122"/>
                <a:cs typeface="Mukta" pitchFamily="34" charset="-120"/>
              </a:rPr>
              <a:t>Operating System: Windows 7 or Higher</a:t>
            </a:r>
            <a:endParaRPr lang="en-US" sz="1600" dirty="0">
              <a:solidFill>
                <a:schemeClr val="tx2">
                  <a:lumMod val="50000"/>
                </a:schemeClr>
              </a:solidFill>
              <a:latin typeface="Bebas Neue" panose="020B0606020202050201" pitchFamily="34" charset="0"/>
            </a:endParaRPr>
          </a:p>
          <a:p>
            <a:pPr marL="342900" algn="l">
              <a:lnSpc>
                <a:spcPts val="2799"/>
              </a:lnSpc>
              <a:buSzPct val="100000"/>
              <a:buChar char="•"/>
            </a:pPr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ebas Neue" panose="020B0606020202050201" pitchFamily="34" charset="0"/>
                <a:ea typeface="Mukta" pitchFamily="34" charset="-122"/>
                <a:cs typeface="Mukta" pitchFamily="34" charset="-120"/>
              </a:rPr>
              <a:t>RAM: 2048MB or Higher</a:t>
            </a:r>
            <a:endParaRPr lang="en-US" sz="1600" dirty="0">
              <a:solidFill>
                <a:schemeClr val="tx2">
                  <a:lumMod val="50000"/>
                </a:schemeClr>
              </a:solidFill>
              <a:latin typeface="Bebas Neue" panose="020B0606020202050201" pitchFamily="34" charset="0"/>
            </a:endParaRPr>
          </a:p>
          <a:p>
            <a:pPr marL="342900" algn="l">
              <a:lnSpc>
                <a:spcPts val="2799"/>
              </a:lnSpc>
              <a:buSzPct val="100000"/>
              <a:buChar char="•"/>
            </a:pPr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ebas Neue" panose="020B0606020202050201" pitchFamily="34" charset="0"/>
                <a:ea typeface="Mukta" pitchFamily="34" charset="-122"/>
                <a:cs typeface="Mukta" pitchFamily="34" charset="-120"/>
              </a:rPr>
              <a:t>Processor: Core2duo Or Higher</a:t>
            </a:r>
            <a:endParaRPr lang="en-US" sz="1600" dirty="0">
              <a:solidFill>
                <a:schemeClr val="tx2">
                  <a:lumMod val="50000"/>
                </a:schemeClr>
              </a:solidFill>
              <a:latin typeface="Bebas Neue" panose="020B0606020202050201" pitchFamily="34" charset="0"/>
            </a:endParaRPr>
          </a:p>
          <a:p>
            <a:pPr marL="342900" algn="l">
              <a:lnSpc>
                <a:spcPts val="2799"/>
              </a:lnSpc>
              <a:buSzPct val="100000"/>
              <a:buChar char="•"/>
            </a:pPr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ebas Neue" panose="020B0606020202050201" pitchFamily="34" charset="0"/>
                <a:ea typeface="Mukta" pitchFamily="34" charset="-122"/>
                <a:cs typeface="Mukta" pitchFamily="34" charset="-120"/>
              </a:rPr>
              <a:t>Printer: Compatible</a:t>
            </a:r>
            <a:endParaRPr lang="en-US" sz="1600" dirty="0">
              <a:solidFill>
                <a:schemeClr val="tx2">
                  <a:lumMod val="50000"/>
                </a:schemeClr>
              </a:solidFill>
              <a:latin typeface="Bebas Neue" panose="020B0606020202050201" pitchFamily="34" charset="0"/>
            </a:endParaRPr>
          </a:p>
          <a:p>
            <a:pPr marL="342900" algn="l">
              <a:lnSpc>
                <a:spcPts val="2799"/>
              </a:lnSpc>
              <a:buSzPct val="100000"/>
              <a:buChar char="•"/>
            </a:pPr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ebas Neue" panose="020B0606020202050201" pitchFamily="34" charset="0"/>
                <a:ea typeface="Mukta" pitchFamily="34" charset="-122"/>
                <a:cs typeface="Mukta" pitchFamily="34" charset="-120"/>
              </a:rPr>
              <a:t>Screen Resolution: 1024x768</a:t>
            </a:r>
            <a:endParaRPr lang="en-US" sz="1600" dirty="0">
              <a:solidFill>
                <a:schemeClr val="tx2">
                  <a:lumMod val="50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4EE3D128-FAD4-5A03-0D47-CC305555F5E4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1253175" y="1273487"/>
            <a:ext cx="2785800" cy="572700"/>
          </a:xfrm>
        </p:spPr>
        <p:txBody>
          <a:bodyPr/>
          <a:lstStyle/>
          <a:p>
            <a:pPr algn="l"/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HARDWARE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92567C-4ED5-E73F-AEF9-A64C93BEC6A9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105025" y="1243750"/>
            <a:ext cx="2785800" cy="572700"/>
          </a:xfrm>
        </p:spPr>
        <p:txBody>
          <a:bodyPr/>
          <a:lstStyle/>
          <a:p>
            <a:pPr algn="l"/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platform</a:t>
            </a:r>
          </a:p>
        </p:txBody>
      </p:sp>
      <p:sp>
        <p:nvSpPr>
          <p:cNvPr id="387" name="Google Shape;387;p75"/>
          <p:cNvSpPr txBox="1">
            <a:spLocks noGrp="1"/>
          </p:cNvSpPr>
          <p:nvPr>
            <p:ph type="title"/>
          </p:nvPr>
        </p:nvSpPr>
        <p:spPr>
          <a:xfrm>
            <a:off x="720000" y="143937"/>
            <a:ext cx="7704000" cy="8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ts val="5468"/>
              </a:lnSpc>
            </a:pP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  <a:ea typeface="Prompt" pitchFamily="34" charset="-122"/>
                <a:cs typeface="Prompt" pitchFamily="34" charset="-120"/>
              </a:rPr>
              <a:t>TOOLS/PLATFORM HARDWARE &amp; SOFFTWARE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  <a:latin typeface="Bebas Neue" panose="020B0606020202050201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14">
            <a:extLst>
              <a:ext uri="{FF2B5EF4-FFF2-40B4-BE49-F238E27FC236}">
                <a16:creationId xmlns:a16="http://schemas.microsoft.com/office/drawing/2014/main" id="{06BBA1DF-036B-C39D-CCCE-C5D49BF41123}"/>
              </a:ext>
            </a:extLst>
          </p:cNvPr>
          <p:cNvSpPr/>
          <p:nvPr/>
        </p:nvSpPr>
        <p:spPr>
          <a:xfrm>
            <a:off x="3713819" y="2000775"/>
            <a:ext cx="777597" cy="44410"/>
          </a:xfrm>
          <a:prstGeom prst="rect">
            <a:avLst/>
          </a:prstGeom>
          <a:solidFill>
            <a:srgbClr val="64355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BBB66B8D-1B23-B567-5768-2296D32347E5}"/>
              </a:ext>
            </a:extLst>
          </p:cNvPr>
          <p:cNvSpPr/>
          <p:nvPr/>
        </p:nvSpPr>
        <p:spPr>
          <a:xfrm>
            <a:off x="4289651" y="1406826"/>
            <a:ext cx="777597" cy="44410"/>
          </a:xfrm>
          <a:prstGeom prst="rect">
            <a:avLst/>
          </a:prstGeom>
          <a:solidFill>
            <a:srgbClr val="64355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875462FB-C2C7-EEDB-F773-2DD50675F16A}"/>
              </a:ext>
            </a:extLst>
          </p:cNvPr>
          <p:cNvSpPr/>
          <p:nvPr/>
        </p:nvSpPr>
        <p:spPr>
          <a:xfrm>
            <a:off x="4289651" y="3084426"/>
            <a:ext cx="777597" cy="44410"/>
          </a:xfrm>
          <a:prstGeom prst="rect">
            <a:avLst/>
          </a:prstGeom>
          <a:solidFill>
            <a:srgbClr val="64355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8DF1882-1F2D-9116-0AC4-24C29DB75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289" y="1781335"/>
            <a:ext cx="2336400" cy="527700"/>
          </a:xfrm>
        </p:spPr>
        <p:txBody>
          <a:bodyPr/>
          <a:lstStyle/>
          <a:p>
            <a:pPr algn="r"/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  <a:ea typeface="Prompt" pitchFamily="34" charset="-122"/>
                <a:cs typeface="Prompt" pitchFamily="34" charset="-120"/>
              </a:rPr>
              <a:t>Frontend Development </a:t>
            </a:r>
            <a:endParaRPr lang="en-IN" sz="2200" dirty="0">
              <a:solidFill>
                <a:schemeClr val="tx1">
                  <a:lumMod val="75000"/>
                  <a:lumOff val="2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066D9FC-668B-FFB2-C692-C60256384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9289" y="2245470"/>
            <a:ext cx="2336400" cy="1977483"/>
          </a:xfrm>
        </p:spPr>
        <p:txBody>
          <a:bodyPr/>
          <a:lstStyle/>
          <a:p>
            <a:pPr algn="l"/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ahnschrift SemiLight Condensed" panose="020B0502040204020203" pitchFamily="34" charset="0"/>
                <a:ea typeface="Mukta" pitchFamily="34" charset="-122"/>
                <a:cs typeface="Mukta" pitchFamily="34" charset="-120"/>
              </a:rPr>
              <a:t>The front-end</a:t>
            </a:r>
          </a:p>
          <a:p>
            <a:pPr algn="l"/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ahnschrift SemiLight Condensed" panose="020B0502040204020203" pitchFamily="34" charset="0"/>
                <a:ea typeface="Mukta" pitchFamily="34" charset="-122"/>
                <a:cs typeface="Mukta" pitchFamily="34" charset="-120"/>
              </a:rPr>
              <a:t>development is focused on </a:t>
            </a:r>
          </a:p>
          <a:p>
            <a:pPr algn="l"/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ahnschrift SemiLight Condensed" panose="020B0502040204020203" pitchFamily="34" charset="0"/>
                <a:ea typeface="Mukta" pitchFamily="34" charset="-122"/>
                <a:cs typeface="Mukta" pitchFamily="34" charset="-120"/>
              </a:rPr>
              <a:t>the user interface and </a:t>
            </a:r>
          </a:p>
          <a:p>
            <a:pPr algn="l"/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ahnschrift SemiLight Condensed" panose="020B0502040204020203" pitchFamily="34" charset="0"/>
                <a:ea typeface="Mukta" pitchFamily="34" charset="-122"/>
                <a:cs typeface="Mukta" pitchFamily="34" charset="-120"/>
              </a:rPr>
              <a:t>design of the platform to </a:t>
            </a:r>
          </a:p>
          <a:p>
            <a:pPr algn="l"/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ahnschrift SemiLight Condensed" panose="020B0502040204020203" pitchFamily="34" charset="0"/>
                <a:ea typeface="Mukta" pitchFamily="34" charset="-122"/>
                <a:cs typeface="Mukta" pitchFamily="34" charset="-120"/>
              </a:rPr>
              <a:t>ensure optimal user </a:t>
            </a:r>
          </a:p>
          <a:p>
            <a:pPr algn="l"/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ahnschrift SemiLight Condensed" panose="020B0502040204020203" pitchFamily="34" charset="0"/>
                <a:ea typeface="Mukta" pitchFamily="34" charset="-122"/>
                <a:cs typeface="Mukta" pitchFamily="34" charset="-120"/>
              </a:rPr>
              <a:t>experience and easy </a:t>
            </a:r>
          </a:p>
          <a:p>
            <a:pPr algn="l"/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ahnschrift SemiLight Condensed" panose="020B0502040204020203" pitchFamily="34" charset="0"/>
                <a:ea typeface="Mukta" pitchFamily="34" charset="-122"/>
                <a:cs typeface="Mukta" pitchFamily="34" charset="-120"/>
              </a:rPr>
              <a:t>navigation.</a:t>
            </a:r>
            <a:endParaRPr lang="en-US" sz="1600" dirty="0">
              <a:solidFill>
                <a:schemeClr val="tx2">
                  <a:lumMod val="50000"/>
                </a:schemeClr>
              </a:solidFill>
              <a:latin typeface="Bahnschrift SemiLight Condensed" panose="020B0502040204020203" pitchFamily="34" charset="0"/>
            </a:endParaRPr>
          </a:p>
          <a:p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2882BA-6EB2-2438-57C8-4CD4CAE188A5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5195503" y="1208794"/>
            <a:ext cx="2336400" cy="500838"/>
          </a:xfrm>
        </p:spPr>
        <p:txBody>
          <a:bodyPr/>
          <a:lstStyle/>
          <a:p>
            <a:pPr algn="l"/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  <a:ea typeface="Prompt" pitchFamily="34" charset="-122"/>
                <a:cs typeface="Prompt" pitchFamily="34" charset="-120"/>
              </a:rPr>
              <a:t>Backend Development</a:t>
            </a:r>
            <a:endParaRPr lang="en-IN" sz="2200" dirty="0">
              <a:solidFill>
                <a:schemeClr val="tx1">
                  <a:lumMod val="75000"/>
                  <a:lumOff val="2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B2F96B08-BE7F-3FE3-2971-DA5518776E26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5195502" y="1623589"/>
            <a:ext cx="3442975" cy="1201387"/>
          </a:xfrm>
        </p:spPr>
        <p:txBody>
          <a:bodyPr/>
          <a:lstStyle/>
          <a:p>
            <a:pPr algn="l"/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ahnschrift SemiLight Condensed" panose="020B0502040204020203" pitchFamily="34" charset="0"/>
                <a:ea typeface="Mukta" pitchFamily="34" charset="-122"/>
                <a:cs typeface="Mukta" pitchFamily="34" charset="-120"/>
              </a:rPr>
              <a:t>The proposed bus ticket booking system</a:t>
            </a:r>
          </a:p>
          <a:p>
            <a:pPr algn="l"/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ahnschrift SemiLight Condensed" panose="020B0502040204020203" pitchFamily="34" charset="0"/>
                <a:ea typeface="Mukta" pitchFamily="34" charset="-122"/>
                <a:cs typeface="Mukta" pitchFamily="34" charset="-120"/>
              </a:rPr>
              <a:t>involves the development of a robust platform </a:t>
            </a:r>
          </a:p>
          <a:p>
            <a:pPr algn="l"/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ahnschrift SemiLight Condensed" panose="020B0502040204020203" pitchFamily="34" charset="0"/>
                <a:ea typeface="Mukta" pitchFamily="34" charset="-122"/>
                <a:cs typeface="Mukta" pitchFamily="34" charset="-120"/>
              </a:rPr>
              <a:t>built on the back-end to ensure server-side </a:t>
            </a:r>
          </a:p>
          <a:p>
            <a:pPr algn="l"/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ahnschrift SemiLight Condensed" panose="020B0502040204020203" pitchFamily="34" charset="0"/>
                <a:ea typeface="Mukta" pitchFamily="34" charset="-122"/>
                <a:cs typeface="Mukta" pitchFamily="34" charset="-120"/>
              </a:rPr>
              <a:t>support.</a:t>
            </a:r>
            <a:endParaRPr lang="en-US" sz="1600" dirty="0">
              <a:solidFill>
                <a:schemeClr val="tx2">
                  <a:lumMod val="50000"/>
                </a:schemeClr>
              </a:solidFill>
              <a:latin typeface="Bahnschrift SemiLight Condensed" panose="020B0502040204020203" pitchFamily="34" charset="0"/>
            </a:endParaRPr>
          </a:p>
          <a:p>
            <a:endParaRPr lang="en-IN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0240850-0062-26A4-8435-E84010432EBF}"/>
              </a:ext>
            </a:extLst>
          </p:cNvPr>
          <p:cNvSpPr>
            <a:spLocks noGrp="1"/>
          </p:cNvSpPr>
          <p:nvPr>
            <p:ph type="title" idx="4"/>
          </p:nvPr>
        </p:nvSpPr>
        <p:spPr>
          <a:xfrm>
            <a:off x="5195501" y="2842781"/>
            <a:ext cx="2336400" cy="527700"/>
          </a:xfrm>
        </p:spPr>
        <p:txBody>
          <a:bodyPr/>
          <a:lstStyle/>
          <a:p>
            <a:pPr algn="l"/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  <a:ea typeface="Prompt" pitchFamily="34" charset="-122"/>
                <a:cs typeface="Prompt" pitchFamily="34" charset="-120"/>
              </a:rPr>
              <a:t>Testing &amp; Launching</a:t>
            </a:r>
            <a:endParaRPr lang="en-IN" sz="2200" dirty="0">
              <a:solidFill>
                <a:schemeClr val="tx1">
                  <a:lumMod val="75000"/>
                  <a:lumOff val="2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B22EFA7D-A9A4-4D32-9CF4-ABB2C0A40249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5195501" y="3298600"/>
            <a:ext cx="3569357" cy="924353"/>
          </a:xfrm>
        </p:spPr>
        <p:txBody>
          <a:bodyPr/>
          <a:lstStyle/>
          <a:p>
            <a:pPr algn="l"/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ahnschrift SemiLight Condensed" panose="020B0502040204020203" pitchFamily="34" charset="0"/>
                <a:ea typeface="Mukta" pitchFamily="34" charset="-122"/>
                <a:cs typeface="Mukta" pitchFamily="34" charset="-120"/>
              </a:rPr>
              <a:t>After thorough testing, the platform</a:t>
            </a:r>
          </a:p>
          <a:p>
            <a:pPr algn="l"/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ahnschrift SemiLight Condensed" panose="020B0502040204020203" pitchFamily="34" charset="0"/>
                <a:ea typeface="Mukta" pitchFamily="34" charset="-122"/>
                <a:cs typeface="Mukta" pitchFamily="34" charset="-120"/>
              </a:rPr>
              <a:t> is launched and monitored for optimal </a:t>
            </a:r>
          </a:p>
          <a:p>
            <a:pPr algn="l"/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Bahnschrift SemiLight Condensed" panose="020B0502040204020203" pitchFamily="34" charset="0"/>
                <a:ea typeface="Mukta" pitchFamily="34" charset="-122"/>
                <a:cs typeface="Mukta" pitchFamily="34" charset="-120"/>
              </a:rPr>
              <a:t>functionality.</a:t>
            </a:r>
            <a:endParaRPr lang="en-US" sz="1600" dirty="0">
              <a:solidFill>
                <a:schemeClr val="tx2">
                  <a:lumMod val="50000"/>
                </a:schemeClr>
              </a:solidFill>
              <a:latin typeface="Bahnschrift SemiLight Condensed" panose="020B0502040204020203" pitchFamily="34" charset="0"/>
            </a:endParaRPr>
          </a:p>
          <a:p>
            <a:endParaRPr lang="en-IN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12D3C1A7-9F9F-995C-B1C3-B44D42DE15FD}"/>
              </a:ext>
            </a:extLst>
          </p:cNvPr>
          <p:cNvSpPr>
            <a:spLocks noGrp="1"/>
          </p:cNvSpPr>
          <p:nvPr>
            <p:ph type="title" idx="6"/>
          </p:nvPr>
        </p:nvSpPr>
        <p:spPr>
          <a:xfrm>
            <a:off x="609600" y="59527"/>
            <a:ext cx="7704000" cy="813889"/>
          </a:xfrm>
        </p:spPr>
        <p:txBody>
          <a:bodyPr/>
          <a:lstStyle/>
          <a:p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  <a:ea typeface="Prompt" pitchFamily="34" charset="-122"/>
                <a:cs typeface="Prompt" pitchFamily="34" charset="-120"/>
              </a:rPr>
              <a:t>Proposed System Description</a:t>
            </a:r>
            <a:endParaRPr lang="en-IN" sz="4000" dirty="0">
              <a:solidFill>
                <a:schemeClr val="tx1">
                  <a:lumMod val="75000"/>
                  <a:lumOff val="2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743EA0F5-3817-4653-27EA-82644F55BFAD}"/>
              </a:ext>
            </a:extLst>
          </p:cNvPr>
          <p:cNvSpPr/>
          <p:nvPr/>
        </p:nvSpPr>
        <p:spPr>
          <a:xfrm flipH="1">
            <a:off x="4415881" y="1011045"/>
            <a:ext cx="45719" cy="3389970"/>
          </a:xfrm>
          <a:prstGeom prst="rect">
            <a:avLst/>
          </a:prstGeom>
          <a:solidFill>
            <a:srgbClr val="643557"/>
          </a:solidFill>
          <a:ln/>
        </p:spPr>
        <p:txBody>
          <a:bodyPr/>
          <a:lstStyle/>
          <a:p>
            <a:endParaRPr lang="en-IN" sz="80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66B5FA40-97A9-FA3A-12B5-EF34946DB927}"/>
              </a:ext>
            </a:extLst>
          </p:cNvPr>
          <p:cNvSpPr/>
          <p:nvPr/>
        </p:nvSpPr>
        <p:spPr>
          <a:xfrm>
            <a:off x="4239129" y="1251394"/>
            <a:ext cx="413136" cy="400569"/>
          </a:xfrm>
          <a:prstGeom prst="roundRect">
            <a:avLst>
              <a:gd name="adj" fmla="val 20000"/>
            </a:avLst>
          </a:prstGeom>
          <a:solidFill>
            <a:srgbClr val="542C49"/>
          </a:solidFill>
          <a:ln w="13811">
            <a:solidFill>
              <a:srgbClr val="643557"/>
            </a:solidFill>
            <a:prstDash val="solid"/>
          </a:ln>
        </p:spPr>
        <p:txBody>
          <a:bodyPr/>
          <a:lstStyle/>
          <a:p>
            <a:endParaRPr lang="en-IN" sz="10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F450115F-4985-E5CC-3171-375A899C3E8D}"/>
              </a:ext>
            </a:extLst>
          </p:cNvPr>
          <p:cNvSpPr/>
          <p:nvPr/>
        </p:nvSpPr>
        <p:spPr>
          <a:xfrm>
            <a:off x="4369496" y="1207108"/>
            <a:ext cx="12192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chemeClr val="bg1">
                    <a:lumMod val="95000"/>
                  </a:schemeClr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2624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D4C56FB5-7C9C-5745-644E-1BE8AF72C556}"/>
              </a:ext>
            </a:extLst>
          </p:cNvPr>
          <p:cNvSpPr/>
          <p:nvPr/>
        </p:nvSpPr>
        <p:spPr>
          <a:xfrm>
            <a:off x="4239129" y="1844901"/>
            <a:ext cx="413136" cy="400569"/>
          </a:xfrm>
          <a:prstGeom prst="roundRect">
            <a:avLst>
              <a:gd name="adj" fmla="val 20000"/>
            </a:avLst>
          </a:prstGeom>
          <a:solidFill>
            <a:srgbClr val="542C49"/>
          </a:solidFill>
          <a:ln w="13811">
            <a:solidFill>
              <a:srgbClr val="643557"/>
            </a:solidFill>
            <a:prstDash val="solid"/>
          </a:ln>
        </p:spPr>
        <p:txBody>
          <a:bodyPr/>
          <a:lstStyle/>
          <a:p>
            <a:endParaRPr lang="en-IN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96A3EC-6962-B585-B08F-DA3288C92A57}"/>
              </a:ext>
            </a:extLst>
          </p:cNvPr>
          <p:cNvSpPr txBox="1"/>
          <p:nvPr/>
        </p:nvSpPr>
        <p:spPr>
          <a:xfrm>
            <a:off x="4354551" y="1781335"/>
            <a:ext cx="182291" cy="5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0A23EAEE-EBAC-65D4-49A3-617A6870C762}"/>
              </a:ext>
            </a:extLst>
          </p:cNvPr>
          <p:cNvSpPr/>
          <p:nvPr/>
        </p:nvSpPr>
        <p:spPr>
          <a:xfrm>
            <a:off x="4245052" y="2898031"/>
            <a:ext cx="413136" cy="400569"/>
          </a:xfrm>
          <a:prstGeom prst="roundRect">
            <a:avLst>
              <a:gd name="adj" fmla="val 20000"/>
            </a:avLst>
          </a:prstGeom>
          <a:solidFill>
            <a:srgbClr val="542C49"/>
          </a:solidFill>
          <a:ln w="13811">
            <a:solidFill>
              <a:srgbClr val="643557"/>
            </a:solidFill>
            <a:prstDash val="solid"/>
          </a:ln>
        </p:spPr>
        <p:txBody>
          <a:bodyPr/>
          <a:lstStyle/>
          <a:p>
            <a:endParaRPr lang="en-IN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3E0A5D-907E-7883-2E0F-919214E10DEA}"/>
              </a:ext>
            </a:extLst>
          </p:cNvPr>
          <p:cNvSpPr txBox="1"/>
          <p:nvPr/>
        </p:nvSpPr>
        <p:spPr>
          <a:xfrm>
            <a:off x="4289651" y="2847284"/>
            <a:ext cx="312090" cy="50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559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9">
            <a:extLst>
              <a:ext uri="{FF2B5EF4-FFF2-40B4-BE49-F238E27FC236}">
                <a16:creationId xmlns:a16="http://schemas.microsoft.com/office/drawing/2014/main" id="{A164A8AD-3B49-641A-7C7C-79C8F6C0C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803" y="955137"/>
            <a:ext cx="5395800" cy="3245155"/>
          </a:xfrm>
        </p:spPr>
        <p:txBody>
          <a:bodyPr/>
          <a:lstStyle/>
          <a:p>
            <a:pPr lvl="1"/>
            <a:r>
              <a:rPr lang="en-IN" b="1" dirty="0">
                <a:latin typeface="Bahnschrift SemiCondensed" panose="020B0502040204020203" pitchFamily="34" charset="0"/>
              </a:rPr>
              <a:t>GOOD INTERFACE</a:t>
            </a:r>
          </a:p>
          <a:p>
            <a:pPr lvl="1"/>
            <a:r>
              <a:rPr lang="en-IN" b="1" dirty="0">
                <a:latin typeface="Bahnschrift SemiCondensed" panose="020B0502040204020203" pitchFamily="34" charset="0"/>
              </a:rPr>
              <a:t>SATISFIES USER REQUIREMENTS</a:t>
            </a:r>
          </a:p>
          <a:p>
            <a:pPr lvl="1"/>
            <a:r>
              <a:rPr lang="en-IN" b="1" dirty="0">
                <a:latin typeface="Bahnschrift SemiCondensed" panose="020B0502040204020203" pitchFamily="34" charset="0"/>
              </a:rPr>
              <a:t>EXPANDABLE</a:t>
            </a:r>
          </a:p>
          <a:p>
            <a:pPr lvl="1"/>
            <a:r>
              <a:rPr lang="en-IN" b="1" dirty="0">
                <a:latin typeface="Bahnschrift SemiCondensed" panose="020B0502040204020203" pitchFamily="34" charset="0"/>
              </a:rPr>
              <a:t>SCALABILITY AND PERFORMANCE</a:t>
            </a:r>
          </a:p>
          <a:p>
            <a:pPr lvl="1"/>
            <a:r>
              <a:rPr lang="en-IN" b="1" dirty="0">
                <a:latin typeface="Bahnschrift SemiCondensed" panose="020B0502040204020203" pitchFamily="34" charset="0"/>
              </a:rPr>
              <a:t>CUSTOMER SUPPORT</a:t>
            </a:r>
          </a:p>
          <a:p>
            <a:pPr lvl="1"/>
            <a:r>
              <a:rPr lang="en-IN" b="1" dirty="0">
                <a:latin typeface="Bahnschrift SemiCondensed" panose="020B0502040204020203" pitchFamily="34" charset="0"/>
              </a:rPr>
              <a:t>SECURITY AND DATA PRIVACY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74C5491-F2CF-6310-3F7A-4B2542DA9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70984"/>
            <a:ext cx="7704000" cy="754416"/>
          </a:xfrm>
        </p:spPr>
        <p:txBody>
          <a:bodyPr/>
          <a:lstStyle/>
          <a:p>
            <a:r>
              <a:rPr lang="en-IN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SCOPE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682504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9BC9525-D0A4-6F20-2868-FBB240A6A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6907"/>
            <a:ext cx="7704000" cy="728547"/>
          </a:xfrm>
        </p:spPr>
        <p:txBody>
          <a:bodyPr/>
          <a:lstStyle/>
          <a:p>
            <a:r>
              <a:rPr lang="en-IN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screenshots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925F8D-0ED8-205C-16BA-9CD7BBBF3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8810" y="1047461"/>
            <a:ext cx="2231356" cy="431934"/>
          </a:xfrm>
        </p:spPr>
        <p:txBody>
          <a:bodyPr/>
          <a:lstStyle/>
          <a:p>
            <a:pPr marL="139700" indent="0" algn="ctr">
              <a:buNone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HOME PAGE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3AFA53-D658-8681-7BA8-E7D04BDD5242}"/>
              </a:ext>
            </a:extLst>
          </p:cNvPr>
          <p:cNvSpPr txBox="1"/>
          <p:nvPr/>
        </p:nvSpPr>
        <p:spPr>
          <a:xfrm>
            <a:off x="5308537" y="1047462"/>
            <a:ext cx="2776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 algn="ctr">
              <a:buNone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ADMIN LOGIN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4A147C-4052-1ED2-EF1F-ABAFBEE6013F}"/>
              </a:ext>
            </a:extLst>
          </p:cNvPr>
          <p:cNvSpPr txBox="1"/>
          <p:nvPr/>
        </p:nvSpPr>
        <p:spPr>
          <a:xfrm>
            <a:off x="1951463" y="4041316"/>
            <a:ext cx="5241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rPr>
              <a:t>NOTE</a:t>
            </a:r>
            <a:r>
              <a:rPr lang="en-IN" sz="1200" dirty="0">
                <a:latin typeface="Bahnschrift SemiBold SemiConden" panose="020B0502040204020203" pitchFamily="34" charset="0"/>
              </a:rPr>
              <a:t> : THESE IMAGES ARE JUST FOR EXAMPLE PURPOSE. PROJECT IS YET IN WORKING PROGRESS, SO IMAGES MAY DIFFER AFTER IMPLEMENTATION OF FINAL PROJECT.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6E7B17-4C57-8856-4952-01044940A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514" y="1671931"/>
            <a:ext cx="4111081" cy="20845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644959-763E-09D0-F7BF-88F9E1B49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405" y="1701667"/>
            <a:ext cx="4111082" cy="208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531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9BC9525-D0A4-6F20-2868-FBB240A6A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-77873"/>
            <a:ext cx="7704000" cy="728547"/>
          </a:xfrm>
        </p:spPr>
        <p:txBody>
          <a:bodyPr/>
          <a:lstStyle/>
          <a:p>
            <a:r>
              <a:rPr lang="en-IN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screenshots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925F8D-0ED8-205C-16BA-9CD7BBBF3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56321" y="463457"/>
            <a:ext cx="2231356" cy="431934"/>
          </a:xfrm>
        </p:spPr>
        <p:txBody>
          <a:bodyPr/>
          <a:lstStyle/>
          <a:p>
            <a:pPr marL="139700" indent="0" algn="ctr">
              <a:buNone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ADMIN DASHBOARD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636FE0-ABD2-A49F-91CD-AEA42A052EC0}"/>
              </a:ext>
            </a:extLst>
          </p:cNvPr>
          <p:cNvSpPr txBox="1"/>
          <p:nvPr/>
        </p:nvSpPr>
        <p:spPr>
          <a:xfrm>
            <a:off x="1931019" y="3978714"/>
            <a:ext cx="52819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rPr>
              <a:t>NOTE</a:t>
            </a:r>
            <a:r>
              <a:rPr lang="en-IN" sz="1200" dirty="0">
                <a:latin typeface="Bahnschrift SemiBold SemiConden" panose="020B0502040204020203" pitchFamily="34" charset="0"/>
              </a:rPr>
              <a:t> : THESE IMAGES ARE JUST FOR EXAMPLE PURPOSE. PROJECT IS YET IN WORKING PROGRESS, SO IMAGES MAY DIFFER AFTER IMPLEMENTATION OF FINAL PROJECT.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05ACC7-B74D-64FA-D32B-062F544CB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40" y="832789"/>
            <a:ext cx="6370320" cy="314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038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9BC9525-D0A4-6F20-2868-FBB240A6A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6907"/>
            <a:ext cx="7704000" cy="728547"/>
          </a:xfrm>
        </p:spPr>
        <p:txBody>
          <a:bodyPr/>
          <a:lstStyle/>
          <a:p>
            <a:r>
              <a:rPr lang="en-IN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screenshots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925F8D-0ED8-205C-16BA-9CD7BBBF3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8907" y="795454"/>
            <a:ext cx="2231356" cy="431934"/>
          </a:xfrm>
        </p:spPr>
        <p:txBody>
          <a:bodyPr/>
          <a:lstStyle/>
          <a:p>
            <a:pPr marL="139700" indent="0" algn="ctr"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BOOKED-LIST</a:t>
            </a:r>
            <a:endParaRPr lang="en-IN" sz="1800" dirty="0">
              <a:solidFill>
                <a:schemeClr val="tx1">
                  <a:lumMod val="75000"/>
                  <a:lumOff val="2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3AFA53-D658-8681-7BA8-E7D04BDD5242}"/>
              </a:ext>
            </a:extLst>
          </p:cNvPr>
          <p:cNvSpPr txBox="1"/>
          <p:nvPr/>
        </p:nvSpPr>
        <p:spPr>
          <a:xfrm>
            <a:off x="5451087" y="826755"/>
            <a:ext cx="2776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 algn="ctr">
              <a:buNone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ADD NEW BUS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5BDB0E-AEDE-62D5-A2D5-ABBB5D6E77EC}"/>
              </a:ext>
            </a:extLst>
          </p:cNvPr>
          <p:cNvSpPr txBox="1"/>
          <p:nvPr/>
        </p:nvSpPr>
        <p:spPr>
          <a:xfrm>
            <a:off x="2286000" y="397871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rPr>
              <a:t>NOTE</a:t>
            </a:r>
            <a:r>
              <a:rPr lang="en-IN" sz="1200" dirty="0">
                <a:latin typeface="Bahnschrift SemiBold SemiConden" panose="020B0502040204020203" pitchFamily="34" charset="0"/>
              </a:rPr>
              <a:t> : THESE IMAGES ARE JUST FOR EXAMPLE PURPOSE. PROJECT IS YET IN WORKING PROGRESS, SO IMAGES MAY DIFFER AFTER IMPLEMENTATION OF FINAL PROJECT.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7092B8-1967-6DEF-1768-19D855A09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17" y="1371600"/>
            <a:ext cx="4296937" cy="23222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CF5071-7781-77A7-43D8-9C31D5AD8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48" y="1371600"/>
            <a:ext cx="4296935" cy="232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712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9BC9525-D0A4-6F20-2868-FBB240A6A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6907"/>
            <a:ext cx="7704000" cy="728547"/>
          </a:xfrm>
        </p:spPr>
        <p:txBody>
          <a:bodyPr/>
          <a:lstStyle/>
          <a:p>
            <a:r>
              <a:rPr lang="en-IN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screenshots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925F8D-0ED8-205C-16BA-9CD7BBBF3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8810" y="1017725"/>
            <a:ext cx="2231356" cy="431934"/>
          </a:xfrm>
        </p:spPr>
        <p:txBody>
          <a:bodyPr/>
          <a:lstStyle/>
          <a:p>
            <a:pPr marL="139700" indent="0" algn="ctr">
              <a:buNone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USER LOGIN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3AFA53-D658-8681-7BA8-E7D04BDD5242}"/>
              </a:ext>
            </a:extLst>
          </p:cNvPr>
          <p:cNvSpPr txBox="1"/>
          <p:nvPr/>
        </p:nvSpPr>
        <p:spPr>
          <a:xfrm>
            <a:off x="5308537" y="1017725"/>
            <a:ext cx="2776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 algn="ctr">
              <a:buNone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BOOK BUS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F1713E-3A20-B718-966C-F9467FDD097E}"/>
              </a:ext>
            </a:extLst>
          </p:cNvPr>
          <p:cNvSpPr txBox="1"/>
          <p:nvPr/>
        </p:nvSpPr>
        <p:spPr>
          <a:xfrm>
            <a:off x="2286000" y="397871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rPr>
              <a:t>NOTE</a:t>
            </a:r>
            <a:r>
              <a:rPr lang="en-IN" sz="1200" dirty="0">
                <a:latin typeface="Bahnschrift SemiBold SemiConden" panose="020B0502040204020203" pitchFamily="34" charset="0"/>
              </a:rPr>
              <a:t> : THESE IMAGES ARE JUST FOR EXAMPLE PURPOSE. PROJECT IS YET IN WORKING PROGRESS, SO IMAGES MAY DIFFER AFTER IMPLEMENTATION OF FINAL PROJECT.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B2D22F-A9D2-ACBE-4528-329F0E002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17" y="1671928"/>
            <a:ext cx="4296938" cy="20219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A9C75C-D2A5-C06C-77BD-45B27BF10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46" y="1671928"/>
            <a:ext cx="4296937" cy="202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856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9BC9525-D0A4-6F20-2868-FBB240A6A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6907"/>
            <a:ext cx="7704000" cy="728547"/>
          </a:xfrm>
        </p:spPr>
        <p:txBody>
          <a:bodyPr/>
          <a:lstStyle/>
          <a:p>
            <a:r>
              <a:rPr lang="en-IN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screenshots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925F8D-0ED8-205C-16BA-9CD7BBBF3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8810" y="1017725"/>
            <a:ext cx="2231356" cy="431934"/>
          </a:xfrm>
        </p:spPr>
        <p:txBody>
          <a:bodyPr/>
          <a:lstStyle/>
          <a:p>
            <a:pPr marL="139700" indent="0" algn="ctr">
              <a:buNone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BOOKING DETAILS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3AFA53-D658-8681-7BA8-E7D04BDD5242}"/>
              </a:ext>
            </a:extLst>
          </p:cNvPr>
          <p:cNvSpPr txBox="1"/>
          <p:nvPr/>
        </p:nvSpPr>
        <p:spPr>
          <a:xfrm>
            <a:off x="5308537" y="1017725"/>
            <a:ext cx="2776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 algn="ctr"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PNR ENQUIRY</a:t>
            </a:r>
            <a:endParaRPr lang="en-IN" sz="1800" dirty="0">
              <a:solidFill>
                <a:schemeClr val="tx1">
                  <a:lumMod val="75000"/>
                  <a:lumOff val="2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875B15-96B4-60BF-FD64-93506CA2285D}"/>
              </a:ext>
            </a:extLst>
          </p:cNvPr>
          <p:cNvSpPr txBox="1"/>
          <p:nvPr/>
        </p:nvSpPr>
        <p:spPr>
          <a:xfrm>
            <a:off x="2286000" y="397871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rPr>
              <a:t>NOTE</a:t>
            </a:r>
            <a:r>
              <a:rPr lang="en-IN" sz="1200" dirty="0">
                <a:latin typeface="Bahnschrift SemiBold SemiConden" panose="020B0502040204020203" pitchFamily="34" charset="0"/>
              </a:rPr>
              <a:t> : THESE IMAGES ARE JUST FOR EXAMPLE PURPOSE. PROJECT IS YET IN WORKING PROGRESS, SO IMAGES MAY DIFFER AFTER IMPLEMENTATION OF FINAL PROJECT.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D62220-312A-52F1-F834-802DE1D42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17" y="1671927"/>
            <a:ext cx="4296938" cy="20219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5161FC-3DE2-428F-1B88-764A33C8A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46" y="1671926"/>
            <a:ext cx="4296937" cy="202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018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86CA07-441F-5E5F-2C54-9EFCC463F357}"/>
              </a:ext>
            </a:extLst>
          </p:cNvPr>
          <p:cNvSpPr txBox="1"/>
          <p:nvPr/>
        </p:nvSpPr>
        <p:spPr>
          <a:xfrm>
            <a:off x="3341648" y="1463860"/>
            <a:ext cx="246070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0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THANK YOU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887508-0DD1-F46A-22A2-0AD718A8CD64}"/>
              </a:ext>
            </a:extLst>
          </p:cNvPr>
          <p:cNvSpPr txBox="1"/>
          <p:nvPr/>
        </p:nvSpPr>
        <p:spPr>
          <a:xfrm>
            <a:off x="3713355" y="2125579"/>
            <a:ext cx="17172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Bahnschrift SemiBold SemiConden" panose="020B0502040204020203" pitchFamily="34" charset="0"/>
              </a:rPr>
              <a:t>FOR WATCHING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5CD945-7F48-31AF-326D-25ED6850BA04}"/>
              </a:ext>
            </a:extLst>
          </p:cNvPr>
          <p:cNvSpPr txBox="1"/>
          <p:nvPr/>
        </p:nvSpPr>
        <p:spPr>
          <a:xfrm>
            <a:off x="4419598" y="3598127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Bebas Neue" panose="020B0606020202050201" pitchFamily="34" charset="0"/>
              </a:rPr>
              <a:t>~</a:t>
            </a:r>
          </a:p>
        </p:txBody>
      </p:sp>
    </p:spTree>
    <p:extLst>
      <p:ext uri="{BB962C8B-B14F-4D97-AF65-F5344CB8AC3E}">
        <p14:creationId xmlns:p14="http://schemas.microsoft.com/office/powerpoint/2010/main" val="2964872894"/>
      </p:ext>
    </p:extLst>
  </p:cSld>
  <p:clrMapOvr>
    <a:masterClrMapping/>
  </p:clrMapOvr>
</p:sld>
</file>

<file path=ppt/theme/theme1.xml><?xml version="1.0" encoding="utf-8"?>
<a:theme xmlns:a="http://schemas.openxmlformats.org/drawingml/2006/main" name="Mountain Backgrounds XL by Slidesgo">
  <a:themeElements>
    <a:clrScheme name="Simple Light">
      <a:dk1>
        <a:srgbClr val="2A072F"/>
      </a:dk1>
      <a:lt1>
        <a:srgbClr val="FFFFFF"/>
      </a:lt1>
      <a:dk2>
        <a:srgbClr val="301E4B"/>
      </a:dk2>
      <a:lt2>
        <a:srgbClr val="42234E"/>
      </a:lt2>
      <a:accent1>
        <a:srgbClr val="2A072F"/>
      </a:accent1>
      <a:accent2>
        <a:srgbClr val="AC5169"/>
      </a:accent2>
      <a:accent3>
        <a:srgbClr val="AF7172"/>
      </a:accent3>
      <a:accent4>
        <a:srgbClr val="FECEC5"/>
      </a:accent4>
      <a:accent5>
        <a:srgbClr val="FEB5BA"/>
      </a:accent5>
      <a:accent6>
        <a:srgbClr val="FE9EA2"/>
      </a:accent6>
      <a:hlink>
        <a:srgbClr val="2A072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600</TotalTime>
  <Words>665</Words>
  <Application>Microsoft Office PowerPoint</Application>
  <PresentationFormat>On-screen Show (16:9)</PresentationFormat>
  <Paragraphs>130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Times New Roman</vt:lpstr>
      <vt:lpstr>Bahnschrift SemiBold SemiConden</vt:lpstr>
      <vt:lpstr>Century Gothic</vt:lpstr>
      <vt:lpstr>Bebas Neue</vt:lpstr>
      <vt:lpstr>Bahnschrift SemiBold</vt:lpstr>
      <vt:lpstr>Darker Grotesque Medium</vt:lpstr>
      <vt:lpstr>Arial</vt:lpstr>
      <vt:lpstr>Prompt</vt:lpstr>
      <vt:lpstr>Roboto Condensed Light</vt:lpstr>
      <vt:lpstr>Bahnschrift SemiLight Condensed</vt:lpstr>
      <vt:lpstr>Bahnschrift SemiCondensed</vt:lpstr>
      <vt:lpstr>Mountain Backgrounds XL by Slidesgo</vt:lpstr>
      <vt:lpstr>PowerPoint Presentation</vt:lpstr>
      <vt:lpstr>INTRODUCTION</vt:lpstr>
      <vt:lpstr>INTRODUCTION</vt:lpstr>
      <vt:lpstr>USER CONVENIENCe</vt:lpstr>
      <vt:lpstr>Project category</vt:lpstr>
      <vt:lpstr>TOOLS/PLATFORM HARDWARE &amp; SOFFTWARE</vt:lpstr>
      <vt:lpstr>Frontend Development </vt:lpstr>
      <vt:lpstr>SCOPE OF THE PROJECT</vt:lpstr>
      <vt:lpstr>screenshots</vt:lpstr>
      <vt:lpstr>screenshots</vt:lpstr>
      <vt:lpstr>screenshots</vt:lpstr>
      <vt:lpstr>screenshots</vt:lpstr>
      <vt:lpstr>screenshots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SYNOPSIS</dc:title>
  <dc:creator>LAKSHYA</dc:creator>
  <cp:lastModifiedBy>lakshya parihar</cp:lastModifiedBy>
  <cp:revision>14</cp:revision>
  <dcterms:modified xsi:type="dcterms:W3CDTF">2023-11-03T04:51:13Z</dcterms:modified>
</cp:coreProperties>
</file>