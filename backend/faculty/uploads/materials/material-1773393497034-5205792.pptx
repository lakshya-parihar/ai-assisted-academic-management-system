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Open Sauce" charset="1" panose="00000500000000000000"/>
      <p:regular r:id="rId40"/>
    </p:embeddedFont>
    <p:embeddedFont>
      <p:font typeface="Open Sauce Bold" charset="1" panose="00000800000000000000"/>
      <p:regular r:id="rId41"/>
    </p:embeddedFont>
    <p:embeddedFont>
      <p:font typeface="Open Sauce Italics" charset="1" panose="00000500000000000000"/>
      <p:regular r:id="rId42"/>
    </p:embeddedFont>
    <p:embeddedFont>
      <p:font typeface="Canva Sans Bold" charset="1" panose="020B0803030501040103"/>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www.bing.com/ck/a?!&amp;&amp;p=63c9a20d6bfb1f7c32c6b3dd059279456545de6b9976efaea3c8f4f74f9f893dJmltdHM9MTc2ODg2NzIwMA&amp;ptn=3&amp;ver=2&amp;hsh=4&amp;fclid=1e4eba2e-489e-63d2-0cb0-ac4a49fc628f&amp;u=a1L21hcHM_Jm1lcGk9MH5-RW1iZWRkZWR-QWRkcmVzc19MaW5rJnR5PTE4JnE9U2lsdmVyJTIwT2FrJTIwVW5pdmVyc2l0eSZzcz15cGlkLllONDA3MHgxNzUxODUxNjU1ODgxNTMwODg2MyZwcG9pcz0yMy4wOTA2MTYyMjYxOTYyOV83Mi41MzQ4NDM0NDQ4MjQyMl9TaWx2ZXIlMjBPYWslMjBVbml2ZXJzaXR5X1lONDA3MHgxNzUxODUxNjU1ODgxNTMwODg2M34mY3A9MjMuMDkwNjE2fjcyLjUzNDg0MyZ2PTImc1Y9MSZGT1JNPU1QU1JQTA&amp;ntb=1"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6560751" y="2798119"/>
            <a:ext cx="5166498" cy="1494318"/>
          </a:xfrm>
          <a:custGeom>
            <a:avLst/>
            <a:gdLst/>
            <a:ahLst/>
            <a:cxnLst/>
            <a:rect r="r" b="b" t="t" l="l"/>
            <a:pathLst>
              <a:path h="1494318" w="5166498">
                <a:moveTo>
                  <a:pt x="0" y="0"/>
                </a:moveTo>
                <a:lnTo>
                  <a:pt x="5166498" y="0"/>
                </a:lnTo>
                <a:lnTo>
                  <a:pt x="5166498" y="1494318"/>
                </a:lnTo>
                <a:lnTo>
                  <a:pt x="0" y="1494318"/>
                </a:lnTo>
                <a:lnTo>
                  <a:pt x="0" y="0"/>
                </a:lnTo>
                <a:close/>
              </a:path>
            </a:pathLst>
          </a:custGeom>
          <a:blipFill>
            <a:blip r:embed="rId2"/>
            <a:stretch>
              <a:fillRect l="0" t="0" r="0" b="0"/>
            </a:stretch>
          </a:blipFill>
        </p:spPr>
      </p:sp>
      <p:sp>
        <p:nvSpPr>
          <p:cNvPr name="TextBox 3" id="3"/>
          <p:cNvSpPr txBox="true"/>
          <p:nvPr/>
        </p:nvSpPr>
        <p:spPr>
          <a:xfrm rot="0">
            <a:off x="1788088" y="5391150"/>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Final Project</a:t>
            </a:r>
          </a:p>
          <a:p>
            <a:pPr algn="l">
              <a:lnSpc>
                <a:spcPts val="13040"/>
              </a:lnSpc>
            </a:pPr>
            <a:r>
              <a:rPr lang="en-US" sz="13040" spc="-782">
                <a:solidFill>
                  <a:srgbClr val="331B0D"/>
                </a:solidFill>
                <a:latin typeface="Open Sauce"/>
                <a:ea typeface="Open Sauce"/>
                <a:cs typeface="Open Sauce"/>
                <a:sym typeface="Open Sauce"/>
              </a:rPr>
              <a:t>Presentation</a:t>
            </a:r>
          </a:p>
        </p:txBody>
      </p:sp>
      <p:sp>
        <p:nvSpPr>
          <p:cNvPr name="TextBox 4" id="4"/>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SILVER OAK UNIVERSITY</a:t>
            </a:r>
          </a:p>
        </p:txBody>
      </p:sp>
      <p:sp>
        <p:nvSpPr>
          <p:cNvPr name="TextBox 5" id="5"/>
          <p:cNvSpPr txBox="true"/>
          <p:nvPr/>
        </p:nvSpPr>
        <p:spPr>
          <a:xfrm rot="0">
            <a:off x="13664542" y="7802263"/>
            <a:ext cx="3594758" cy="1108710"/>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hlinkClick r:id="rId3" tooltip="https://www.bing.com/ck/a?!&amp;&amp;p=63c9a20d6bfb1f7c32c6b3dd059279456545de6b9976efaea3c8f4f74f9f893dJmltdHM9MTc2ODg2NzIwMA&amp;ptn=3&amp;ver=2&amp;hsh=4&amp;fclid=1e4eba2e-489e-63d2-0cb0-ac4a49fc628f&amp;u=a1L21hcHM_Jm1lcGk9MH5-RW1iZWRkZWR-QWRkcmVzc19MaW5rJnR5PTE4JnE9U2lsdmVyJTIwT2FrJTIwVW5pdmVyc2l0eSZzcz15cGlkLllONDA3MHgxNzUxODUxNjU1ODgxNTMwODg2MyZwcG9pcz0yMy4wOTA2MTYyMjYxOTYyOV83Mi41MzQ4NDM0NDQ4MjQyMl9TaWx2ZXIlMjBPYWslMjBVbml2ZXJzaXR5X1lONDA3MHgxNzUxODUxNjU1ODgxNTMwODg2M34mY3A9MjMuMDkwNjE2fjcyLjUzNDg0MyZ2PTImc1Y9MSZGT1JNPU1QU1JQTA&amp;ntb=1"/>
              </a:rPr>
              <a:t>402 New S G Road, Ahmedabad, Gujarat 382481</a:t>
            </a:r>
          </a:p>
        </p:txBody>
      </p:sp>
      <p:sp>
        <p:nvSpPr>
          <p:cNvPr name="TextBox 6" id="6"/>
          <p:cNvSpPr txBox="true"/>
          <p:nvPr/>
        </p:nvSpPr>
        <p:spPr>
          <a:xfrm rot="0">
            <a:off x="1028700" y="1057275"/>
            <a:ext cx="5360014" cy="474345"/>
          </a:xfrm>
          <a:prstGeom prst="rect">
            <a:avLst/>
          </a:prstGeom>
        </p:spPr>
        <p:txBody>
          <a:bodyPr anchor="t" rtlCol="false" tIns="0" lIns="0" bIns="0" rIns="0">
            <a:spAutoFit/>
          </a:bodyPr>
          <a:lstStyle/>
          <a:p>
            <a:pPr algn="just">
              <a:lnSpc>
                <a:spcPts val="1800"/>
              </a:lnSpc>
              <a:spcBef>
                <a:spcPct val="0"/>
              </a:spcBef>
            </a:pPr>
            <a:r>
              <a:rPr lang="en-US" b="true" sz="1800" spc="698">
                <a:solidFill>
                  <a:srgbClr val="8C7753"/>
                </a:solidFill>
                <a:latin typeface="Open Sauce Bold"/>
                <a:ea typeface="Open Sauce Bold"/>
                <a:cs typeface="Open Sauce Bold"/>
                <a:sym typeface="Open Sauce Bold"/>
              </a:rPr>
              <a:t>Master’s Of Computer APPLICATION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29933"/>
            <a:ext cx="11423775" cy="3630713"/>
          </a:xfrm>
          <a:prstGeom prst="rect">
            <a:avLst/>
          </a:prstGeom>
        </p:spPr>
        <p:txBody>
          <a:bodyPr anchor="t" rtlCol="false" tIns="0" lIns="0" bIns="0" rIns="0">
            <a:spAutoFit/>
          </a:bodyPr>
          <a:lstStyle/>
          <a:p>
            <a:pPr algn="l">
              <a:lnSpc>
                <a:spcPts val="9441"/>
              </a:lnSpc>
            </a:pPr>
            <a:r>
              <a:rPr lang="en-US" sz="9441" spc="-566">
                <a:solidFill>
                  <a:srgbClr val="331B0D"/>
                </a:solidFill>
                <a:latin typeface="Open Sauce"/>
                <a:ea typeface="Open Sauce"/>
                <a:cs typeface="Open Sauce"/>
                <a:sym typeface="Open Sauce"/>
              </a:rPr>
              <a:t>AIAAMS-AI Assisted Academic Management System</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G42 </a:t>
            </a:r>
          </a:p>
        </p:txBody>
      </p:sp>
      <p:sp>
        <p:nvSpPr>
          <p:cNvPr name="TextBox 4" id="4"/>
          <p:cNvSpPr txBox="true"/>
          <p:nvPr/>
        </p:nvSpPr>
        <p:spPr>
          <a:xfrm rot="0">
            <a:off x="11660245" y="7582381"/>
            <a:ext cx="5599055" cy="1344549"/>
          </a:xfrm>
          <a:prstGeom prst="rect">
            <a:avLst/>
          </a:prstGeom>
        </p:spPr>
        <p:txBody>
          <a:bodyPr anchor="t" rtlCol="false" tIns="0" lIns="0" bIns="0" rIns="0">
            <a:spAutoFit/>
          </a:bodyPr>
          <a:lstStyle/>
          <a:p>
            <a:pPr algn="r">
              <a:lnSpc>
                <a:spcPts val="3633"/>
              </a:lnSpc>
            </a:pPr>
            <a:r>
              <a:rPr lang="en-US" sz="2100" spc="109">
                <a:solidFill>
                  <a:srgbClr val="331B0D"/>
                </a:solidFill>
                <a:latin typeface="Open Sauce"/>
                <a:ea typeface="Open Sauce"/>
                <a:cs typeface="Open Sauce"/>
                <a:sym typeface="Open Sauce"/>
              </a:rPr>
              <a:t>(2404070100003) Parihar Lakshya</a:t>
            </a:r>
          </a:p>
          <a:p>
            <a:pPr algn="r">
              <a:lnSpc>
                <a:spcPts val="3633"/>
              </a:lnSpc>
            </a:pPr>
            <a:r>
              <a:rPr lang="en-US" sz="2100" spc="109">
                <a:solidFill>
                  <a:srgbClr val="331B0D"/>
                </a:solidFill>
                <a:latin typeface="Open Sauce"/>
                <a:ea typeface="Open Sauce"/>
                <a:cs typeface="Open Sauce"/>
                <a:sym typeface="Open Sauce"/>
              </a:rPr>
              <a:t>(2404070100021) </a:t>
            </a:r>
            <a:r>
              <a:rPr lang="en-US" sz="2100" spc="109">
                <a:solidFill>
                  <a:srgbClr val="331B0D"/>
                </a:solidFill>
                <a:latin typeface="Open Sauce"/>
                <a:ea typeface="Open Sauce"/>
                <a:cs typeface="Open Sauce"/>
                <a:sym typeface="Open Sauce"/>
              </a:rPr>
              <a:t>Vishvakarma Suraj</a:t>
            </a:r>
          </a:p>
          <a:p>
            <a:pPr algn="r">
              <a:lnSpc>
                <a:spcPts val="3633"/>
              </a:lnSpc>
            </a:pPr>
            <a:r>
              <a:rPr lang="en-US" sz="2100" spc="109">
                <a:solidFill>
                  <a:srgbClr val="331B0D"/>
                </a:solidFill>
                <a:latin typeface="Open Sauce"/>
                <a:ea typeface="Open Sauce"/>
                <a:cs typeface="Open Sauce"/>
                <a:sym typeface="Open Sauce"/>
              </a:rPr>
              <a:t>(2404070100042) Acharya Arjun</a:t>
            </a:r>
          </a:p>
        </p:txBody>
      </p:sp>
      <p:sp>
        <p:nvSpPr>
          <p:cNvPr name="Freeform 5" id="5"/>
          <p:cNvSpPr/>
          <p:nvPr/>
        </p:nvSpPr>
        <p:spPr>
          <a:xfrm flipH="false" flipV="false" rot="0">
            <a:off x="6919866" y="385409"/>
            <a:ext cx="4448267" cy="1286582"/>
          </a:xfrm>
          <a:custGeom>
            <a:avLst/>
            <a:gdLst/>
            <a:ahLst/>
            <a:cxnLst/>
            <a:rect r="r" b="b" t="t" l="l"/>
            <a:pathLst>
              <a:path h="1286582" w="4448267">
                <a:moveTo>
                  <a:pt x="0" y="0"/>
                </a:moveTo>
                <a:lnTo>
                  <a:pt x="4448268" y="0"/>
                </a:lnTo>
                <a:lnTo>
                  <a:pt x="4448268" y="1286582"/>
                </a:lnTo>
                <a:lnTo>
                  <a:pt x="0" y="1286582"/>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Introduction </a:t>
            </a:r>
          </a:p>
        </p:txBody>
      </p:sp>
      <p:sp>
        <p:nvSpPr>
          <p:cNvPr name="TextBox 3" id="3"/>
          <p:cNvSpPr txBox="true"/>
          <p:nvPr/>
        </p:nvSpPr>
        <p:spPr>
          <a:xfrm rot="0">
            <a:off x="1028700" y="3414712"/>
            <a:ext cx="8115300" cy="5725795"/>
          </a:xfrm>
          <a:prstGeom prst="rect">
            <a:avLst/>
          </a:prstGeom>
        </p:spPr>
        <p:txBody>
          <a:bodyPr anchor="t" rtlCol="false" tIns="0" lIns="0" bIns="0" rIns="0">
            <a:spAutoFit/>
          </a:bodyPr>
          <a:lstStyle/>
          <a:p>
            <a:pPr algn="l" marL="561339" indent="-280669" lvl="1">
              <a:lnSpc>
                <a:spcPts val="4159"/>
              </a:lnSpc>
              <a:buFont typeface="Arial"/>
              <a:buChar char="•"/>
            </a:pPr>
            <a:r>
              <a:rPr lang="en-US" b="true" sz="2599">
                <a:solidFill>
                  <a:srgbClr val="331B0D"/>
                </a:solidFill>
                <a:latin typeface="Open Sauce Bold"/>
                <a:ea typeface="Open Sauce Bold"/>
                <a:cs typeface="Open Sauce Bold"/>
                <a:sym typeface="Open Sauce Bold"/>
              </a:rPr>
              <a:t>Overview</a:t>
            </a:r>
            <a:r>
              <a:rPr lang="en-US" sz="2599">
                <a:solidFill>
                  <a:srgbClr val="331B0D"/>
                </a:solidFill>
                <a:latin typeface="Open Sauce"/>
                <a:ea typeface="Open Sauce"/>
                <a:cs typeface="Open Sauce"/>
                <a:sym typeface="Open Sauce"/>
              </a:rPr>
              <a:t>: AIAAMS is a next-generation</a:t>
            </a:r>
            <a:r>
              <a:rPr lang="en-US" sz="2599">
                <a:solidFill>
                  <a:srgbClr val="331B0D"/>
                </a:solidFill>
                <a:latin typeface="Open Sauce"/>
                <a:ea typeface="Open Sauce"/>
                <a:cs typeface="Open Sauce"/>
                <a:sym typeface="Open Sauce"/>
              </a:rPr>
              <a:t> academic platform designed to bridge the gap between traditional administration and modern AI capabilities.</a:t>
            </a:r>
          </a:p>
          <a:p>
            <a:pPr algn="l" marL="561339" indent="-280669" lvl="1">
              <a:lnSpc>
                <a:spcPts val="4159"/>
              </a:lnSpc>
              <a:buFont typeface="Arial"/>
              <a:buChar char="•"/>
            </a:pPr>
            <a:r>
              <a:rPr lang="en-US" b="true" sz="2599">
                <a:solidFill>
                  <a:srgbClr val="331B0D"/>
                </a:solidFill>
                <a:latin typeface="Open Sauce Bold"/>
                <a:ea typeface="Open Sauce Bold"/>
                <a:cs typeface="Open Sauce Bold"/>
                <a:sym typeface="Open Sauce Bold"/>
              </a:rPr>
              <a:t>Goal:</a:t>
            </a:r>
            <a:r>
              <a:rPr lang="en-US" sz="2599">
                <a:solidFill>
                  <a:srgbClr val="331B0D"/>
                </a:solidFill>
                <a:latin typeface="Open Sauce"/>
                <a:ea typeface="Open Sauce"/>
                <a:cs typeface="Open Sauce"/>
                <a:sym typeface="Open Sauce"/>
              </a:rPr>
              <a:t> To centralize academic processes (attendance, grading, communication) into a single, cohesive interface powered by predictive analytics.</a:t>
            </a:r>
          </a:p>
          <a:p>
            <a:pPr algn="l" marL="561339" indent="-280669" lvl="1">
              <a:lnSpc>
                <a:spcPts val="4159"/>
              </a:lnSpc>
              <a:buFont typeface="Arial"/>
              <a:buChar char="•"/>
            </a:pPr>
            <a:r>
              <a:rPr lang="en-US" b="true" sz="2599">
                <a:solidFill>
                  <a:srgbClr val="331B0D"/>
                </a:solidFill>
                <a:latin typeface="Open Sauce Bold"/>
                <a:ea typeface="Open Sauce Bold"/>
                <a:cs typeface="Open Sauce Bold"/>
                <a:sym typeface="Open Sauce Bold"/>
              </a:rPr>
              <a:t>Impact:</a:t>
            </a:r>
            <a:r>
              <a:rPr lang="en-US" sz="2599">
                <a:solidFill>
                  <a:srgbClr val="331B0D"/>
                </a:solidFill>
                <a:latin typeface="Open Sauce"/>
                <a:ea typeface="Open Sauce"/>
                <a:cs typeface="Open Sauce"/>
                <a:sym typeface="Open Sauce"/>
              </a:rPr>
              <a:t> Empowers institutions with data-driven insights to improve student outcomes and operational efficiency.</a:t>
            </a:r>
          </a:p>
        </p:txBody>
      </p:sp>
      <p:sp>
        <p:nvSpPr>
          <p:cNvPr name="Freeform 4" id="4"/>
          <p:cNvSpPr/>
          <p:nvPr/>
        </p:nvSpPr>
        <p:spPr>
          <a:xfrm flipH="false" flipV="false" rot="0">
            <a:off x="9433778" y="0"/>
            <a:ext cx="9457926" cy="10287000"/>
          </a:xfrm>
          <a:custGeom>
            <a:avLst/>
            <a:gdLst/>
            <a:ahLst/>
            <a:cxnLst/>
            <a:rect r="r" b="b" t="t" l="l"/>
            <a:pathLst>
              <a:path h="10287000" w="9457926">
                <a:moveTo>
                  <a:pt x="0" y="0"/>
                </a:moveTo>
                <a:lnTo>
                  <a:pt x="9457926" y="0"/>
                </a:lnTo>
                <a:lnTo>
                  <a:pt x="9457926" y="10287000"/>
                </a:lnTo>
                <a:lnTo>
                  <a:pt x="0" y="10287000"/>
                </a:lnTo>
                <a:lnTo>
                  <a:pt x="0" y="0"/>
                </a:lnTo>
                <a:close/>
              </a:path>
            </a:pathLst>
          </a:custGeom>
          <a:blipFill>
            <a:blip r:embed="rId2"/>
            <a:stretch>
              <a:fillRect l="-33191" t="0" r="-30254"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6" id="6"/>
          <p:cNvSpPr txBox="true"/>
          <p:nvPr/>
        </p:nvSpPr>
        <p:spPr>
          <a:xfrm rot="0">
            <a:off x="1028700" y="1057275"/>
            <a:ext cx="3065119"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723853"/>
            <a:ext cx="1164246" cy="1400597"/>
          </a:xfrm>
          <a:custGeom>
            <a:avLst/>
            <a:gdLst/>
            <a:ahLst/>
            <a:cxnLst/>
            <a:rect r="r" b="b" t="t" l="l"/>
            <a:pathLst>
              <a:path h="1400597" w="1164246">
                <a:moveTo>
                  <a:pt x="0" y="0"/>
                </a:moveTo>
                <a:lnTo>
                  <a:pt x="1164246" y="0"/>
                </a:lnTo>
                <a:lnTo>
                  <a:pt x="1164246" y="1400597"/>
                </a:lnTo>
                <a:lnTo>
                  <a:pt x="0" y="1400597"/>
                </a:lnTo>
                <a:lnTo>
                  <a:pt x="0" y="0"/>
                </a:lnTo>
                <a:close/>
              </a:path>
            </a:pathLst>
          </a:custGeom>
          <a:blipFill>
            <a:blip r:embed="rId2"/>
            <a:stretch>
              <a:fillRect l="0" t="0" r="0" b="0"/>
            </a:stretch>
          </a:blipFill>
        </p:spPr>
      </p:sp>
      <p:sp>
        <p:nvSpPr>
          <p:cNvPr name="Freeform 3" id="3"/>
          <p:cNvSpPr/>
          <p:nvPr/>
        </p:nvSpPr>
        <p:spPr>
          <a:xfrm flipH="false" flipV="false" rot="0">
            <a:off x="6988914" y="3723853"/>
            <a:ext cx="1483618" cy="1537428"/>
          </a:xfrm>
          <a:custGeom>
            <a:avLst/>
            <a:gdLst/>
            <a:ahLst/>
            <a:cxnLst/>
            <a:rect r="r" b="b" t="t" l="l"/>
            <a:pathLst>
              <a:path h="1537428" w="1483618">
                <a:moveTo>
                  <a:pt x="0" y="0"/>
                </a:moveTo>
                <a:lnTo>
                  <a:pt x="1483618" y="0"/>
                </a:lnTo>
                <a:lnTo>
                  <a:pt x="1483618" y="1537428"/>
                </a:lnTo>
                <a:lnTo>
                  <a:pt x="0" y="1537428"/>
                </a:lnTo>
                <a:lnTo>
                  <a:pt x="0" y="0"/>
                </a:lnTo>
                <a:close/>
              </a:path>
            </a:pathLst>
          </a:custGeom>
          <a:blipFill>
            <a:blip r:embed="rId3"/>
            <a:stretch>
              <a:fillRect l="0" t="0" r="0" b="0"/>
            </a:stretch>
          </a:blipFill>
        </p:spPr>
      </p:sp>
      <p:sp>
        <p:nvSpPr>
          <p:cNvPr name="Freeform 4" id="4"/>
          <p:cNvSpPr/>
          <p:nvPr/>
        </p:nvSpPr>
        <p:spPr>
          <a:xfrm flipH="false" flipV="false" rot="0">
            <a:off x="12949128" y="3365384"/>
            <a:ext cx="811369" cy="1759066"/>
          </a:xfrm>
          <a:custGeom>
            <a:avLst/>
            <a:gdLst/>
            <a:ahLst/>
            <a:cxnLst/>
            <a:rect r="r" b="b" t="t" l="l"/>
            <a:pathLst>
              <a:path h="1759066" w="811369">
                <a:moveTo>
                  <a:pt x="0" y="0"/>
                </a:moveTo>
                <a:lnTo>
                  <a:pt x="811369" y="0"/>
                </a:lnTo>
                <a:lnTo>
                  <a:pt x="811369" y="1759066"/>
                </a:lnTo>
                <a:lnTo>
                  <a:pt x="0" y="1759066"/>
                </a:lnTo>
                <a:lnTo>
                  <a:pt x="0" y="0"/>
                </a:lnTo>
                <a:close/>
              </a:path>
            </a:pathLst>
          </a:custGeom>
          <a:blipFill>
            <a:blip r:embed="rId4"/>
            <a:stretch>
              <a:fillRect l="0" t="0" r="0" b="0"/>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Overview</a:t>
            </a:r>
          </a:p>
        </p:txBody>
      </p:sp>
      <p:sp>
        <p:nvSpPr>
          <p:cNvPr name="TextBox 6" id="6"/>
          <p:cNvSpPr txBox="true"/>
          <p:nvPr/>
        </p:nvSpPr>
        <p:spPr>
          <a:xfrm rot="0">
            <a:off x="1028700"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a:t>
            </a:r>
            <a:r>
              <a:rPr lang="en-US" sz="2400">
                <a:solidFill>
                  <a:srgbClr val="8C7753"/>
                </a:solidFill>
                <a:latin typeface="Open Sauce"/>
                <a:ea typeface="Open Sauce"/>
                <a:cs typeface="Open Sauce"/>
                <a:sym typeface="Open Sauce"/>
              </a:rPr>
              <a:t>roblem</a:t>
            </a:r>
          </a:p>
        </p:txBody>
      </p:sp>
      <p:sp>
        <p:nvSpPr>
          <p:cNvPr name="TextBox 7" id="7"/>
          <p:cNvSpPr txBox="true"/>
          <p:nvPr/>
        </p:nvSpPr>
        <p:spPr>
          <a:xfrm rot="0">
            <a:off x="1028700" y="6435090"/>
            <a:ext cx="4698759" cy="2379980"/>
          </a:xfrm>
          <a:prstGeom prst="rect">
            <a:avLst/>
          </a:prstGeom>
        </p:spPr>
        <p:txBody>
          <a:bodyPr anchor="t" rtlCol="false" tIns="0" lIns="0" bIns="0" rIns="0">
            <a:spAutoFit/>
          </a:bodyPr>
          <a:lstStyle/>
          <a:p>
            <a:pPr algn="l">
              <a:lnSpc>
                <a:spcPts val="3220"/>
              </a:lnSpc>
              <a:spcBef>
                <a:spcPct val="0"/>
              </a:spcBef>
            </a:pPr>
            <a:r>
              <a:rPr lang="en-US" sz="2300">
                <a:solidFill>
                  <a:srgbClr val="331B0D"/>
                </a:solidFill>
                <a:latin typeface="Open Sauce"/>
                <a:ea typeface="Open Sauce"/>
                <a:cs typeface="Open Sauce"/>
                <a:sym typeface="Open Sauce"/>
              </a:rPr>
              <a:t>Tradi</a:t>
            </a:r>
            <a:r>
              <a:rPr lang="en-US" sz="2300">
                <a:solidFill>
                  <a:srgbClr val="331B0D"/>
                </a:solidFill>
                <a:latin typeface="Open Sauce"/>
                <a:ea typeface="Open Sauce"/>
                <a:cs typeface="Open Sauce"/>
                <a:sym typeface="Open Sauce"/>
              </a:rPr>
              <a:t>tional academic management often relies on disconnected, manual processes that lead to administrative bottlenecks and scheduling errors.</a:t>
            </a:r>
          </a:p>
        </p:txBody>
      </p:sp>
      <p:sp>
        <p:nvSpPr>
          <p:cNvPr name="TextBox 8" id="8"/>
          <p:cNvSpPr txBox="true"/>
          <p:nvPr/>
        </p:nvSpPr>
        <p:spPr>
          <a:xfrm rot="0">
            <a:off x="6988914"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Solution</a:t>
            </a:r>
          </a:p>
        </p:txBody>
      </p:sp>
      <p:sp>
        <p:nvSpPr>
          <p:cNvPr name="TextBox 9" id="9"/>
          <p:cNvSpPr txBox="true"/>
          <p:nvPr/>
        </p:nvSpPr>
        <p:spPr>
          <a:xfrm rot="0">
            <a:off x="6988914" y="6425565"/>
            <a:ext cx="4310172" cy="1989455"/>
          </a:xfrm>
          <a:prstGeom prst="rect">
            <a:avLst/>
          </a:prstGeom>
        </p:spPr>
        <p:txBody>
          <a:bodyPr anchor="t" rtlCol="false" tIns="0" lIns="0" bIns="0" rIns="0">
            <a:spAutoFit/>
          </a:bodyPr>
          <a:lstStyle/>
          <a:p>
            <a:pPr algn="l">
              <a:lnSpc>
                <a:spcPts val="3219"/>
              </a:lnSpc>
              <a:spcBef>
                <a:spcPct val="0"/>
              </a:spcBef>
            </a:pPr>
            <a:r>
              <a:rPr lang="en-US" sz="2299">
                <a:solidFill>
                  <a:srgbClr val="331B0D"/>
                </a:solidFill>
                <a:latin typeface="Open Sauce"/>
                <a:ea typeface="Open Sauce"/>
                <a:cs typeface="Open Sauce"/>
                <a:sym typeface="Open Sauce"/>
              </a:rPr>
              <a:t>Integrates machin</a:t>
            </a:r>
            <a:r>
              <a:rPr lang="en-US" sz="2299">
                <a:solidFill>
                  <a:srgbClr val="331B0D"/>
                </a:solidFill>
                <a:latin typeface="Open Sauce"/>
                <a:ea typeface="Open Sauce"/>
                <a:cs typeface="Open Sauce"/>
                <a:sym typeface="Open Sauce"/>
              </a:rPr>
              <a:t>e learning to analyze student performance data and provide faculty with actionable, data-driven insights.</a:t>
            </a:r>
          </a:p>
        </p:txBody>
      </p:sp>
      <p:sp>
        <p:nvSpPr>
          <p:cNvPr name="TextBox 10" id="10"/>
          <p:cNvSpPr txBox="true"/>
          <p:nvPr/>
        </p:nvSpPr>
        <p:spPr>
          <a:xfrm rot="0">
            <a:off x="12949128"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Why It Matte</a:t>
            </a:r>
            <a:r>
              <a:rPr lang="en-US" sz="2400">
                <a:solidFill>
                  <a:srgbClr val="8C7753"/>
                </a:solidFill>
                <a:latin typeface="Open Sauce"/>
                <a:ea typeface="Open Sauce"/>
                <a:cs typeface="Open Sauce"/>
                <a:sym typeface="Open Sauce"/>
              </a:rPr>
              <a:t>rs</a:t>
            </a:r>
          </a:p>
        </p:txBody>
      </p:sp>
      <p:sp>
        <p:nvSpPr>
          <p:cNvPr name="TextBox 11" id="11"/>
          <p:cNvSpPr txBox="true"/>
          <p:nvPr/>
        </p:nvSpPr>
        <p:spPr>
          <a:xfrm rot="0">
            <a:off x="12949128" y="6425565"/>
            <a:ext cx="4310172" cy="1989455"/>
          </a:xfrm>
          <a:prstGeom prst="rect">
            <a:avLst/>
          </a:prstGeom>
        </p:spPr>
        <p:txBody>
          <a:bodyPr anchor="t" rtlCol="false" tIns="0" lIns="0" bIns="0" rIns="0">
            <a:spAutoFit/>
          </a:bodyPr>
          <a:lstStyle/>
          <a:p>
            <a:pPr algn="l">
              <a:lnSpc>
                <a:spcPts val="3219"/>
              </a:lnSpc>
              <a:spcBef>
                <a:spcPct val="0"/>
              </a:spcBef>
            </a:pPr>
            <a:r>
              <a:rPr lang="en-US" sz="2299">
                <a:solidFill>
                  <a:srgbClr val="331B0D"/>
                </a:solidFill>
                <a:latin typeface="Open Sauce"/>
                <a:ea typeface="Open Sauce"/>
                <a:cs typeface="Open Sauce"/>
                <a:sym typeface="Open Sauce"/>
              </a:rPr>
              <a:t>Providing stude</a:t>
            </a:r>
            <a:r>
              <a:rPr lang="en-US" sz="2299">
                <a:solidFill>
                  <a:srgbClr val="331B0D"/>
                </a:solidFill>
                <a:latin typeface="Open Sauce"/>
                <a:ea typeface="Open Sauce"/>
                <a:cs typeface="Open Sauce"/>
                <a:sym typeface="Open Sauce"/>
              </a:rPr>
              <a:t>nts with intuitive organization and proactive tracking tools directly improves academic performance and well-being.</a:t>
            </a:r>
          </a:p>
        </p:txBody>
      </p:sp>
      <p:sp>
        <p:nvSpPr>
          <p:cNvPr name="TextBox 12" id="1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13" id="13"/>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14" id="1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9651111" y="0"/>
            <a:ext cx="8636889" cy="10287000"/>
          </a:xfrm>
          <a:custGeom>
            <a:avLst/>
            <a:gdLst/>
            <a:ahLst/>
            <a:cxnLst/>
            <a:rect r="r" b="b" t="t" l="l"/>
            <a:pathLst>
              <a:path h="10287000" w="8636889">
                <a:moveTo>
                  <a:pt x="0" y="0"/>
                </a:moveTo>
                <a:lnTo>
                  <a:pt x="8636889" y="0"/>
                </a:lnTo>
                <a:lnTo>
                  <a:pt x="8636889" y="10287000"/>
                </a:lnTo>
                <a:lnTo>
                  <a:pt x="0" y="10287000"/>
                </a:lnTo>
                <a:lnTo>
                  <a:pt x="0" y="0"/>
                </a:lnTo>
                <a:close/>
              </a:path>
            </a:pathLst>
          </a:custGeom>
          <a:blipFill>
            <a:blip r:embed="rId2"/>
            <a:stretch>
              <a:fillRect l="-19281" t="0" r="-59154" b="0"/>
            </a:stretch>
          </a:blipFill>
        </p:spPr>
      </p:sp>
      <p:sp>
        <p:nvSpPr>
          <p:cNvPr name="TextBox 3" id="3"/>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Objective</a:t>
            </a:r>
          </a:p>
        </p:txBody>
      </p:sp>
      <p:sp>
        <p:nvSpPr>
          <p:cNvPr name="TextBox 4" id="4"/>
          <p:cNvSpPr txBox="true"/>
          <p:nvPr/>
        </p:nvSpPr>
        <p:spPr>
          <a:xfrm rot="0">
            <a:off x="1028700" y="307372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Main G</a:t>
            </a:r>
            <a:r>
              <a:rPr lang="en-US" sz="2400">
                <a:solidFill>
                  <a:srgbClr val="8C7753"/>
                </a:solidFill>
                <a:latin typeface="Open Sauce"/>
                <a:ea typeface="Open Sauce"/>
                <a:cs typeface="Open Sauce"/>
                <a:sym typeface="Open Sauce"/>
              </a:rPr>
              <a:t>oal</a:t>
            </a:r>
          </a:p>
        </p:txBody>
      </p:sp>
      <p:sp>
        <p:nvSpPr>
          <p:cNvPr name="TextBox 5" id="5"/>
          <p:cNvSpPr txBox="true"/>
          <p:nvPr/>
        </p:nvSpPr>
        <p:spPr>
          <a:xfrm rot="0">
            <a:off x="1028700" y="3831912"/>
            <a:ext cx="811530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To </a:t>
            </a:r>
            <a:r>
              <a:rPr lang="en-US" sz="2100">
                <a:solidFill>
                  <a:srgbClr val="331B0D"/>
                </a:solidFill>
                <a:latin typeface="Open Sauce"/>
                <a:ea typeface="Open Sauce"/>
                <a:cs typeface="Open Sauce"/>
                <a:sym typeface="Open Sauce"/>
              </a:rPr>
              <a:t>create an intelligent, data-driven management platform that utilizes AI to optimize academic administration, personalize student tracking, and enhance overall institutional efficiency.</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5</a:t>
            </a:r>
          </a:p>
        </p:txBody>
      </p:sp>
      <p:sp>
        <p:nvSpPr>
          <p:cNvPr name="TextBox 7" id="7"/>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
        <p:nvSpPr>
          <p:cNvPr name="TextBox 8" id="8"/>
          <p:cNvSpPr txBox="true"/>
          <p:nvPr/>
        </p:nvSpPr>
        <p:spPr>
          <a:xfrm rot="0">
            <a:off x="1028700"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Supporting Objectives</a:t>
            </a:r>
          </a:p>
        </p:txBody>
      </p:sp>
      <p:sp>
        <p:nvSpPr>
          <p:cNvPr name="TextBox 9" id="9"/>
          <p:cNvSpPr txBox="true"/>
          <p:nvPr/>
        </p:nvSpPr>
        <p:spPr>
          <a:xfrm rot="0">
            <a:off x="1028700" y="6508437"/>
            <a:ext cx="8115300" cy="3148584"/>
          </a:xfrm>
          <a:prstGeom prst="rect">
            <a:avLst/>
          </a:prstGeom>
        </p:spPr>
        <p:txBody>
          <a:bodyPr anchor="t" rtlCol="false" tIns="0" lIns="0" bIns="0" rIns="0">
            <a:spAutoFit/>
          </a:bodyPr>
          <a:lstStyle/>
          <a:p>
            <a:pPr algn="l" marL="453390" indent="-226695" lvl="1">
              <a:lnSpc>
                <a:spcPts val="2477"/>
              </a:lnSpc>
              <a:buFont typeface="Arial"/>
              <a:buChar char="•"/>
            </a:pPr>
            <a:r>
              <a:rPr lang="en-US" sz="2100" spc="31">
                <a:solidFill>
                  <a:srgbClr val="331B0D"/>
                </a:solidFill>
                <a:latin typeface="Open Sauce"/>
                <a:ea typeface="Open Sauce"/>
                <a:cs typeface="Open Sauce"/>
                <a:sym typeface="Open Sauce"/>
              </a:rPr>
              <a:t>Develop a b</a:t>
            </a:r>
            <a:r>
              <a:rPr lang="en-US" sz="2100" spc="31">
                <a:solidFill>
                  <a:srgbClr val="331B0D"/>
                </a:solidFill>
                <a:latin typeface="Open Sauce"/>
                <a:ea typeface="Open Sauce"/>
                <a:cs typeface="Open Sauce"/>
                <a:sym typeface="Open Sauce"/>
              </a:rPr>
              <a:t>ackend using Node.js to handle automated scheduling and real-time data processing.</a:t>
            </a:r>
          </a:p>
          <a:p>
            <a:pPr algn="l">
              <a:lnSpc>
                <a:spcPts val="2477"/>
              </a:lnSpc>
            </a:pPr>
          </a:p>
          <a:p>
            <a:pPr algn="l" marL="453390" indent="-226695" lvl="1">
              <a:lnSpc>
                <a:spcPts val="2477"/>
              </a:lnSpc>
              <a:buFont typeface="Arial"/>
              <a:buChar char="•"/>
            </a:pPr>
            <a:r>
              <a:rPr lang="en-US" sz="2100" spc="31">
                <a:solidFill>
                  <a:srgbClr val="331B0D"/>
                </a:solidFill>
                <a:latin typeface="Open Sauce"/>
                <a:ea typeface="Open Sauce"/>
                <a:cs typeface="Open Sauce"/>
                <a:sym typeface="Open Sauce"/>
              </a:rPr>
              <a:t>Integrate Machine Learning models to analyze student performance trends and provide actionable alerts for faculty.</a:t>
            </a:r>
          </a:p>
          <a:p>
            <a:pPr algn="l">
              <a:lnSpc>
                <a:spcPts val="2477"/>
              </a:lnSpc>
            </a:pPr>
          </a:p>
          <a:p>
            <a:pPr algn="l" marL="453390" indent="-226695" lvl="1">
              <a:lnSpc>
                <a:spcPts val="2477"/>
              </a:lnSpc>
              <a:buFont typeface="Arial"/>
              <a:buChar char="•"/>
            </a:pPr>
            <a:r>
              <a:rPr lang="en-US" sz="2100" spc="31">
                <a:solidFill>
                  <a:srgbClr val="331B0D"/>
                </a:solidFill>
                <a:latin typeface="Open Sauce"/>
                <a:ea typeface="Open Sauce"/>
                <a:cs typeface="Open Sauce"/>
                <a:sym typeface="Open Sauce"/>
              </a:rPr>
              <a:t>Design a modern, responsive UI with React and Tailwind CSS that ensures accessibility for students and administrators on any device.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Problem Defination</a:t>
            </a:r>
          </a:p>
        </p:txBody>
      </p:sp>
      <p:sp>
        <p:nvSpPr>
          <p:cNvPr name="TextBox 3" id="3"/>
          <p:cNvSpPr txBox="true"/>
          <p:nvPr/>
        </p:nvSpPr>
        <p:spPr>
          <a:xfrm rot="0">
            <a:off x="1028700" y="3113723"/>
            <a:ext cx="8115300" cy="6493510"/>
          </a:xfrm>
          <a:prstGeom prst="rect">
            <a:avLst/>
          </a:prstGeom>
        </p:spPr>
        <p:txBody>
          <a:bodyPr anchor="t" rtlCol="false" tIns="0" lIns="0" bIns="0" rIns="0">
            <a:spAutoFit/>
          </a:bodyPr>
          <a:lstStyle/>
          <a:p>
            <a:pPr algn="l" marL="496571" indent="-248285" lvl="1">
              <a:lnSpc>
                <a:spcPts val="3680"/>
              </a:lnSpc>
              <a:buFont typeface="Arial"/>
              <a:buChar char="•"/>
            </a:pPr>
            <a:r>
              <a:rPr lang="en-US" sz="2300">
                <a:solidFill>
                  <a:srgbClr val="331B0D"/>
                </a:solidFill>
                <a:latin typeface="Open Sauce"/>
                <a:ea typeface="Open Sauce"/>
                <a:cs typeface="Open Sauce"/>
                <a:sym typeface="Open Sauce"/>
              </a:rPr>
              <a:t>Most</a:t>
            </a:r>
            <a:r>
              <a:rPr lang="en-US" sz="2300">
                <a:solidFill>
                  <a:srgbClr val="331B0D"/>
                </a:solidFill>
                <a:latin typeface="Open Sauce"/>
                <a:ea typeface="Open Sauce"/>
                <a:cs typeface="Open Sauce"/>
                <a:sym typeface="Open Sauce"/>
              </a:rPr>
              <a:t> academic management systems only store data like attendance and marks and do not provide meaningful insights.</a:t>
            </a:r>
          </a:p>
          <a:p>
            <a:pPr algn="l" marL="496571" indent="-248285" lvl="1">
              <a:lnSpc>
                <a:spcPts val="3680"/>
              </a:lnSpc>
              <a:buFont typeface="Arial"/>
              <a:buChar char="•"/>
            </a:pPr>
            <a:r>
              <a:rPr lang="en-US" sz="2300">
                <a:solidFill>
                  <a:srgbClr val="331B0D"/>
                </a:solidFill>
                <a:latin typeface="Open Sauce"/>
                <a:ea typeface="Open Sauce"/>
                <a:cs typeface="Open Sauce"/>
                <a:sym typeface="Open Sauce"/>
              </a:rPr>
              <a:t>Academic processes are often manual, time-consuming, and unable to identify students who need early support. </a:t>
            </a:r>
          </a:p>
          <a:p>
            <a:pPr algn="l" marL="496571" indent="-248285" lvl="1">
              <a:lnSpc>
                <a:spcPts val="3680"/>
              </a:lnSpc>
              <a:buFont typeface="Arial"/>
              <a:buChar char="•"/>
            </a:pPr>
            <a:r>
              <a:rPr lang="en-US" sz="2300">
                <a:solidFill>
                  <a:srgbClr val="331B0D"/>
                </a:solidFill>
                <a:latin typeface="Open Sauce"/>
                <a:ea typeface="Open Sauce"/>
                <a:cs typeface="Open Sauce"/>
                <a:sym typeface="Open Sauce"/>
              </a:rPr>
              <a:t>There is no intelligent system to analyze academic data, predict student performance, or assist faculty in decision-making.</a:t>
            </a:r>
          </a:p>
          <a:p>
            <a:pPr algn="l" marL="496571" indent="-248285" lvl="1">
              <a:lnSpc>
                <a:spcPts val="3680"/>
              </a:lnSpc>
              <a:buFont typeface="Arial"/>
              <a:buChar char="•"/>
            </a:pPr>
            <a:r>
              <a:rPr lang="en-US" sz="2300">
                <a:solidFill>
                  <a:srgbClr val="331B0D"/>
                </a:solidFill>
                <a:latin typeface="Open Sauce"/>
                <a:ea typeface="Open Sauce"/>
                <a:cs typeface="Open Sauce"/>
                <a:sym typeface="Open Sauce"/>
              </a:rPr>
              <a:t>The AI-Assisted Academic Management System (AIAAMS) is designed to overcome these issues by automating academic tasks and using AI to analyze data, predict outcomes, and improve overall academic management.</a:t>
            </a:r>
          </a:p>
        </p:txBody>
      </p:sp>
      <p:sp>
        <p:nvSpPr>
          <p:cNvPr name="Freeform 4" id="4"/>
          <p:cNvSpPr/>
          <p:nvPr/>
        </p:nvSpPr>
        <p:spPr>
          <a:xfrm flipH="false" flipV="false" rot="0">
            <a:off x="9723556" y="0"/>
            <a:ext cx="8564444" cy="10287000"/>
          </a:xfrm>
          <a:custGeom>
            <a:avLst/>
            <a:gdLst/>
            <a:ahLst/>
            <a:cxnLst/>
            <a:rect r="r" b="b" t="t" l="l"/>
            <a:pathLst>
              <a:path h="10287000" w="8564444">
                <a:moveTo>
                  <a:pt x="0" y="0"/>
                </a:moveTo>
                <a:lnTo>
                  <a:pt x="8564444" y="0"/>
                </a:lnTo>
                <a:lnTo>
                  <a:pt x="8564444" y="10287000"/>
                </a:lnTo>
                <a:lnTo>
                  <a:pt x="0" y="10287000"/>
                </a:lnTo>
                <a:lnTo>
                  <a:pt x="0" y="0"/>
                </a:lnTo>
                <a:close/>
              </a:path>
            </a:pathLst>
          </a:custGeom>
          <a:blipFill>
            <a:blip r:embed="rId2"/>
            <a:stretch>
              <a:fillRect l="-39419" t="0" r="-102013"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6" id="6"/>
          <p:cNvSpPr txBox="true"/>
          <p:nvPr/>
        </p:nvSpPr>
        <p:spPr>
          <a:xfrm rot="0">
            <a:off x="1028700" y="1057275"/>
            <a:ext cx="3065119"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Problem  DEFINITION </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76250"/>
            <a:ext cx="18288000" cy="7614470"/>
            <a:chOff x="0" y="0"/>
            <a:chExt cx="1811948" cy="754430"/>
          </a:xfrm>
        </p:grpSpPr>
        <p:sp>
          <p:nvSpPr>
            <p:cNvPr name="Freeform 3" id="3"/>
            <p:cNvSpPr/>
            <p:nvPr/>
          </p:nvSpPr>
          <p:spPr>
            <a:xfrm flipH="false" flipV="false" rot="0">
              <a:off x="0" y="0"/>
              <a:ext cx="1811948" cy="754430"/>
            </a:xfrm>
            <a:custGeom>
              <a:avLst/>
              <a:gdLst/>
              <a:ahLst/>
              <a:cxnLst/>
              <a:rect r="r" b="b" t="t" l="l"/>
              <a:pathLst>
                <a:path h="754430" w="1811948">
                  <a:moveTo>
                    <a:pt x="1811948" y="0"/>
                  </a:moveTo>
                  <a:lnTo>
                    <a:pt x="1811948" y="640130"/>
                  </a:lnTo>
                  <a:lnTo>
                    <a:pt x="905974" y="754430"/>
                  </a:lnTo>
                  <a:lnTo>
                    <a:pt x="0" y="640130"/>
                  </a:lnTo>
                  <a:lnTo>
                    <a:pt x="0" y="0"/>
                  </a:lnTo>
                  <a:lnTo>
                    <a:pt x="1811948" y="0"/>
                  </a:lnTo>
                  <a:close/>
                </a:path>
              </a:pathLst>
            </a:custGeom>
            <a:solidFill>
              <a:srgbClr val="FADECD"/>
            </a:solidFill>
          </p:spPr>
        </p:sp>
        <p:sp>
          <p:nvSpPr>
            <p:cNvPr name="TextBox 4" id="4"/>
            <p:cNvSpPr txBox="true"/>
            <p:nvPr/>
          </p:nvSpPr>
          <p:spPr>
            <a:xfrm>
              <a:off x="0" y="-47625"/>
              <a:ext cx="1811948" cy="68775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Found</a:t>
            </a:r>
          </a:p>
        </p:txBody>
      </p:sp>
      <p:sp>
        <p:nvSpPr>
          <p:cNvPr name="TextBox 6" id="6"/>
          <p:cNvSpPr txBox="true"/>
          <p:nvPr/>
        </p:nvSpPr>
        <p:spPr>
          <a:xfrm rot="0">
            <a:off x="224572" y="3823435"/>
            <a:ext cx="5397277" cy="1663065"/>
          </a:xfrm>
          <a:prstGeom prst="rect">
            <a:avLst/>
          </a:prstGeom>
        </p:spPr>
        <p:txBody>
          <a:bodyPr anchor="t" rtlCol="false" tIns="0" lIns="0" bIns="0" rIns="0">
            <a:spAutoFit/>
          </a:bodyPr>
          <a:lstStyle/>
          <a:p>
            <a:pPr algn="ctr">
              <a:lnSpc>
                <a:spcPts val="3359"/>
              </a:lnSpc>
              <a:spcBef>
                <a:spcPct val="0"/>
              </a:spcBef>
            </a:pPr>
            <a:r>
              <a:rPr lang="en-US" sz="2399">
                <a:solidFill>
                  <a:srgbClr val="331B0D"/>
                </a:solidFill>
                <a:latin typeface="Open Sauce"/>
                <a:ea typeface="Open Sauce"/>
                <a:cs typeface="Open Sauce"/>
                <a:sym typeface="Open Sauce"/>
              </a:rPr>
              <a:t>Faculty rely heavily</a:t>
            </a:r>
            <a:r>
              <a:rPr lang="en-US" sz="2399">
                <a:solidFill>
                  <a:srgbClr val="331B0D"/>
                </a:solidFill>
                <a:latin typeface="Open Sauce"/>
                <a:ea typeface="Open Sauce"/>
                <a:cs typeface="Open Sauce"/>
                <a:sym typeface="Open Sauce"/>
              </a:rPr>
              <a:t> on spreadsheets and paper records, creating data silos where attendance and grades are never analyzed together</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8" id="8"/>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Existing System</a:t>
            </a:r>
          </a:p>
        </p:txBody>
      </p:sp>
      <p:sp>
        <p:nvSpPr>
          <p:cNvPr name="TextBox 9" id="9"/>
          <p:cNvSpPr txBox="true"/>
          <p:nvPr/>
        </p:nvSpPr>
        <p:spPr>
          <a:xfrm rot="0">
            <a:off x="6361382" y="3823435"/>
            <a:ext cx="5373129" cy="1589405"/>
          </a:xfrm>
          <a:prstGeom prst="rect">
            <a:avLst/>
          </a:prstGeom>
        </p:spPr>
        <p:txBody>
          <a:bodyPr anchor="t" rtlCol="false" tIns="0" lIns="0" bIns="0" rIns="0">
            <a:spAutoFit/>
          </a:bodyPr>
          <a:lstStyle/>
          <a:p>
            <a:pPr algn="ctr">
              <a:lnSpc>
                <a:spcPts val="3219"/>
              </a:lnSpc>
              <a:spcBef>
                <a:spcPct val="0"/>
              </a:spcBef>
            </a:pPr>
            <a:r>
              <a:rPr lang="en-US" sz="2299">
                <a:solidFill>
                  <a:srgbClr val="331B0D"/>
                </a:solidFill>
                <a:latin typeface="Open Sauce"/>
                <a:ea typeface="Open Sauce"/>
                <a:cs typeface="Open Sauce"/>
                <a:sym typeface="Open Sauce"/>
              </a:rPr>
              <a:t>Curre</a:t>
            </a:r>
            <a:r>
              <a:rPr lang="en-US" sz="2299">
                <a:solidFill>
                  <a:srgbClr val="331B0D"/>
                </a:solidFill>
                <a:latin typeface="Open Sauce"/>
                <a:ea typeface="Open Sauce"/>
                <a:cs typeface="Open Sauce"/>
                <a:sym typeface="Open Sauce"/>
              </a:rPr>
              <a:t>nt systems are merely 'record-keepers.' They notice a student is failing only after the exams, rather than predicting risks early</a:t>
            </a:r>
          </a:p>
        </p:txBody>
      </p:sp>
      <p:sp>
        <p:nvSpPr>
          <p:cNvPr name="TextBox 10" id="10"/>
          <p:cNvSpPr txBox="true"/>
          <p:nvPr/>
        </p:nvSpPr>
        <p:spPr>
          <a:xfrm rot="0">
            <a:off x="12474043" y="3823435"/>
            <a:ext cx="5589384" cy="1663065"/>
          </a:xfrm>
          <a:prstGeom prst="rect">
            <a:avLst/>
          </a:prstGeom>
        </p:spPr>
        <p:txBody>
          <a:bodyPr anchor="t" rtlCol="false" tIns="0" lIns="0" bIns="0" rIns="0">
            <a:spAutoFit/>
          </a:bodyPr>
          <a:lstStyle/>
          <a:p>
            <a:pPr algn="ctr">
              <a:lnSpc>
                <a:spcPts val="3359"/>
              </a:lnSpc>
              <a:spcBef>
                <a:spcPct val="0"/>
              </a:spcBef>
            </a:pPr>
            <a:r>
              <a:rPr lang="en-US" sz="2399">
                <a:solidFill>
                  <a:srgbClr val="331B0D"/>
                </a:solidFill>
                <a:latin typeface="Open Sauce"/>
                <a:ea typeface="Open Sauce"/>
                <a:cs typeface="Open Sauce"/>
                <a:sym typeface="Open Sauce"/>
              </a:rPr>
              <a:t>Cri</a:t>
            </a:r>
            <a:r>
              <a:rPr lang="en-US" sz="2399">
                <a:solidFill>
                  <a:srgbClr val="331B0D"/>
                </a:solidFill>
                <a:latin typeface="Open Sauce"/>
                <a:ea typeface="Open Sauce"/>
                <a:cs typeface="Open Sauce"/>
                <a:sym typeface="Open Sauce"/>
              </a:rPr>
              <a:t>tical updates are scattered across WhatsApp groups, emails, and physical notice boards, leading to students missing important deadlines</a:t>
            </a:r>
          </a:p>
        </p:txBody>
      </p:sp>
      <p:sp>
        <p:nvSpPr>
          <p:cNvPr name="TextBox 11" id="11"/>
          <p:cNvSpPr txBox="true"/>
          <p:nvPr/>
        </p:nvSpPr>
        <p:spPr>
          <a:xfrm rot="0">
            <a:off x="7708748" y="7658100"/>
            <a:ext cx="2870504" cy="405765"/>
          </a:xfrm>
          <a:prstGeom prst="rect">
            <a:avLst/>
          </a:prstGeom>
        </p:spPr>
        <p:txBody>
          <a:bodyPr anchor="t" rtlCol="false" tIns="0" lIns="0" bIns="0" rIns="0">
            <a:spAutoFit/>
          </a:bodyPr>
          <a:lstStyle/>
          <a:p>
            <a:pPr algn="ctr">
              <a:lnSpc>
                <a:spcPts val="3359"/>
              </a:lnSpc>
              <a:spcBef>
                <a:spcPct val="0"/>
              </a:spcBef>
            </a:pPr>
            <a:r>
              <a:rPr lang="en-US" sz="2400" i="true">
                <a:solidFill>
                  <a:srgbClr val="8C7753"/>
                </a:solidFill>
                <a:latin typeface="Open Sauce Italics"/>
                <a:ea typeface="Open Sauce Italics"/>
                <a:cs typeface="Open Sauce Italics"/>
                <a:sym typeface="Open Sauce Italics"/>
              </a:rPr>
              <a:t>Key Insight</a:t>
            </a:r>
          </a:p>
        </p:txBody>
      </p:sp>
      <p:sp>
        <p:nvSpPr>
          <p:cNvPr name="TextBox 12" id="12"/>
          <p:cNvSpPr txBox="true"/>
          <p:nvPr/>
        </p:nvSpPr>
        <p:spPr>
          <a:xfrm rot="0">
            <a:off x="4026809" y="8416290"/>
            <a:ext cx="10234383" cy="365760"/>
          </a:xfrm>
          <a:prstGeom prst="rect">
            <a:avLst/>
          </a:prstGeom>
        </p:spPr>
        <p:txBody>
          <a:bodyPr anchor="t" rtlCol="false" tIns="0" lIns="0" bIns="0" rIns="0">
            <a:spAutoFit/>
          </a:bodyPr>
          <a:lstStyle/>
          <a:p>
            <a:pPr algn="ctr">
              <a:lnSpc>
                <a:spcPts val="2940"/>
              </a:lnSpc>
              <a:spcBef>
                <a:spcPct val="0"/>
              </a:spcBef>
            </a:pPr>
            <a:r>
              <a:rPr lang="en-US" sz="2100" i="true">
                <a:solidFill>
                  <a:srgbClr val="331B0D"/>
                </a:solidFill>
                <a:latin typeface="Open Sauce Italics"/>
                <a:ea typeface="Open Sauce Italics"/>
                <a:cs typeface="Open Sauce Italics"/>
                <a:sym typeface="Open Sauce Italics"/>
              </a:rPr>
              <a:t>S</a:t>
            </a:r>
            <a:r>
              <a:rPr lang="en-US" sz="2100" i="true">
                <a:solidFill>
                  <a:srgbClr val="331B0D"/>
                </a:solidFill>
                <a:latin typeface="Open Sauce Italics"/>
                <a:ea typeface="Open Sauce Italics"/>
                <a:cs typeface="Open Sauce Italics"/>
                <a:sym typeface="Open Sauce Italics"/>
              </a:rPr>
              <a:t>tudents don’t lack tools — they lack tools that work the way they think.</a:t>
            </a:r>
          </a:p>
        </p:txBody>
      </p:sp>
      <p:sp>
        <p:nvSpPr>
          <p:cNvPr name="TextBox 13" id="13"/>
          <p:cNvSpPr txBox="true"/>
          <p:nvPr/>
        </p:nvSpPr>
        <p:spPr>
          <a:xfrm rot="0">
            <a:off x="1487959" y="2984057"/>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1</a:t>
            </a:r>
          </a:p>
        </p:txBody>
      </p:sp>
      <p:sp>
        <p:nvSpPr>
          <p:cNvPr name="TextBox 14" id="14"/>
          <p:cNvSpPr txBox="true"/>
          <p:nvPr/>
        </p:nvSpPr>
        <p:spPr>
          <a:xfrm rot="0">
            <a:off x="7612695" y="2984057"/>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2</a:t>
            </a:r>
          </a:p>
        </p:txBody>
      </p:sp>
      <p:sp>
        <p:nvSpPr>
          <p:cNvPr name="TextBox 15" id="15"/>
          <p:cNvSpPr txBox="true"/>
          <p:nvPr/>
        </p:nvSpPr>
        <p:spPr>
          <a:xfrm rot="0">
            <a:off x="13833484" y="2984057"/>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3</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Functional Requirements </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FUNCTIonal REQUIREMENTS </a:t>
            </a:r>
          </a:p>
        </p:txBody>
      </p:sp>
      <p:grpSp>
        <p:nvGrpSpPr>
          <p:cNvPr name="Group 5" id="5"/>
          <p:cNvGrpSpPr/>
          <p:nvPr/>
        </p:nvGrpSpPr>
        <p:grpSpPr>
          <a:xfrm rot="0">
            <a:off x="0" y="3600450"/>
            <a:ext cx="6817607" cy="1543050"/>
            <a:chOff x="0" y="0"/>
            <a:chExt cx="1795584" cy="406400"/>
          </a:xfrm>
        </p:grpSpPr>
        <p:sp>
          <p:nvSpPr>
            <p:cNvPr name="Freeform 6" id="6"/>
            <p:cNvSpPr/>
            <p:nvPr/>
          </p:nvSpPr>
          <p:spPr>
            <a:xfrm flipH="false" flipV="false" rot="0">
              <a:off x="0" y="0"/>
              <a:ext cx="1795584" cy="406400"/>
            </a:xfrm>
            <a:custGeom>
              <a:avLst/>
              <a:gdLst/>
              <a:ahLst/>
              <a:cxnLst/>
              <a:rect r="r" b="b" t="t" l="l"/>
              <a:pathLst>
                <a:path h="406400" w="1795584">
                  <a:moveTo>
                    <a:pt x="1592384" y="0"/>
                  </a:moveTo>
                  <a:lnTo>
                    <a:pt x="0" y="0"/>
                  </a:lnTo>
                  <a:lnTo>
                    <a:pt x="0" y="406400"/>
                  </a:lnTo>
                  <a:lnTo>
                    <a:pt x="1592384" y="406400"/>
                  </a:lnTo>
                  <a:lnTo>
                    <a:pt x="1795584" y="203200"/>
                  </a:lnTo>
                  <a:lnTo>
                    <a:pt x="1592384" y="0"/>
                  </a:lnTo>
                  <a:close/>
                </a:path>
              </a:pathLst>
            </a:custGeom>
            <a:solidFill>
              <a:srgbClr val="8C7753"/>
            </a:solidFill>
          </p:spPr>
        </p:sp>
        <p:sp>
          <p:nvSpPr>
            <p:cNvPr name="TextBox 7" id="7"/>
            <p:cNvSpPr txBox="true"/>
            <p:nvPr/>
          </p:nvSpPr>
          <p:spPr>
            <a:xfrm>
              <a:off x="0" y="-47625"/>
              <a:ext cx="1681284" cy="454025"/>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6074871" y="3600450"/>
            <a:ext cx="3811973" cy="1543050"/>
            <a:chOff x="0" y="0"/>
            <a:chExt cx="1003976" cy="406400"/>
          </a:xfrm>
        </p:grpSpPr>
        <p:sp>
          <p:nvSpPr>
            <p:cNvPr name="Freeform 9" id="9"/>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80000"/>
              </a:srgbClr>
            </a:solidFill>
          </p:spPr>
        </p:sp>
        <p:sp>
          <p:nvSpPr>
            <p:cNvPr name="TextBox 10" id="10"/>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9144107" y="3600450"/>
            <a:ext cx="3811973" cy="1543050"/>
            <a:chOff x="0" y="0"/>
            <a:chExt cx="1003976" cy="406400"/>
          </a:xfrm>
        </p:grpSpPr>
        <p:sp>
          <p:nvSpPr>
            <p:cNvPr name="Freeform 12" id="12"/>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60000"/>
              </a:srgbClr>
            </a:solidFill>
          </p:spPr>
        </p:sp>
        <p:sp>
          <p:nvSpPr>
            <p:cNvPr name="TextBox 13" id="13"/>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2213343" y="3600450"/>
            <a:ext cx="7311622" cy="1543050"/>
            <a:chOff x="0" y="0"/>
            <a:chExt cx="1925695" cy="406400"/>
          </a:xfrm>
        </p:grpSpPr>
        <p:sp>
          <p:nvSpPr>
            <p:cNvPr name="Freeform 15" id="15"/>
            <p:cNvSpPr/>
            <p:nvPr/>
          </p:nvSpPr>
          <p:spPr>
            <a:xfrm flipH="false" flipV="false" rot="0">
              <a:off x="0" y="0"/>
              <a:ext cx="1925695" cy="406400"/>
            </a:xfrm>
            <a:custGeom>
              <a:avLst/>
              <a:gdLst/>
              <a:ahLst/>
              <a:cxnLst/>
              <a:rect r="r" b="b" t="t" l="l"/>
              <a:pathLst>
                <a:path h="406400" w="1925695">
                  <a:moveTo>
                    <a:pt x="0" y="0"/>
                  </a:moveTo>
                  <a:lnTo>
                    <a:pt x="1722495" y="0"/>
                  </a:lnTo>
                  <a:lnTo>
                    <a:pt x="1925695" y="203200"/>
                  </a:lnTo>
                  <a:lnTo>
                    <a:pt x="1722495" y="406400"/>
                  </a:lnTo>
                  <a:lnTo>
                    <a:pt x="0" y="406400"/>
                  </a:lnTo>
                  <a:lnTo>
                    <a:pt x="203200" y="203200"/>
                  </a:lnTo>
                  <a:lnTo>
                    <a:pt x="0" y="0"/>
                  </a:lnTo>
                  <a:close/>
                </a:path>
              </a:pathLst>
            </a:custGeom>
            <a:solidFill>
              <a:srgbClr val="8C7753">
                <a:alpha val="40000"/>
              </a:srgbClr>
            </a:solidFill>
          </p:spPr>
        </p:sp>
        <p:sp>
          <p:nvSpPr>
            <p:cNvPr name="TextBox 16" id="16"/>
            <p:cNvSpPr txBox="true"/>
            <p:nvPr/>
          </p:nvSpPr>
          <p:spPr>
            <a:xfrm>
              <a:off x="177800" y="-47625"/>
              <a:ext cx="1671695" cy="454025"/>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3506547" y="4149094"/>
            <a:ext cx="2810148"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Core Automation</a:t>
            </a:r>
          </a:p>
        </p:txBody>
      </p:sp>
      <p:sp>
        <p:nvSpPr>
          <p:cNvPr name="TextBox 18" id="18"/>
          <p:cNvSpPr txBox="true"/>
          <p:nvPr/>
        </p:nvSpPr>
        <p:spPr>
          <a:xfrm rot="0">
            <a:off x="7340385"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Predictive</a:t>
            </a:r>
            <a:r>
              <a:rPr lang="en-US" sz="2100">
                <a:solidFill>
                  <a:srgbClr val="FFFFFF"/>
                </a:solidFill>
                <a:latin typeface="Open Sauce"/>
                <a:ea typeface="Open Sauce"/>
                <a:cs typeface="Open Sauce"/>
                <a:sym typeface="Open Sauce"/>
              </a:rPr>
              <a:t> Intelligence</a:t>
            </a:r>
          </a:p>
        </p:txBody>
      </p:sp>
      <p:sp>
        <p:nvSpPr>
          <p:cNvPr name="TextBox 19" id="19"/>
          <p:cNvSpPr txBox="true"/>
          <p:nvPr/>
        </p:nvSpPr>
        <p:spPr>
          <a:xfrm rot="0">
            <a:off x="10404519"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Unified</a:t>
            </a:r>
            <a:r>
              <a:rPr lang="en-US" sz="2100">
                <a:solidFill>
                  <a:srgbClr val="FFFFFF"/>
                </a:solidFill>
                <a:latin typeface="Open Sauce"/>
                <a:ea typeface="Open Sauce"/>
                <a:cs typeface="Open Sauce"/>
                <a:sym typeface="Open Sauce"/>
              </a:rPr>
              <a:t> Access</a:t>
            </a:r>
          </a:p>
        </p:txBody>
      </p:sp>
      <p:sp>
        <p:nvSpPr>
          <p:cNvPr name="TextBox 20" id="20"/>
          <p:cNvSpPr txBox="true"/>
          <p:nvPr/>
        </p:nvSpPr>
        <p:spPr>
          <a:xfrm rot="0">
            <a:off x="13473755" y="3963357"/>
            <a:ext cx="1828401" cy="73723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Smart</a:t>
            </a:r>
            <a:r>
              <a:rPr lang="en-US" sz="2100">
                <a:solidFill>
                  <a:srgbClr val="331B0D"/>
                </a:solidFill>
                <a:latin typeface="Open Sauce"/>
                <a:ea typeface="Open Sauce"/>
                <a:cs typeface="Open Sauce"/>
                <a:sym typeface="Open Sauce"/>
              </a:rPr>
              <a:t> Connectivity</a:t>
            </a:r>
          </a:p>
        </p:txBody>
      </p:sp>
      <p:sp>
        <p:nvSpPr>
          <p:cNvPr name="TextBox 21" id="21"/>
          <p:cNvSpPr txBox="true"/>
          <p:nvPr/>
        </p:nvSpPr>
        <p:spPr>
          <a:xfrm rot="0">
            <a:off x="941492" y="5969723"/>
            <a:ext cx="4355740"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R</a:t>
            </a:r>
            <a:r>
              <a:rPr lang="en-US" sz="2299">
                <a:solidFill>
                  <a:srgbClr val="331B0D"/>
                </a:solidFill>
                <a:latin typeface="Open Sauce"/>
                <a:ea typeface="Open Sauce"/>
                <a:cs typeface="Open Sauce"/>
                <a:sym typeface="Open Sauce"/>
              </a:rPr>
              <a:t>eplaces manual paperwork by automatically handling attendance tracking, grading, and timetable scheduling.</a:t>
            </a:r>
          </a:p>
        </p:txBody>
      </p:sp>
      <p:sp>
        <p:nvSpPr>
          <p:cNvPr name="TextBox 22" id="22"/>
          <p:cNvSpPr txBox="true"/>
          <p:nvPr/>
        </p:nvSpPr>
        <p:spPr>
          <a:xfrm rot="0">
            <a:off x="5434644" y="5969723"/>
            <a:ext cx="3811482"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Moves beyond simple data storage</a:t>
            </a:r>
            <a:r>
              <a:rPr lang="en-US" sz="2299">
                <a:solidFill>
                  <a:srgbClr val="331B0D"/>
                </a:solidFill>
                <a:latin typeface="Open Sauce"/>
                <a:ea typeface="Open Sauce"/>
                <a:cs typeface="Open Sauce"/>
                <a:sym typeface="Open Sauce"/>
              </a:rPr>
              <a:t> by using AI to analyze patterns and predict student performance risks early.</a:t>
            </a:r>
          </a:p>
        </p:txBody>
      </p:sp>
      <p:sp>
        <p:nvSpPr>
          <p:cNvPr name="AutoShape 23" id="23"/>
          <p:cNvSpPr/>
          <p:nvPr/>
        </p:nvSpPr>
        <p:spPr>
          <a:xfrm>
            <a:off x="4141460" y="5143500"/>
            <a:ext cx="0" cy="861252"/>
          </a:xfrm>
          <a:prstGeom prst="line">
            <a:avLst/>
          </a:prstGeom>
          <a:ln cap="flat" w="38100">
            <a:solidFill>
              <a:srgbClr val="8C7753"/>
            </a:solidFill>
            <a:prstDash val="solid"/>
            <a:headEnd type="none" len="sm" w="sm"/>
            <a:tailEnd type="arrow" len="sm" w="med"/>
          </a:ln>
        </p:spPr>
      </p:sp>
      <p:sp>
        <p:nvSpPr>
          <p:cNvPr name="AutoShape 24" id="24"/>
          <p:cNvSpPr/>
          <p:nvPr/>
        </p:nvSpPr>
        <p:spPr>
          <a:xfrm>
            <a:off x="7961807" y="5143500"/>
            <a:ext cx="0" cy="861252"/>
          </a:xfrm>
          <a:prstGeom prst="line">
            <a:avLst/>
          </a:prstGeom>
          <a:ln cap="flat" w="38100">
            <a:solidFill>
              <a:srgbClr val="8C7753">
                <a:alpha val="69804"/>
              </a:srgbClr>
            </a:solidFill>
            <a:prstDash val="solid"/>
            <a:headEnd type="none" len="sm" w="sm"/>
            <a:tailEnd type="arrow" len="sm" w="med"/>
          </a:ln>
        </p:spPr>
      </p:sp>
      <p:sp>
        <p:nvSpPr>
          <p:cNvPr name="AutoShape 25" id="25"/>
          <p:cNvSpPr/>
          <p:nvPr/>
        </p:nvSpPr>
        <p:spPr>
          <a:xfrm>
            <a:off x="16055291" y="5143500"/>
            <a:ext cx="0" cy="861252"/>
          </a:xfrm>
          <a:prstGeom prst="line">
            <a:avLst/>
          </a:prstGeom>
          <a:ln cap="flat" w="38100">
            <a:solidFill>
              <a:srgbClr val="8C7753">
                <a:alpha val="40000"/>
              </a:srgbClr>
            </a:solidFill>
            <a:prstDash val="solid"/>
            <a:headEnd type="none" len="sm" w="sm"/>
            <a:tailEnd type="arrow" len="sm" w="med"/>
          </a:ln>
        </p:spPr>
      </p:sp>
      <p:sp>
        <p:nvSpPr>
          <p:cNvPr name="AutoShape 26" id="26"/>
          <p:cNvSpPr/>
          <p:nvPr/>
        </p:nvSpPr>
        <p:spPr>
          <a:xfrm>
            <a:off x="12007166" y="5143500"/>
            <a:ext cx="0" cy="861252"/>
          </a:xfrm>
          <a:prstGeom prst="line">
            <a:avLst/>
          </a:prstGeom>
          <a:ln cap="flat" w="38100">
            <a:solidFill>
              <a:srgbClr val="8C7753">
                <a:alpha val="69804"/>
              </a:srgbClr>
            </a:solidFill>
            <a:prstDash val="solid"/>
            <a:headEnd type="none" len="sm" w="sm"/>
            <a:tailEnd type="arrow" len="sm" w="med"/>
          </a:ln>
        </p:spPr>
      </p:sp>
      <p:sp>
        <p:nvSpPr>
          <p:cNvPr name="TextBox 27" id="27"/>
          <p:cNvSpPr txBox="true"/>
          <p:nvPr/>
        </p:nvSpPr>
        <p:spPr>
          <a:xfrm rot="0">
            <a:off x="10091644" y="5957127"/>
            <a:ext cx="3600043" cy="278955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Removes confusion by providing a single, clean dashboard</a:t>
            </a:r>
            <a:r>
              <a:rPr lang="en-US" sz="2299">
                <a:solidFill>
                  <a:srgbClr val="331B0D"/>
                </a:solidFill>
                <a:latin typeface="Open Sauce"/>
                <a:ea typeface="Open Sauce"/>
                <a:cs typeface="Open Sauce"/>
                <a:sym typeface="Open Sauce"/>
              </a:rPr>
              <a:t> where Admins, Faculty, and Students see only what they need.</a:t>
            </a:r>
          </a:p>
        </p:txBody>
      </p:sp>
      <p:sp>
        <p:nvSpPr>
          <p:cNvPr name="TextBox 28" id="28"/>
          <p:cNvSpPr txBox="true"/>
          <p:nvPr/>
        </p:nvSpPr>
        <p:spPr>
          <a:xfrm rot="0">
            <a:off x="14387955" y="5969723"/>
            <a:ext cx="3600043"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Keeps everyone in the loop with instant, real-time alerts for exam schedules,</a:t>
            </a:r>
            <a:r>
              <a:rPr lang="en-US" sz="2299">
                <a:solidFill>
                  <a:srgbClr val="331B0D"/>
                </a:solidFill>
                <a:latin typeface="Open Sauce"/>
                <a:ea typeface="Open Sauce"/>
                <a:cs typeface="Open Sauce"/>
                <a:sym typeface="Open Sauce"/>
              </a:rPr>
              <a:t> fee reminders, and syllabus updates.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Non-Functional Requirenments</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Non-functional REQUIREMENTS </a:t>
            </a:r>
          </a:p>
        </p:txBody>
      </p:sp>
      <p:sp>
        <p:nvSpPr>
          <p:cNvPr name="TextBox 5" id="5"/>
          <p:cNvSpPr txBox="true"/>
          <p:nvPr/>
        </p:nvSpPr>
        <p:spPr>
          <a:xfrm rot="0">
            <a:off x="1586451" y="3393315"/>
            <a:ext cx="2967865"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Scal</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bility</a:t>
            </a:r>
          </a:p>
        </p:txBody>
      </p:sp>
      <p:sp>
        <p:nvSpPr>
          <p:cNvPr name="TextBox 6" id="6"/>
          <p:cNvSpPr txBox="true"/>
          <p:nvPr/>
        </p:nvSpPr>
        <p:spPr>
          <a:xfrm rot="0">
            <a:off x="1586451" y="4122930"/>
            <a:ext cx="5903017" cy="1192020"/>
          </a:xfrm>
          <a:prstGeom prst="rect">
            <a:avLst/>
          </a:prstGeom>
        </p:spPr>
        <p:txBody>
          <a:bodyPr anchor="t" rtlCol="false" tIns="0" lIns="0" bIns="0" rIns="0">
            <a:spAutoFit/>
          </a:bodyPr>
          <a:lstStyle/>
          <a:p>
            <a:pPr algn="l" marL="0" indent="0" lvl="0">
              <a:lnSpc>
                <a:spcPts val="3250"/>
              </a:lnSpc>
              <a:spcBef>
                <a:spcPct val="0"/>
              </a:spcBef>
            </a:pPr>
            <a:r>
              <a:rPr lang="en-US" sz="2321">
                <a:solidFill>
                  <a:srgbClr val="331B0D"/>
                </a:solidFill>
                <a:latin typeface="Open Sauce"/>
                <a:ea typeface="Open Sauce"/>
                <a:cs typeface="Open Sauce"/>
                <a:sym typeface="Open Sauce"/>
              </a:rPr>
              <a:t>Built to grow</a:t>
            </a:r>
            <a:r>
              <a:rPr lang="en-US" sz="2321" strike="noStrike" u="none">
                <a:solidFill>
                  <a:srgbClr val="331B0D"/>
                </a:solidFill>
                <a:latin typeface="Open Sauce"/>
                <a:ea typeface="Open Sauce"/>
                <a:cs typeface="Open Sauce"/>
                <a:sym typeface="Open Sauce"/>
              </a:rPr>
              <a:t> </a:t>
            </a:r>
            <a:r>
              <a:rPr lang="en-US" sz="2321" strike="noStrike" u="none">
                <a:solidFill>
                  <a:srgbClr val="331B0D"/>
                </a:solidFill>
                <a:latin typeface="Open Sauce"/>
                <a:ea typeface="Open Sauce"/>
                <a:cs typeface="Open Sauce"/>
                <a:sym typeface="Open Sauce"/>
              </a:rPr>
              <a:t>wi</a:t>
            </a:r>
            <a:r>
              <a:rPr lang="en-US" sz="2321" strike="noStrike" u="none">
                <a:solidFill>
                  <a:srgbClr val="331B0D"/>
                </a:solidFill>
                <a:latin typeface="Open Sauce"/>
                <a:ea typeface="Open Sauce"/>
                <a:cs typeface="Open Sauce"/>
                <a:sym typeface="Open Sauce"/>
              </a:rPr>
              <a:t>t</a:t>
            </a:r>
            <a:r>
              <a:rPr lang="en-US" sz="2321" strike="noStrike" u="none">
                <a:solidFill>
                  <a:srgbClr val="331B0D"/>
                </a:solidFill>
                <a:latin typeface="Open Sauce"/>
                <a:ea typeface="Open Sauce"/>
                <a:cs typeface="Open Sauce"/>
                <a:sym typeface="Open Sauce"/>
              </a:rPr>
              <a:t>h the c</a:t>
            </a:r>
            <a:r>
              <a:rPr lang="en-US" sz="2321" strike="noStrike" u="none">
                <a:solidFill>
                  <a:srgbClr val="331B0D"/>
                </a:solidFill>
                <a:latin typeface="Open Sauce"/>
                <a:ea typeface="Open Sauce"/>
                <a:cs typeface="Open Sauce"/>
                <a:sym typeface="Open Sauce"/>
              </a:rPr>
              <a:t>o</a:t>
            </a:r>
            <a:r>
              <a:rPr lang="en-US" sz="2321" strike="noStrike" u="none">
                <a:solidFill>
                  <a:srgbClr val="331B0D"/>
                </a:solidFill>
                <a:latin typeface="Open Sauce"/>
                <a:ea typeface="Open Sauce"/>
                <a:cs typeface="Open Sauce"/>
                <a:sym typeface="Open Sauce"/>
              </a:rPr>
              <a:t>llege—it can easily</a:t>
            </a:r>
            <a:r>
              <a:rPr lang="en-US" sz="2321" strike="noStrike" u="none">
                <a:solidFill>
                  <a:srgbClr val="331B0D"/>
                </a:solidFill>
                <a:latin typeface="Open Sauce"/>
                <a:ea typeface="Open Sauce"/>
                <a:cs typeface="Open Sauce"/>
                <a:sym typeface="Open Sauce"/>
              </a:rPr>
              <a:t> handle thousands of new students </a:t>
            </a:r>
            <a:r>
              <a:rPr lang="en-US" sz="2321" strike="noStrike" u="none">
                <a:solidFill>
                  <a:srgbClr val="331B0D"/>
                </a:solidFill>
                <a:latin typeface="Open Sauce"/>
                <a:ea typeface="Open Sauce"/>
                <a:cs typeface="Open Sauce"/>
                <a:sym typeface="Open Sauce"/>
              </a:rPr>
              <a:t>and r</a:t>
            </a:r>
            <a:r>
              <a:rPr lang="en-US" sz="2321" strike="noStrike" u="none">
                <a:solidFill>
                  <a:srgbClr val="331B0D"/>
                </a:solidFill>
                <a:latin typeface="Open Sauce"/>
                <a:ea typeface="Open Sauce"/>
                <a:cs typeface="Open Sauce"/>
                <a:sym typeface="Open Sauce"/>
              </a:rPr>
              <a:t>ecords </a:t>
            </a:r>
            <a:r>
              <a:rPr lang="en-US" sz="2321" strike="noStrike" u="none">
                <a:solidFill>
                  <a:srgbClr val="331B0D"/>
                </a:solidFill>
                <a:latin typeface="Open Sauce"/>
                <a:ea typeface="Open Sauce"/>
                <a:cs typeface="Open Sauce"/>
                <a:sym typeface="Open Sauce"/>
              </a:rPr>
              <a:t>w</a:t>
            </a:r>
            <a:r>
              <a:rPr lang="en-US" sz="2321" strike="noStrike" u="none">
                <a:solidFill>
                  <a:srgbClr val="331B0D"/>
                </a:solidFill>
                <a:latin typeface="Open Sauce"/>
                <a:ea typeface="Open Sauce"/>
                <a:cs typeface="Open Sauce"/>
                <a:sym typeface="Open Sauce"/>
              </a:rPr>
              <a:t>itho</a:t>
            </a:r>
            <a:r>
              <a:rPr lang="en-US" sz="2321" strike="noStrike" u="none">
                <a:solidFill>
                  <a:srgbClr val="331B0D"/>
                </a:solidFill>
                <a:latin typeface="Open Sauce"/>
                <a:ea typeface="Open Sauce"/>
                <a:cs typeface="Open Sauce"/>
                <a:sym typeface="Open Sauce"/>
              </a:rPr>
              <a:t>u</a:t>
            </a:r>
            <a:r>
              <a:rPr lang="en-US" sz="2321" strike="noStrike" u="none">
                <a:solidFill>
                  <a:srgbClr val="331B0D"/>
                </a:solidFill>
                <a:latin typeface="Open Sauce"/>
                <a:ea typeface="Open Sauce"/>
                <a:cs typeface="Open Sauce"/>
                <a:sym typeface="Open Sauce"/>
              </a:rPr>
              <a:t>t s</a:t>
            </a:r>
            <a:r>
              <a:rPr lang="en-US" sz="2321" strike="noStrike" u="none">
                <a:solidFill>
                  <a:srgbClr val="331B0D"/>
                </a:solidFill>
                <a:latin typeface="Open Sauce"/>
                <a:ea typeface="Open Sauce"/>
                <a:cs typeface="Open Sauce"/>
                <a:sym typeface="Open Sauce"/>
              </a:rPr>
              <a:t>low</a:t>
            </a:r>
            <a:r>
              <a:rPr lang="en-US" sz="2321" strike="noStrike" u="none">
                <a:solidFill>
                  <a:srgbClr val="331B0D"/>
                </a:solidFill>
                <a:latin typeface="Open Sauce"/>
                <a:ea typeface="Open Sauce"/>
                <a:cs typeface="Open Sauce"/>
                <a:sym typeface="Open Sauce"/>
              </a:rPr>
              <a:t>ing down.</a:t>
            </a:r>
          </a:p>
        </p:txBody>
      </p:sp>
      <p:sp>
        <p:nvSpPr>
          <p:cNvPr name="AutoShape 7" id="7"/>
          <p:cNvSpPr/>
          <p:nvPr/>
        </p:nvSpPr>
        <p:spPr>
          <a:xfrm>
            <a:off x="1028700" y="5715000"/>
            <a:ext cx="16230600" cy="0"/>
          </a:xfrm>
          <a:prstGeom prst="line">
            <a:avLst/>
          </a:prstGeom>
          <a:ln cap="flat" w="76200">
            <a:solidFill>
              <a:srgbClr val="8C7753"/>
            </a:solidFill>
            <a:prstDash val="solid"/>
            <a:headEnd type="none" len="sm" w="sm"/>
            <a:tailEnd type="arrow" len="sm" w="med"/>
          </a:ln>
        </p:spPr>
      </p:sp>
      <p:sp>
        <p:nvSpPr>
          <p:cNvPr name="AutoShape 8" id="8"/>
          <p:cNvSpPr/>
          <p:nvPr/>
        </p:nvSpPr>
        <p:spPr>
          <a:xfrm>
            <a:off x="1331126" y="3774335"/>
            <a:ext cx="0" cy="1940701"/>
          </a:xfrm>
          <a:prstGeom prst="line">
            <a:avLst/>
          </a:prstGeom>
          <a:ln cap="rnd" w="19050">
            <a:solidFill>
              <a:srgbClr val="8C7753"/>
            </a:solidFill>
            <a:prstDash val="solid"/>
            <a:headEnd type="oval" len="lg" w="lg"/>
            <a:tailEnd type="none" len="sm" w="sm"/>
          </a:ln>
        </p:spPr>
      </p:sp>
      <p:sp>
        <p:nvSpPr>
          <p:cNvPr name="TextBox 9" id="9"/>
          <p:cNvSpPr txBox="true"/>
          <p:nvPr/>
        </p:nvSpPr>
        <p:spPr>
          <a:xfrm rot="0">
            <a:off x="4699899" y="6031230"/>
            <a:ext cx="2967865"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M</a:t>
            </a:r>
            <a:r>
              <a:rPr lang="en-US" b="true" sz="2400" strike="noStrike" u="none">
                <a:solidFill>
                  <a:srgbClr val="8C7753"/>
                </a:solidFill>
                <a:latin typeface="Open Sauce Bold"/>
                <a:ea typeface="Open Sauce Bold"/>
                <a:cs typeface="Open Sauce Bold"/>
                <a:sym typeface="Open Sauce Bold"/>
              </a:rPr>
              <a:t>aint</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in</a:t>
            </a:r>
            <a:r>
              <a:rPr lang="en-US" b="true" sz="2400" strike="noStrike" u="none">
                <a:solidFill>
                  <a:srgbClr val="8C7753"/>
                </a:solidFill>
                <a:latin typeface="Open Sauce Bold"/>
                <a:ea typeface="Open Sauce Bold"/>
                <a:cs typeface="Open Sauce Bold"/>
                <a:sym typeface="Open Sauce Bold"/>
              </a:rPr>
              <a:t>ability</a:t>
            </a:r>
          </a:p>
        </p:txBody>
      </p:sp>
      <p:sp>
        <p:nvSpPr>
          <p:cNvPr name="TextBox 10" id="10"/>
          <p:cNvSpPr txBox="true"/>
          <p:nvPr/>
        </p:nvSpPr>
        <p:spPr>
          <a:xfrm rot="0">
            <a:off x="4935616" y="6751320"/>
            <a:ext cx="5869476" cy="1644458"/>
          </a:xfrm>
          <a:prstGeom prst="rect">
            <a:avLst/>
          </a:prstGeom>
        </p:spPr>
        <p:txBody>
          <a:bodyPr anchor="t" rtlCol="false" tIns="0" lIns="0" bIns="0" rIns="0">
            <a:spAutoFit/>
          </a:bodyPr>
          <a:lstStyle/>
          <a:p>
            <a:pPr algn="l" marL="0" indent="0" lvl="0">
              <a:lnSpc>
                <a:spcPts val="3334"/>
              </a:lnSpc>
              <a:spcBef>
                <a:spcPct val="0"/>
              </a:spcBef>
            </a:pPr>
            <a:r>
              <a:rPr lang="en-US" sz="2382">
                <a:solidFill>
                  <a:srgbClr val="331B0D"/>
                </a:solidFill>
                <a:latin typeface="Open Sauce"/>
                <a:ea typeface="Open Sauce"/>
                <a:cs typeface="Open Sauce"/>
                <a:sym typeface="Open Sauce"/>
              </a:rPr>
              <a:t>Written with clean, organized cod</a:t>
            </a:r>
            <a:r>
              <a:rPr lang="en-US" sz="2382" strike="noStrike" u="none">
                <a:solidFill>
                  <a:srgbClr val="331B0D"/>
                </a:solidFill>
                <a:latin typeface="Open Sauce"/>
                <a:ea typeface="Open Sauce"/>
                <a:cs typeface="Open Sauce"/>
                <a:sym typeface="Open Sauce"/>
              </a:rPr>
              <a:t>e, making it easy </a:t>
            </a:r>
            <a:r>
              <a:rPr lang="en-US" sz="2382" strike="noStrike" u="none">
                <a:solidFill>
                  <a:srgbClr val="331B0D"/>
                </a:solidFill>
                <a:latin typeface="Open Sauce"/>
                <a:ea typeface="Open Sauce"/>
                <a:cs typeface="Open Sauce"/>
                <a:sym typeface="Open Sauce"/>
              </a:rPr>
              <a:t>for future developers </a:t>
            </a:r>
            <a:r>
              <a:rPr lang="en-US" sz="2382" strike="noStrike" u="none">
                <a:solidFill>
                  <a:srgbClr val="331B0D"/>
                </a:solidFill>
                <a:latin typeface="Open Sauce"/>
                <a:ea typeface="Open Sauce"/>
                <a:cs typeface="Open Sauce"/>
                <a:sym typeface="Open Sauce"/>
              </a:rPr>
              <a:t>to fix bugs or add new features like </a:t>
            </a:r>
            <a:r>
              <a:rPr lang="en-US" sz="2382" strike="noStrike" u="none">
                <a:solidFill>
                  <a:srgbClr val="331B0D"/>
                </a:solidFill>
                <a:latin typeface="Open Sauce"/>
                <a:ea typeface="Open Sauce"/>
                <a:cs typeface="Open Sauce"/>
                <a:sym typeface="Open Sauce"/>
              </a:rPr>
              <a:t>o</a:t>
            </a:r>
            <a:r>
              <a:rPr lang="en-US" sz="2382" strike="noStrike" u="none">
                <a:solidFill>
                  <a:srgbClr val="331B0D"/>
                </a:solidFill>
                <a:latin typeface="Open Sauce"/>
                <a:ea typeface="Open Sauce"/>
                <a:cs typeface="Open Sauce"/>
                <a:sym typeface="Open Sauce"/>
              </a:rPr>
              <a:t>nline exams.</a:t>
            </a:r>
          </a:p>
        </p:txBody>
      </p:sp>
      <p:sp>
        <p:nvSpPr>
          <p:cNvPr name="AutoShape 11" id="11"/>
          <p:cNvSpPr/>
          <p:nvPr/>
        </p:nvSpPr>
        <p:spPr>
          <a:xfrm>
            <a:off x="4437421" y="5703712"/>
            <a:ext cx="0" cy="1940701"/>
          </a:xfrm>
          <a:prstGeom prst="line">
            <a:avLst/>
          </a:prstGeom>
          <a:ln cap="rnd" w="19050">
            <a:solidFill>
              <a:srgbClr val="8C7753"/>
            </a:solidFill>
            <a:prstDash val="solid"/>
            <a:headEnd type="none" len="sm" w="sm"/>
            <a:tailEnd type="oval" len="lg" w="lg"/>
          </a:ln>
        </p:spPr>
      </p:sp>
      <p:sp>
        <p:nvSpPr>
          <p:cNvPr name="AutoShape 12" id="12"/>
          <p:cNvSpPr/>
          <p:nvPr/>
        </p:nvSpPr>
        <p:spPr>
          <a:xfrm>
            <a:off x="8196993" y="3774335"/>
            <a:ext cx="0" cy="1940701"/>
          </a:xfrm>
          <a:prstGeom prst="line">
            <a:avLst/>
          </a:prstGeom>
          <a:ln cap="rnd" w="19050">
            <a:solidFill>
              <a:srgbClr val="8C7753"/>
            </a:solidFill>
            <a:prstDash val="solid"/>
            <a:headEnd type="oval" len="lg" w="lg"/>
            <a:tailEnd type="none" len="sm" w="sm"/>
          </a:ln>
        </p:spPr>
      </p:sp>
      <p:sp>
        <p:nvSpPr>
          <p:cNvPr name="AutoShape 13" id="13"/>
          <p:cNvSpPr/>
          <p:nvPr/>
        </p:nvSpPr>
        <p:spPr>
          <a:xfrm>
            <a:off x="11303288" y="5703712"/>
            <a:ext cx="0" cy="1940701"/>
          </a:xfrm>
          <a:prstGeom prst="line">
            <a:avLst/>
          </a:prstGeom>
          <a:ln cap="rnd" w="19050">
            <a:solidFill>
              <a:srgbClr val="8C7753"/>
            </a:solidFill>
            <a:prstDash val="solid"/>
            <a:headEnd type="none" len="sm" w="sm"/>
            <a:tailEnd type="oval" len="lg" w="lg"/>
          </a:ln>
        </p:spPr>
      </p:sp>
      <p:sp>
        <p:nvSpPr>
          <p:cNvPr name="AutoShape 14" id="14"/>
          <p:cNvSpPr/>
          <p:nvPr/>
        </p:nvSpPr>
        <p:spPr>
          <a:xfrm>
            <a:off x="14969433" y="3851064"/>
            <a:ext cx="0" cy="1940701"/>
          </a:xfrm>
          <a:prstGeom prst="line">
            <a:avLst/>
          </a:prstGeom>
          <a:ln cap="rnd" w="19050">
            <a:solidFill>
              <a:srgbClr val="8C7753"/>
            </a:solidFill>
            <a:prstDash val="solid"/>
            <a:headEnd type="oval" len="lg" w="lg"/>
            <a:tailEnd type="none" len="sm" w="sm"/>
          </a:ln>
        </p:spPr>
      </p:sp>
      <p:sp>
        <p:nvSpPr>
          <p:cNvPr name="TextBox 15" id="15"/>
          <p:cNvSpPr txBox="true"/>
          <p:nvPr/>
        </p:nvSpPr>
        <p:spPr>
          <a:xfrm rot="0">
            <a:off x="8520843"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Reliabili</a:t>
            </a:r>
            <a:r>
              <a:rPr lang="en-US" b="true" sz="2400" strike="noStrike" u="none">
                <a:solidFill>
                  <a:srgbClr val="8C7753"/>
                </a:solidFill>
                <a:latin typeface="Open Sauce Bold"/>
                <a:ea typeface="Open Sauce Bold"/>
                <a:cs typeface="Open Sauce Bold"/>
                <a:sym typeface="Open Sauce Bold"/>
              </a:rPr>
              <a:t>ty</a:t>
            </a:r>
          </a:p>
        </p:txBody>
      </p:sp>
      <p:sp>
        <p:nvSpPr>
          <p:cNvPr name="TextBox 16" id="16"/>
          <p:cNvSpPr txBox="true"/>
          <p:nvPr/>
        </p:nvSpPr>
        <p:spPr>
          <a:xfrm rot="0">
            <a:off x="8520843" y="4202924"/>
            <a:ext cx="5508606" cy="1189355"/>
          </a:xfrm>
          <a:prstGeom prst="rect">
            <a:avLst/>
          </a:prstGeom>
        </p:spPr>
        <p:txBody>
          <a:bodyPr anchor="t" rtlCol="false" tIns="0" lIns="0" bIns="0" rIns="0">
            <a:spAutoFit/>
          </a:bodyPr>
          <a:lstStyle/>
          <a:p>
            <a:pPr algn="l" marL="0" indent="0" lvl="0">
              <a:lnSpc>
                <a:spcPts val="3219"/>
              </a:lnSpc>
              <a:spcBef>
                <a:spcPct val="0"/>
              </a:spcBef>
            </a:pPr>
            <a:r>
              <a:rPr lang="en-US" sz="2299">
                <a:solidFill>
                  <a:srgbClr val="331B0D"/>
                </a:solidFill>
                <a:latin typeface="Open Sauce"/>
                <a:ea typeface="Open Sauce"/>
                <a:cs typeface="Open Sauce"/>
                <a:sym typeface="Open Sauce"/>
              </a:rPr>
              <a:t>Ensures the system </a:t>
            </a:r>
            <a:r>
              <a:rPr lang="en-US" sz="2299" strike="noStrike" u="none">
                <a:solidFill>
                  <a:srgbClr val="331B0D"/>
                </a:solidFill>
                <a:latin typeface="Open Sauce"/>
                <a:ea typeface="Open Sauce"/>
                <a:cs typeface="Open Sauce"/>
                <a:sym typeface="Open Sauce"/>
              </a:rPr>
              <a:t>is a</a:t>
            </a:r>
            <a:r>
              <a:rPr lang="en-US" sz="2299" strike="noStrike" u="none">
                <a:solidFill>
                  <a:srgbClr val="331B0D"/>
                </a:solidFill>
                <a:latin typeface="Open Sauce"/>
                <a:ea typeface="Open Sauce"/>
                <a:cs typeface="Open Sauce"/>
                <a:sym typeface="Open Sauce"/>
              </a:rPr>
              <a:t>lway</a:t>
            </a:r>
            <a:r>
              <a:rPr lang="en-US" sz="2299" strike="noStrike" u="none">
                <a:solidFill>
                  <a:srgbClr val="331B0D"/>
                </a:solidFill>
                <a:latin typeface="Open Sauce"/>
                <a:ea typeface="Open Sauce"/>
                <a:cs typeface="Open Sauce"/>
                <a:sym typeface="Open Sauce"/>
              </a:rPr>
              <a:t>s </a:t>
            </a:r>
            <a:r>
              <a:rPr lang="en-US" sz="2299" strike="noStrike" u="none">
                <a:solidFill>
                  <a:srgbClr val="331B0D"/>
                </a:solidFill>
                <a:latin typeface="Open Sauce"/>
                <a:ea typeface="Open Sauce"/>
                <a:cs typeface="Open Sauce"/>
                <a:sym typeface="Open Sauce"/>
              </a:rPr>
              <a:t>a</a:t>
            </a:r>
            <a:r>
              <a:rPr lang="en-US" sz="2299" strike="noStrike" u="none">
                <a:solidFill>
                  <a:srgbClr val="331B0D"/>
                </a:solidFill>
                <a:latin typeface="Open Sauce"/>
                <a:ea typeface="Open Sauce"/>
                <a:cs typeface="Open Sauce"/>
                <a:sym typeface="Open Sauce"/>
              </a:rPr>
              <a:t>v</a:t>
            </a:r>
            <a:r>
              <a:rPr lang="en-US" sz="2299" strike="noStrike" u="none">
                <a:solidFill>
                  <a:srgbClr val="331B0D"/>
                </a:solidFill>
                <a:latin typeface="Open Sauce"/>
                <a:ea typeface="Open Sauce"/>
                <a:cs typeface="Open Sauce"/>
                <a:sym typeface="Open Sauce"/>
              </a:rPr>
              <a:t>a</a:t>
            </a:r>
            <a:r>
              <a:rPr lang="en-US" sz="2299" strike="noStrike" u="none">
                <a:solidFill>
                  <a:srgbClr val="331B0D"/>
                </a:solidFill>
                <a:latin typeface="Open Sauce"/>
                <a:ea typeface="Open Sauce"/>
                <a:cs typeface="Open Sauce"/>
                <a:sym typeface="Open Sauce"/>
              </a:rPr>
              <a:t>i</a:t>
            </a:r>
            <a:r>
              <a:rPr lang="en-US" sz="2299" strike="noStrike" u="none">
                <a:solidFill>
                  <a:srgbClr val="331B0D"/>
                </a:solidFill>
                <a:latin typeface="Open Sauce"/>
                <a:ea typeface="Open Sauce"/>
                <a:cs typeface="Open Sauce"/>
                <a:sym typeface="Open Sauce"/>
              </a:rPr>
              <a:t>l</a:t>
            </a:r>
            <a:r>
              <a:rPr lang="en-US" sz="2299" strike="noStrike" u="none">
                <a:solidFill>
                  <a:srgbClr val="331B0D"/>
                </a:solidFill>
                <a:latin typeface="Open Sauce"/>
                <a:ea typeface="Open Sauce"/>
                <a:cs typeface="Open Sauce"/>
                <a:sym typeface="Open Sauce"/>
              </a:rPr>
              <a:t>a</a:t>
            </a:r>
            <a:r>
              <a:rPr lang="en-US" sz="2299" strike="noStrike" u="none">
                <a:solidFill>
                  <a:srgbClr val="331B0D"/>
                </a:solidFill>
                <a:latin typeface="Open Sauce"/>
                <a:ea typeface="Open Sauce"/>
                <a:cs typeface="Open Sauce"/>
                <a:sym typeface="Open Sauce"/>
              </a:rPr>
              <a:t>b</a:t>
            </a:r>
            <a:r>
              <a:rPr lang="en-US" sz="2299" strike="noStrike" u="none">
                <a:solidFill>
                  <a:srgbClr val="331B0D"/>
                </a:solidFill>
                <a:latin typeface="Open Sauce"/>
                <a:ea typeface="Open Sauce"/>
                <a:cs typeface="Open Sauce"/>
                <a:sym typeface="Open Sauce"/>
              </a:rPr>
              <a:t>le </a:t>
            </a:r>
            <a:r>
              <a:rPr lang="en-US" sz="2299" strike="noStrike" u="none">
                <a:solidFill>
                  <a:srgbClr val="331B0D"/>
                </a:solidFill>
                <a:latin typeface="Open Sauce"/>
                <a:ea typeface="Open Sauce"/>
                <a:cs typeface="Open Sauce"/>
                <a:sym typeface="Open Sauce"/>
              </a:rPr>
              <a:t>24/7, so s</a:t>
            </a:r>
            <a:r>
              <a:rPr lang="en-US" sz="2299" strike="noStrike" u="none">
                <a:solidFill>
                  <a:srgbClr val="331B0D"/>
                </a:solidFill>
                <a:latin typeface="Open Sauce"/>
                <a:ea typeface="Open Sauce"/>
                <a:cs typeface="Open Sauce"/>
                <a:sym typeface="Open Sauce"/>
              </a:rPr>
              <a:t>tudents can che</a:t>
            </a:r>
            <a:r>
              <a:rPr lang="en-US" sz="2299" strike="noStrike" u="none">
                <a:solidFill>
                  <a:srgbClr val="331B0D"/>
                </a:solidFill>
                <a:latin typeface="Open Sauce"/>
                <a:ea typeface="Open Sauce"/>
                <a:cs typeface="Open Sauce"/>
                <a:sym typeface="Open Sauce"/>
              </a:rPr>
              <a:t>ck</a:t>
            </a:r>
            <a:r>
              <a:rPr lang="en-US" sz="2299" strike="noStrike" u="none">
                <a:solidFill>
                  <a:srgbClr val="331B0D"/>
                </a:solidFill>
                <a:latin typeface="Open Sauce"/>
                <a:ea typeface="Open Sauce"/>
                <a:cs typeface="Open Sauce"/>
                <a:sym typeface="Open Sauce"/>
              </a:rPr>
              <a:t> </a:t>
            </a:r>
            <a:r>
              <a:rPr lang="en-US" sz="2299" strike="noStrike" u="none">
                <a:solidFill>
                  <a:srgbClr val="331B0D"/>
                </a:solidFill>
                <a:latin typeface="Open Sauce"/>
                <a:ea typeface="Open Sauce"/>
                <a:cs typeface="Open Sauce"/>
                <a:sym typeface="Open Sauce"/>
              </a:rPr>
              <a:t>res</a:t>
            </a:r>
            <a:r>
              <a:rPr lang="en-US" sz="2299" strike="noStrike" u="none">
                <a:solidFill>
                  <a:srgbClr val="331B0D"/>
                </a:solidFill>
                <a:latin typeface="Open Sauce"/>
                <a:ea typeface="Open Sauce"/>
                <a:cs typeface="Open Sauce"/>
                <a:sym typeface="Open Sauce"/>
              </a:rPr>
              <a:t>u</a:t>
            </a:r>
            <a:r>
              <a:rPr lang="en-US" sz="2299" strike="noStrike" u="none">
                <a:solidFill>
                  <a:srgbClr val="331B0D"/>
                </a:solidFill>
                <a:latin typeface="Open Sauce"/>
                <a:ea typeface="Open Sauce"/>
                <a:cs typeface="Open Sauce"/>
                <a:sym typeface="Open Sauce"/>
              </a:rPr>
              <a:t>lt</a:t>
            </a:r>
            <a:r>
              <a:rPr lang="en-US" sz="2299" strike="noStrike" u="none">
                <a:solidFill>
                  <a:srgbClr val="331B0D"/>
                </a:solidFill>
                <a:latin typeface="Open Sauce"/>
                <a:ea typeface="Open Sauce"/>
                <a:cs typeface="Open Sauce"/>
                <a:sym typeface="Open Sauce"/>
              </a:rPr>
              <a:t>s</a:t>
            </a:r>
            <a:r>
              <a:rPr lang="en-US" sz="2299" strike="noStrike" u="none">
                <a:solidFill>
                  <a:srgbClr val="331B0D"/>
                </a:solidFill>
                <a:latin typeface="Open Sauce"/>
                <a:ea typeface="Open Sauce"/>
                <a:cs typeface="Open Sauce"/>
                <a:sym typeface="Open Sauce"/>
              </a:rPr>
              <a:t> o</a:t>
            </a:r>
            <a:r>
              <a:rPr lang="en-US" sz="2299" strike="noStrike" u="none">
                <a:solidFill>
                  <a:srgbClr val="331B0D"/>
                </a:solidFill>
                <a:latin typeface="Open Sauce"/>
                <a:ea typeface="Open Sauce"/>
                <a:cs typeface="Open Sauce"/>
                <a:sym typeface="Open Sauce"/>
              </a:rPr>
              <a:t>r</a:t>
            </a:r>
            <a:r>
              <a:rPr lang="en-US" sz="2299" strike="noStrike" u="none">
                <a:solidFill>
                  <a:srgbClr val="331B0D"/>
                </a:solidFill>
                <a:latin typeface="Open Sauce"/>
                <a:ea typeface="Open Sauce"/>
                <a:cs typeface="Open Sauce"/>
                <a:sym typeface="Open Sauce"/>
              </a:rPr>
              <a:t> pay</a:t>
            </a:r>
            <a:r>
              <a:rPr lang="en-US" sz="2299" strike="noStrike" u="none">
                <a:solidFill>
                  <a:srgbClr val="331B0D"/>
                </a:solidFill>
                <a:latin typeface="Open Sauce"/>
                <a:ea typeface="Open Sauce"/>
                <a:cs typeface="Open Sauce"/>
                <a:sym typeface="Open Sauce"/>
              </a:rPr>
              <a:t> fees an</a:t>
            </a:r>
            <a:r>
              <a:rPr lang="en-US" sz="2299" strike="noStrike" u="none">
                <a:solidFill>
                  <a:srgbClr val="331B0D"/>
                </a:solidFill>
                <a:latin typeface="Open Sauce"/>
                <a:ea typeface="Open Sauce"/>
                <a:cs typeface="Open Sauce"/>
                <a:sym typeface="Open Sauce"/>
              </a:rPr>
              <a:t>ytime, </a:t>
            </a:r>
            <a:r>
              <a:rPr lang="en-US" sz="2299" strike="noStrike" u="none">
                <a:solidFill>
                  <a:srgbClr val="331B0D"/>
                </a:solidFill>
                <a:latin typeface="Open Sauce"/>
                <a:ea typeface="Open Sauce"/>
                <a:cs typeface="Open Sauce"/>
                <a:sym typeface="Open Sauce"/>
              </a:rPr>
              <a:t>d</a:t>
            </a:r>
            <a:r>
              <a:rPr lang="en-US" sz="2299" strike="noStrike" u="none">
                <a:solidFill>
                  <a:srgbClr val="331B0D"/>
                </a:solidFill>
                <a:latin typeface="Open Sauce"/>
                <a:ea typeface="Open Sauce"/>
                <a:cs typeface="Open Sauce"/>
                <a:sym typeface="Open Sauce"/>
              </a:rPr>
              <a:t>ay</a:t>
            </a:r>
            <a:r>
              <a:rPr lang="en-US" sz="2299" strike="noStrike" u="none">
                <a:solidFill>
                  <a:srgbClr val="331B0D"/>
                </a:solidFill>
                <a:latin typeface="Open Sauce"/>
                <a:ea typeface="Open Sauce"/>
                <a:cs typeface="Open Sauce"/>
                <a:sym typeface="Open Sauce"/>
              </a:rPr>
              <a:t> or night.</a:t>
            </a:r>
          </a:p>
        </p:txBody>
      </p:sp>
      <p:sp>
        <p:nvSpPr>
          <p:cNvPr name="TextBox 17" id="17"/>
          <p:cNvSpPr txBox="true"/>
          <p:nvPr/>
        </p:nvSpPr>
        <p:spPr>
          <a:xfrm rot="0">
            <a:off x="11627138" y="6715125"/>
            <a:ext cx="3763021"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Feedb</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ck &amp; Revi</a:t>
            </a:r>
            <a:r>
              <a:rPr lang="en-US" b="true" sz="2400" strike="noStrike" u="none">
                <a:solidFill>
                  <a:srgbClr val="8C7753"/>
                </a:solidFill>
                <a:latin typeface="Open Sauce Bold"/>
                <a:ea typeface="Open Sauce Bold"/>
                <a:cs typeface="Open Sauce Bold"/>
                <a:sym typeface="Open Sauce Bold"/>
              </a:rPr>
              <a:t>s</a:t>
            </a:r>
            <a:r>
              <a:rPr lang="en-US" b="true" sz="2400" strike="noStrike" u="none">
                <a:solidFill>
                  <a:srgbClr val="8C7753"/>
                </a:solidFill>
                <a:latin typeface="Open Sauce Bold"/>
                <a:ea typeface="Open Sauce Bold"/>
                <a:cs typeface="Open Sauce Bold"/>
                <a:sym typeface="Open Sauce Bold"/>
              </a:rPr>
              <a:t>ions</a:t>
            </a:r>
          </a:p>
        </p:txBody>
      </p:sp>
      <p:sp>
        <p:nvSpPr>
          <p:cNvPr name="TextBox 18" id="18"/>
          <p:cNvSpPr txBox="true"/>
          <p:nvPr/>
        </p:nvSpPr>
        <p:spPr>
          <a:xfrm rot="0">
            <a:off x="11627138" y="7341870"/>
            <a:ext cx="4415021" cy="1189355"/>
          </a:xfrm>
          <a:prstGeom prst="rect">
            <a:avLst/>
          </a:prstGeom>
        </p:spPr>
        <p:txBody>
          <a:bodyPr anchor="t" rtlCol="false" tIns="0" lIns="0" bIns="0" rIns="0">
            <a:spAutoFit/>
          </a:bodyPr>
          <a:lstStyle/>
          <a:p>
            <a:pPr algn="l" marL="0" indent="0" lvl="0">
              <a:lnSpc>
                <a:spcPts val="3219"/>
              </a:lnSpc>
              <a:spcBef>
                <a:spcPct val="0"/>
              </a:spcBef>
            </a:pPr>
            <a:r>
              <a:rPr lang="en-US" sz="2299">
                <a:solidFill>
                  <a:srgbClr val="331B0D"/>
                </a:solidFill>
                <a:latin typeface="Open Sauce"/>
                <a:ea typeface="Open Sauce"/>
                <a:cs typeface="Open Sauce"/>
                <a:sym typeface="Open Sauce"/>
              </a:rPr>
              <a:t>We gathered peer feedb</a:t>
            </a:r>
            <a:r>
              <a:rPr lang="en-US" sz="2299" strike="noStrike" u="none">
                <a:solidFill>
                  <a:srgbClr val="331B0D"/>
                </a:solidFill>
                <a:latin typeface="Open Sauce"/>
                <a:ea typeface="Open Sauce"/>
                <a:cs typeface="Open Sauce"/>
                <a:sym typeface="Open Sauce"/>
              </a:rPr>
              <a:t>ac</a:t>
            </a:r>
            <a:r>
              <a:rPr lang="en-US" sz="2299" strike="noStrike" u="none">
                <a:solidFill>
                  <a:srgbClr val="331B0D"/>
                </a:solidFill>
                <a:latin typeface="Open Sauce"/>
                <a:ea typeface="Open Sauce"/>
                <a:cs typeface="Open Sauce"/>
                <a:sym typeface="Open Sauce"/>
              </a:rPr>
              <a:t>k</a:t>
            </a:r>
            <a:r>
              <a:rPr lang="en-US" sz="2299" strike="noStrike" u="none">
                <a:solidFill>
                  <a:srgbClr val="331B0D"/>
                </a:solidFill>
                <a:latin typeface="Open Sauce"/>
                <a:ea typeface="Open Sauce"/>
                <a:cs typeface="Open Sauce"/>
                <a:sym typeface="Open Sauce"/>
              </a:rPr>
              <a:t> a</a:t>
            </a:r>
            <a:r>
              <a:rPr lang="en-US" sz="2299" strike="noStrike" u="none">
                <a:solidFill>
                  <a:srgbClr val="331B0D"/>
                </a:solidFill>
                <a:latin typeface="Open Sauce"/>
                <a:ea typeface="Open Sauce"/>
                <a:cs typeface="Open Sauce"/>
                <a:sym typeface="Open Sauce"/>
              </a:rPr>
              <a:t>nd </a:t>
            </a:r>
            <a:r>
              <a:rPr lang="en-US" sz="2299" strike="noStrike" u="none">
                <a:solidFill>
                  <a:srgbClr val="331B0D"/>
                </a:solidFill>
                <a:latin typeface="Open Sauce"/>
                <a:ea typeface="Open Sauce"/>
                <a:cs typeface="Open Sauce"/>
                <a:sym typeface="Open Sauce"/>
              </a:rPr>
              <a:t>re</a:t>
            </a:r>
            <a:r>
              <a:rPr lang="en-US" sz="2299" strike="noStrike" u="none">
                <a:solidFill>
                  <a:srgbClr val="331B0D"/>
                </a:solidFill>
                <a:latin typeface="Open Sauce"/>
                <a:ea typeface="Open Sauce"/>
                <a:cs typeface="Open Sauce"/>
                <a:sym typeface="Open Sauce"/>
              </a:rPr>
              <a:t>f</a:t>
            </a:r>
            <a:r>
              <a:rPr lang="en-US" sz="2299" strike="noStrike" u="none">
                <a:solidFill>
                  <a:srgbClr val="331B0D"/>
                </a:solidFill>
                <a:latin typeface="Open Sauce"/>
                <a:ea typeface="Open Sauce"/>
                <a:cs typeface="Open Sauce"/>
                <a:sym typeface="Open Sauce"/>
              </a:rPr>
              <a:t>in</a:t>
            </a:r>
            <a:r>
              <a:rPr lang="en-US" sz="2299" strike="noStrike" u="none">
                <a:solidFill>
                  <a:srgbClr val="331B0D"/>
                </a:solidFill>
                <a:latin typeface="Open Sauce"/>
                <a:ea typeface="Open Sauce"/>
                <a:cs typeface="Open Sauce"/>
                <a:sym typeface="Open Sauce"/>
              </a:rPr>
              <a:t>ed</a:t>
            </a:r>
            <a:r>
              <a:rPr lang="en-US" sz="2299" strike="noStrike" u="none">
                <a:solidFill>
                  <a:srgbClr val="331B0D"/>
                </a:solidFill>
                <a:latin typeface="Open Sauce"/>
                <a:ea typeface="Open Sauce"/>
                <a:cs typeface="Open Sauce"/>
                <a:sym typeface="Open Sauce"/>
              </a:rPr>
              <a:t> </a:t>
            </a:r>
            <a:r>
              <a:rPr lang="en-US" sz="2299" strike="noStrike" u="none">
                <a:solidFill>
                  <a:srgbClr val="331B0D"/>
                </a:solidFill>
                <a:latin typeface="Open Sauce"/>
                <a:ea typeface="Open Sauce"/>
                <a:cs typeface="Open Sauce"/>
                <a:sym typeface="Open Sauce"/>
              </a:rPr>
              <a:t>t</a:t>
            </a:r>
            <a:r>
              <a:rPr lang="en-US" sz="2299" strike="noStrike" u="none">
                <a:solidFill>
                  <a:srgbClr val="331B0D"/>
                </a:solidFill>
                <a:latin typeface="Open Sauce"/>
                <a:ea typeface="Open Sauce"/>
                <a:cs typeface="Open Sauce"/>
                <a:sym typeface="Open Sauce"/>
              </a:rPr>
              <a:t>h</a:t>
            </a:r>
            <a:r>
              <a:rPr lang="en-US" sz="2299" strike="noStrike" u="none">
                <a:solidFill>
                  <a:srgbClr val="331B0D"/>
                </a:solidFill>
                <a:latin typeface="Open Sauce"/>
                <a:ea typeface="Open Sauce"/>
                <a:cs typeface="Open Sauce"/>
                <a:sym typeface="Open Sauce"/>
              </a:rPr>
              <a:t>e lay</a:t>
            </a:r>
            <a:r>
              <a:rPr lang="en-US" sz="2299" strike="noStrike" u="none">
                <a:solidFill>
                  <a:srgbClr val="331B0D"/>
                </a:solidFill>
                <a:latin typeface="Open Sauce"/>
                <a:ea typeface="Open Sauce"/>
                <a:cs typeface="Open Sauce"/>
                <a:sym typeface="Open Sauce"/>
              </a:rPr>
              <a:t>o</a:t>
            </a:r>
            <a:r>
              <a:rPr lang="en-US" sz="2299" strike="noStrike" u="none">
                <a:solidFill>
                  <a:srgbClr val="331B0D"/>
                </a:solidFill>
                <a:latin typeface="Open Sauce"/>
                <a:ea typeface="Open Sauce"/>
                <a:cs typeface="Open Sauce"/>
                <a:sym typeface="Open Sauce"/>
              </a:rPr>
              <a:t>ut to im</a:t>
            </a:r>
            <a:r>
              <a:rPr lang="en-US" sz="2299" strike="noStrike" u="none">
                <a:solidFill>
                  <a:srgbClr val="331B0D"/>
                </a:solidFill>
                <a:latin typeface="Open Sauce"/>
                <a:ea typeface="Open Sauce"/>
                <a:cs typeface="Open Sauce"/>
                <a:sym typeface="Open Sauce"/>
              </a:rPr>
              <a:t>p</a:t>
            </a:r>
            <a:r>
              <a:rPr lang="en-US" sz="2299" strike="noStrike" u="none">
                <a:solidFill>
                  <a:srgbClr val="331B0D"/>
                </a:solidFill>
                <a:latin typeface="Open Sauce"/>
                <a:ea typeface="Open Sauce"/>
                <a:cs typeface="Open Sauce"/>
                <a:sym typeface="Open Sauce"/>
              </a:rPr>
              <a:t>rove clarity and u</a:t>
            </a:r>
            <a:r>
              <a:rPr lang="en-US" sz="2299" strike="noStrike" u="none">
                <a:solidFill>
                  <a:srgbClr val="331B0D"/>
                </a:solidFill>
                <a:latin typeface="Open Sauce"/>
                <a:ea typeface="Open Sauce"/>
                <a:cs typeface="Open Sauce"/>
                <a:sym typeface="Open Sauce"/>
              </a:rPr>
              <a:t>s</a:t>
            </a:r>
            <a:r>
              <a:rPr lang="en-US" sz="2299" strike="noStrike" u="none">
                <a:solidFill>
                  <a:srgbClr val="331B0D"/>
                </a:solidFill>
                <a:latin typeface="Open Sauce"/>
                <a:ea typeface="Open Sauce"/>
                <a:cs typeface="Open Sauce"/>
                <a:sym typeface="Open Sauce"/>
              </a:rPr>
              <a:t>ability.</a:t>
            </a:r>
          </a:p>
        </p:txBody>
      </p:sp>
      <p:sp>
        <p:nvSpPr>
          <p:cNvPr name="TextBox 19" id="19"/>
          <p:cNvSpPr txBox="true"/>
          <p:nvPr/>
        </p:nvSpPr>
        <p:spPr>
          <a:xfrm rot="0">
            <a:off x="15390158" y="3576179"/>
            <a:ext cx="1678642"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Fin</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l</a:t>
            </a:r>
            <a:r>
              <a:rPr lang="en-US" b="true" sz="2400" strike="noStrike" u="none">
                <a:solidFill>
                  <a:srgbClr val="8C7753"/>
                </a:solidFill>
                <a:latin typeface="Open Sauce Bold"/>
                <a:ea typeface="Open Sauce Bold"/>
                <a:cs typeface="Open Sauce Bold"/>
                <a:sym typeface="Open Sauce Bold"/>
              </a:rPr>
              <a:t> </a:t>
            </a:r>
            <a:r>
              <a:rPr lang="en-US" b="true" sz="2400" strike="noStrike" u="none">
                <a:solidFill>
                  <a:srgbClr val="8C7753"/>
                </a:solidFill>
                <a:latin typeface="Open Sauce Bold"/>
                <a:ea typeface="Open Sauce Bold"/>
                <a:cs typeface="Open Sauce Bold"/>
                <a:sym typeface="Open Sauce Bold"/>
              </a:rPr>
              <a:t>Build</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23449" y="3973119"/>
          <a:ext cx="17641102" cy="4400550"/>
        </p:xfrm>
        <a:graphic>
          <a:graphicData uri="http://schemas.openxmlformats.org/drawingml/2006/table">
            <a:tbl>
              <a:tblPr/>
              <a:tblGrid>
                <a:gridCol w="3501556"/>
                <a:gridCol w="6350730"/>
                <a:gridCol w="7788816"/>
              </a:tblGrid>
              <a:tr h="903170">
                <a:tc>
                  <a:txBody>
                    <a:bodyPr anchor="t" rtlCol="false"/>
                    <a:lstStyle/>
                    <a:p>
                      <a:pPr algn="ctr">
                        <a:lnSpc>
                          <a:spcPts val="3359"/>
                        </a:lnSpc>
                        <a:defRPr/>
                      </a:pPr>
                      <a:r>
                        <a:rPr lang="en-US" sz="2399" b="true">
                          <a:solidFill>
                            <a:srgbClr val="000000"/>
                          </a:solidFill>
                          <a:latin typeface="Canva Sans Bold"/>
                          <a:ea typeface="Canva Sans Bold"/>
                          <a:cs typeface="Canva Sans Bold"/>
                          <a:sym typeface="Canva Sans Bold"/>
                        </a:rPr>
                        <a:t>Component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c>
                  <a:txBody>
                    <a:bodyPr anchor="t" rtlCol="false"/>
                    <a:lstStyle/>
                    <a:p>
                      <a:pPr algn="ctr">
                        <a:lnSpc>
                          <a:spcPts val="3359"/>
                        </a:lnSpc>
                        <a:defRPr/>
                      </a:pPr>
                      <a:r>
                        <a:rPr lang="en-US" sz="2399" b="true">
                          <a:solidFill>
                            <a:srgbClr val="000000"/>
                          </a:solidFill>
                          <a:latin typeface="Canva Sans Bold"/>
                          <a:ea typeface="Canva Sans Bold"/>
                          <a:cs typeface="Canva Sans Bold"/>
                          <a:sym typeface="Canva Sans Bold"/>
                        </a:rPr>
                        <a:t>Minimum Specifications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c>
                  <a:txBody>
                    <a:bodyPr anchor="t" rtlCol="false"/>
                    <a:lstStyle/>
                    <a:p>
                      <a:pPr algn="ctr">
                        <a:lnSpc>
                          <a:spcPts val="3359"/>
                        </a:lnSpc>
                        <a:defRPr/>
                      </a:pPr>
                      <a:r>
                        <a:rPr lang="en-US" sz="2399" b="true">
                          <a:solidFill>
                            <a:srgbClr val="000000"/>
                          </a:solidFill>
                          <a:latin typeface="Canva Sans Bold"/>
                          <a:ea typeface="Canva Sans Bold"/>
                          <a:cs typeface="Canva Sans Bold"/>
                          <a:sym typeface="Canva Sans Bold"/>
                        </a:rPr>
                        <a:t>Recommended Specification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r>
              <a:tr h="874345">
                <a:tc>
                  <a:txBody>
                    <a:bodyPr anchor="t" rtlCol="false"/>
                    <a:lstStyle/>
                    <a:p>
                      <a:pPr algn="ctr">
                        <a:lnSpc>
                          <a:spcPts val="3219"/>
                        </a:lnSpc>
                        <a:defRPr/>
                      </a:pPr>
                      <a:r>
                        <a:rPr lang="en-US" sz="2299">
                          <a:solidFill>
                            <a:srgbClr val="000000"/>
                          </a:solidFill>
                          <a:latin typeface="Open Sauce"/>
                          <a:ea typeface="Open Sauce"/>
                          <a:cs typeface="Open Sauce"/>
                          <a:sym typeface="Open Sauce"/>
                        </a:rPr>
                        <a:t>Processor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Intel Core i3 (10th Gen) or AMD Ryzen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Intel Core i5 (11th Gen) or higher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4345">
                <a:tc>
                  <a:txBody>
                    <a:bodyPr anchor="t" rtlCol="false"/>
                    <a:lstStyle/>
                    <a:p>
                      <a:pPr algn="ctr">
                        <a:lnSpc>
                          <a:spcPts val="3219"/>
                        </a:lnSpc>
                        <a:defRPr/>
                      </a:pPr>
                      <a:r>
                        <a:rPr lang="en-US" sz="2299">
                          <a:solidFill>
                            <a:srgbClr val="000000"/>
                          </a:solidFill>
                          <a:latin typeface="Open Sauce"/>
                          <a:ea typeface="Open Sauce"/>
                          <a:cs typeface="Open Sauce"/>
                          <a:sym typeface="Open Sauce"/>
                        </a:rPr>
                        <a:t>RAM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4 GB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8 GB or 16 GB (for smooth AI processing)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4345">
                <a:tc>
                  <a:txBody>
                    <a:bodyPr anchor="t" rtlCol="false"/>
                    <a:lstStyle/>
                    <a:p>
                      <a:pPr algn="ctr">
                        <a:lnSpc>
                          <a:spcPts val="3219"/>
                        </a:lnSpc>
                        <a:defRPr/>
                      </a:pPr>
                      <a:r>
                        <a:rPr lang="en-US" sz="2299">
                          <a:solidFill>
                            <a:srgbClr val="000000"/>
                          </a:solidFill>
                          <a:latin typeface="Open Sauce"/>
                          <a:ea typeface="Open Sauce"/>
                          <a:cs typeface="Open Sauce"/>
                          <a:sym typeface="Open Sauce"/>
                        </a:rPr>
                        <a:t>Storage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256 GB SSD/HDD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512 GB SSD (Faster boot &amp; compile times)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4345">
                <a:tc>
                  <a:txBody>
                    <a:bodyPr anchor="t" rtlCol="false"/>
                    <a:lstStyle/>
                    <a:p>
                      <a:pPr algn="ctr">
                        <a:lnSpc>
                          <a:spcPts val="3219"/>
                        </a:lnSpc>
                        <a:defRPr/>
                      </a:pPr>
                      <a:r>
                        <a:rPr lang="en-US" sz="2299">
                          <a:solidFill>
                            <a:srgbClr val="000000"/>
                          </a:solidFill>
                          <a:latin typeface="Open Sauce"/>
                          <a:ea typeface="Open Sauce"/>
                          <a:cs typeface="Open Sauce"/>
                          <a:sym typeface="Open Sauce"/>
                        </a:rPr>
                        <a:t>Internet Internet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Basic Broadband (2 Mbps)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High-Speed Fiber (for Cloud Database access)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3181579" y="9781504"/>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4" id="4"/>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System RequiremenT</a:t>
            </a:r>
          </a:p>
        </p:txBody>
      </p:sp>
      <p:sp>
        <p:nvSpPr>
          <p:cNvPr name="TextBox 5" id="5"/>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6" id="6"/>
          <p:cNvSpPr txBox="true"/>
          <p:nvPr/>
        </p:nvSpPr>
        <p:spPr>
          <a:xfrm rot="0">
            <a:off x="1028700" y="2367560"/>
            <a:ext cx="11757371"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System Requirement (HWrequirement)</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23449" y="3369415"/>
          <a:ext cx="17641102" cy="6105525"/>
        </p:xfrm>
        <a:graphic>
          <a:graphicData uri="http://schemas.openxmlformats.org/drawingml/2006/table">
            <a:tbl>
              <a:tblPr/>
              <a:tblGrid>
                <a:gridCol w="3501556"/>
                <a:gridCol w="6350730"/>
                <a:gridCol w="7788816"/>
              </a:tblGrid>
              <a:tr h="872218">
                <a:tc>
                  <a:txBody>
                    <a:bodyPr anchor="t" rtlCol="false"/>
                    <a:lstStyle/>
                    <a:p>
                      <a:pPr algn="ctr">
                        <a:lnSpc>
                          <a:spcPts val="3359"/>
                        </a:lnSpc>
                        <a:defRPr/>
                      </a:pPr>
                      <a:r>
                        <a:rPr lang="en-US" sz="2399" b="true">
                          <a:solidFill>
                            <a:srgbClr val="000000"/>
                          </a:solidFill>
                          <a:latin typeface="Open Sauce Bold"/>
                          <a:ea typeface="Open Sauce Bold"/>
                          <a:cs typeface="Open Sauce Bold"/>
                          <a:sym typeface="Open Sauce Bold"/>
                        </a:rPr>
                        <a:t>Category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c>
                  <a:txBody>
                    <a:bodyPr anchor="t" rtlCol="false"/>
                    <a:lstStyle/>
                    <a:p>
                      <a:pPr algn="ctr">
                        <a:lnSpc>
                          <a:spcPts val="3359"/>
                        </a:lnSpc>
                        <a:defRPr/>
                      </a:pPr>
                      <a:r>
                        <a:rPr lang="en-US" sz="2399" b="true">
                          <a:solidFill>
                            <a:srgbClr val="000000"/>
                          </a:solidFill>
                          <a:latin typeface="Open Sauce Bold"/>
                          <a:ea typeface="Open Sauce Bold"/>
                          <a:cs typeface="Open Sauce Bold"/>
                          <a:sym typeface="Open Sauce Bold"/>
                        </a:rPr>
                        <a:t>Technologies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c>
                  <a:txBody>
                    <a:bodyPr anchor="t" rtlCol="false"/>
                    <a:lstStyle/>
                    <a:p>
                      <a:pPr algn="ctr">
                        <a:lnSpc>
                          <a:spcPts val="3359"/>
                        </a:lnSpc>
                        <a:defRPr/>
                      </a:pPr>
                      <a:r>
                        <a:rPr lang="en-US" sz="2399" b="true">
                          <a:solidFill>
                            <a:srgbClr val="000000"/>
                          </a:solidFill>
                          <a:latin typeface="Open Sauce Bold"/>
                          <a:ea typeface="Open Sauce Bold"/>
                          <a:cs typeface="Open Sauce Bold"/>
                          <a:sym typeface="Open Sauce Bold"/>
                        </a:rPr>
                        <a:t>Tool 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ADECD"/>
                    </a:solidFill>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React.js, Tailwind CSS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Building the user interface (UI)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Backend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Node.js, Express.js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Handling server logic and API requests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DataBase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MySQL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Storing student data and attendance records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AI/ML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Python (Scikit-learn)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Running the predictive analysis models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IDE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VS-Code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Writing and debugging code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2218">
                <a:tc>
                  <a:txBody>
                    <a:bodyPr anchor="t" rtlCol="false"/>
                    <a:lstStyle/>
                    <a:p>
                      <a:pPr algn="ctr">
                        <a:lnSpc>
                          <a:spcPts val="3219"/>
                        </a:lnSpc>
                        <a:defRPr/>
                      </a:pPr>
                      <a:r>
                        <a:rPr lang="en-US" sz="2299">
                          <a:solidFill>
                            <a:srgbClr val="000000"/>
                          </a:solidFill>
                          <a:latin typeface="Open Sauce"/>
                          <a:ea typeface="Open Sauce"/>
                          <a:cs typeface="Open Sauce"/>
                          <a:sym typeface="Open Sauce"/>
                        </a:rPr>
                        <a:t>Testing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Thunder Client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399">
                          <a:solidFill>
                            <a:srgbClr val="000000"/>
                          </a:solidFill>
                          <a:latin typeface="Open Sauce"/>
                          <a:ea typeface="Open Sauce"/>
                          <a:cs typeface="Open Sauce"/>
                          <a:sym typeface="Open Sauce"/>
                        </a:rPr>
                        <a:t>Testing API endpoints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3181579" y="9781504"/>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
        <p:nvSpPr>
          <p:cNvPr name="TextBox 4" id="4"/>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System RequiremenT</a:t>
            </a:r>
          </a:p>
        </p:txBody>
      </p:sp>
      <p:sp>
        <p:nvSpPr>
          <p:cNvPr name="TextBox 5" id="5"/>
          <p:cNvSpPr txBox="true"/>
          <p:nvPr/>
        </p:nvSpPr>
        <p:spPr>
          <a:xfrm rot="0">
            <a:off x="941245" y="1890914"/>
            <a:ext cx="11757371"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System Requirement (SWrequirement)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7425780" y="1842984"/>
            <a:ext cx="3436440" cy="6601032"/>
          </a:xfrm>
          <a:custGeom>
            <a:avLst/>
            <a:gdLst/>
            <a:ahLst/>
            <a:cxnLst/>
            <a:rect r="r" b="b" t="t" l="l"/>
            <a:pathLst>
              <a:path h="6601032" w="3436440">
                <a:moveTo>
                  <a:pt x="0" y="0"/>
                </a:moveTo>
                <a:lnTo>
                  <a:pt x="3436440" y="0"/>
                </a:lnTo>
                <a:lnTo>
                  <a:pt x="3436440" y="6601032"/>
                </a:lnTo>
                <a:lnTo>
                  <a:pt x="0" y="6601032"/>
                </a:lnTo>
                <a:lnTo>
                  <a:pt x="0" y="0"/>
                </a:lnTo>
                <a:close/>
              </a:path>
            </a:pathLst>
          </a:custGeom>
          <a:blipFill>
            <a:blip r:embed="rId2"/>
            <a:stretch>
              <a:fillRect l="0" t="0" r="0" b="0"/>
            </a:stretch>
          </a:blipFill>
        </p:spPr>
      </p:sp>
      <p:sp>
        <p:nvSpPr>
          <p:cNvPr name="Freeform 3" id="3"/>
          <p:cNvSpPr/>
          <p:nvPr/>
        </p:nvSpPr>
        <p:spPr>
          <a:xfrm flipH="false" flipV="false" rot="0">
            <a:off x="6747099" y="467396"/>
            <a:ext cx="5035283" cy="9819604"/>
          </a:xfrm>
          <a:custGeom>
            <a:avLst/>
            <a:gdLst/>
            <a:ahLst/>
            <a:cxnLst/>
            <a:rect r="r" b="b" t="t" l="l"/>
            <a:pathLst>
              <a:path h="9819604" w="5035283">
                <a:moveTo>
                  <a:pt x="0" y="0"/>
                </a:moveTo>
                <a:lnTo>
                  <a:pt x="5035283" y="0"/>
                </a:lnTo>
                <a:lnTo>
                  <a:pt x="5035283" y="9819604"/>
                </a:lnTo>
                <a:lnTo>
                  <a:pt x="0" y="9819604"/>
                </a:lnTo>
                <a:lnTo>
                  <a:pt x="0" y="0"/>
                </a:lnTo>
                <a:close/>
              </a:path>
            </a:pathLst>
          </a:custGeom>
          <a:blipFill>
            <a:blip r:embed="rId2"/>
            <a:stretch>
              <a:fillRect l="-493" t="0" r="-1029" b="0"/>
            </a:stretch>
          </a:blipFill>
        </p:spPr>
      </p:sp>
      <p:sp>
        <p:nvSpPr>
          <p:cNvPr name="TextBox 4" id="4"/>
          <p:cNvSpPr txBox="true"/>
          <p:nvPr/>
        </p:nvSpPr>
        <p:spPr>
          <a:xfrm rot="0">
            <a:off x="13181579" y="9781504"/>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12</a:t>
            </a:r>
          </a:p>
        </p:txBody>
      </p:sp>
      <p:sp>
        <p:nvSpPr>
          <p:cNvPr name="TextBox 5" id="5"/>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USEcase</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13</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METHODOLOGY</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76909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Requirement Specification</a:t>
            </a:r>
          </a:p>
        </p:txBody>
      </p:sp>
      <p:sp>
        <p:nvSpPr>
          <p:cNvPr name="TextBox 6" id="6"/>
          <p:cNvSpPr txBox="true"/>
          <p:nvPr/>
        </p:nvSpPr>
        <p:spPr>
          <a:xfrm rot="0">
            <a:off x="5382720" y="3246120"/>
            <a:ext cx="5606820" cy="2155190"/>
          </a:xfrm>
          <a:prstGeom prst="rect">
            <a:avLst/>
          </a:prstGeom>
        </p:spPr>
        <p:txBody>
          <a:bodyPr anchor="t" rtlCol="false" tIns="0" lIns="0" bIns="0" rIns="0">
            <a:spAutoFit/>
          </a:bodyPr>
          <a:lstStyle/>
          <a:p>
            <a:pPr algn="l" marL="474981" indent="-237491" lvl="1">
              <a:lnSpc>
                <a:spcPts val="3520"/>
              </a:lnSpc>
              <a:spcBef>
                <a:spcPct val="0"/>
              </a:spcBef>
              <a:buFont typeface="Arial"/>
              <a:buChar char="•"/>
            </a:pPr>
            <a:r>
              <a:rPr lang="en-US" sz="2200">
                <a:solidFill>
                  <a:srgbClr val="331B0D"/>
                </a:solidFill>
                <a:latin typeface="Open Sauce"/>
                <a:ea typeface="Open Sauce"/>
                <a:cs typeface="Open Sauce"/>
                <a:sym typeface="Open Sauce"/>
              </a:rPr>
              <a:t>Defines th</a:t>
            </a:r>
            <a:r>
              <a:rPr lang="en-US" sz="2200" strike="noStrike" u="none">
                <a:solidFill>
                  <a:srgbClr val="331B0D"/>
                </a:solidFill>
                <a:latin typeface="Open Sauce"/>
                <a:ea typeface="Open Sauce"/>
                <a:cs typeface="Open Sauce"/>
                <a:sym typeface="Open Sauce"/>
              </a:rPr>
              <a:t>e functional and non-function</a:t>
            </a:r>
            <a:r>
              <a:rPr lang="en-US" sz="2200" strike="noStrike" u="none">
                <a:solidFill>
                  <a:srgbClr val="331B0D"/>
                </a:solidFill>
                <a:latin typeface="Open Sauce"/>
                <a:ea typeface="Open Sauce"/>
                <a:cs typeface="Open Sauce"/>
                <a:sym typeface="Open Sauce"/>
              </a:rPr>
              <a:t>al requirem</a:t>
            </a:r>
            <a:r>
              <a:rPr lang="en-US" sz="2200" strike="noStrike" u="none">
                <a:solidFill>
                  <a:srgbClr val="331B0D"/>
                </a:solidFill>
                <a:latin typeface="Open Sauce"/>
                <a:ea typeface="Open Sauce"/>
                <a:cs typeface="Open Sauce"/>
                <a:sym typeface="Open Sauce"/>
              </a:rPr>
              <a:t>ent</a:t>
            </a:r>
            <a:r>
              <a:rPr lang="en-US" sz="2200" strike="noStrike" u="none">
                <a:solidFill>
                  <a:srgbClr val="331B0D"/>
                </a:solidFill>
                <a:latin typeface="Open Sauce"/>
                <a:ea typeface="Open Sauce"/>
                <a:cs typeface="Open Sauce"/>
                <a:sym typeface="Open Sauce"/>
              </a:rPr>
              <a:t>s</a:t>
            </a:r>
            <a:r>
              <a:rPr lang="en-US" sz="2200" strike="noStrike" u="none">
                <a:solidFill>
                  <a:srgbClr val="331B0D"/>
                </a:solidFill>
                <a:latin typeface="Open Sauce"/>
                <a:ea typeface="Open Sauce"/>
                <a:cs typeface="Open Sauce"/>
                <a:sym typeface="Open Sauce"/>
              </a:rPr>
              <a:t> of the system.</a:t>
            </a:r>
          </a:p>
          <a:p>
            <a:pPr algn="l" marL="474981" indent="-237491" lvl="1">
              <a:lnSpc>
                <a:spcPts val="3520"/>
              </a:lnSpc>
              <a:spcBef>
                <a:spcPct val="0"/>
              </a:spcBef>
              <a:buFont typeface="Arial"/>
              <a:buChar char="•"/>
            </a:pPr>
            <a:r>
              <a:rPr lang="en-US" sz="2200" strike="noStrike" u="none">
                <a:solidFill>
                  <a:srgbClr val="331B0D"/>
                </a:solidFill>
                <a:latin typeface="Open Sauce"/>
                <a:ea typeface="Open Sauce"/>
                <a:cs typeface="Open Sauce"/>
                <a:sym typeface="Open Sauce"/>
              </a:rPr>
              <a:t>Establishes system scope, constraints, and expected outcomes.</a:t>
            </a:r>
          </a:p>
        </p:txBody>
      </p:sp>
      <p:sp>
        <p:nvSpPr>
          <p:cNvPr name="TextBox 7" id="7"/>
          <p:cNvSpPr txBox="true"/>
          <p:nvPr/>
        </p:nvSpPr>
        <p:spPr>
          <a:xfrm rot="0">
            <a:off x="1165248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User Role Definition</a:t>
            </a:r>
          </a:p>
        </p:txBody>
      </p:sp>
      <p:sp>
        <p:nvSpPr>
          <p:cNvPr name="TextBox 8" id="8"/>
          <p:cNvSpPr txBox="true"/>
          <p:nvPr/>
        </p:nvSpPr>
        <p:spPr>
          <a:xfrm rot="0">
            <a:off x="11375910" y="3246120"/>
            <a:ext cx="5606820" cy="1717040"/>
          </a:xfrm>
          <a:prstGeom prst="rect">
            <a:avLst/>
          </a:prstGeom>
        </p:spPr>
        <p:txBody>
          <a:bodyPr anchor="t" rtlCol="false" tIns="0" lIns="0" bIns="0" rIns="0">
            <a:spAutoFit/>
          </a:bodyPr>
          <a:lstStyle/>
          <a:p>
            <a:pPr algn="l" marL="474981" indent="-237491" lvl="1">
              <a:lnSpc>
                <a:spcPts val="3520"/>
              </a:lnSpc>
              <a:spcBef>
                <a:spcPct val="0"/>
              </a:spcBef>
              <a:buFont typeface="Arial"/>
              <a:buChar char="•"/>
            </a:pPr>
            <a:r>
              <a:rPr lang="en-US" sz="2200">
                <a:solidFill>
                  <a:srgbClr val="331B0D"/>
                </a:solidFill>
                <a:latin typeface="Open Sauce"/>
                <a:ea typeface="Open Sauce"/>
                <a:cs typeface="Open Sauce"/>
                <a:sym typeface="Open Sauce"/>
              </a:rPr>
              <a:t>Id</a:t>
            </a:r>
            <a:r>
              <a:rPr lang="en-US" sz="2200" strike="noStrike" u="none">
                <a:solidFill>
                  <a:srgbClr val="331B0D"/>
                </a:solidFill>
                <a:latin typeface="Open Sauce"/>
                <a:ea typeface="Open Sauce"/>
                <a:cs typeface="Open Sauce"/>
                <a:sym typeface="Open Sauce"/>
              </a:rPr>
              <a:t>entifies system users: Admin, Faculty, and Students.</a:t>
            </a:r>
          </a:p>
          <a:p>
            <a:pPr algn="l" marL="474981" indent="-237491" lvl="1">
              <a:lnSpc>
                <a:spcPts val="3520"/>
              </a:lnSpc>
              <a:spcBef>
                <a:spcPct val="0"/>
              </a:spcBef>
              <a:buFont typeface="Arial"/>
              <a:buChar char="•"/>
            </a:pPr>
            <a:r>
              <a:rPr lang="en-US" sz="2200" strike="noStrike" u="none">
                <a:solidFill>
                  <a:srgbClr val="331B0D"/>
                </a:solidFill>
                <a:latin typeface="Open Sauce"/>
                <a:ea typeface="Open Sauce"/>
                <a:cs typeface="Open Sauce"/>
                <a:sym typeface="Open Sauce"/>
              </a:rPr>
              <a:t>Defines access levels and role-based permissions.</a:t>
            </a:r>
          </a:p>
        </p:txBody>
      </p:sp>
      <p:sp>
        <p:nvSpPr>
          <p:cNvPr name="TextBox 9" id="9"/>
          <p:cNvSpPr txBox="true"/>
          <p:nvPr/>
        </p:nvSpPr>
        <p:spPr>
          <a:xfrm rot="0">
            <a:off x="576909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 AI Featu</a:t>
            </a:r>
            <a:r>
              <a:rPr lang="en-US" b="true" sz="2400" strike="noStrike" u="none">
                <a:solidFill>
                  <a:srgbClr val="8C7753"/>
                </a:solidFill>
                <a:latin typeface="Open Sauce Bold"/>
                <a:ea typeface="Open Sauce Bold"/>
                <a:cs typeface="Open Sauce Bold"/>
                <a:sym typeface="Open Sauce Bold"/>
              </a:rPr>
              <a:t>re Integra</a:t>
            </a:r>
            <a:r>
              <a:rPr lang="en-US" b="true" sz="2400" strike="noStrike" u="none">
                <a:solidFill>
                  <a:srgbClr val="8C7753"/>
                </a:solidFill>
                <a:latin typeface="Open Sauce Bold"/>
                <a:ea typeface="Open Sauce Bold"/>
                <a:cs typeface="Open Sauce Bold"/>
                <a:sym typeface="Open Sauce Bold"/>
              </a:rPr>
              <a:t>tio</a:t>
            </a:r>
            <a:r>
              <a:rPr lang="en-US" b="true" sz="2400" strike="noStrike" u="none">
                <a:solidFill>
                  <a:srgbClr val="8C7753"/>
                </a:solidFill>
                <a:latin typeface="Open Sauce Bold"/>
                <a:ea typeface="Open Sauce Bold"/>
                <a:cs typeface="Open Sauce Bold"/>
                <a:sym typeface="Open Sauce Bold"/>
              </a:rPr>
              <a:t>n</a:t>
            </a:r>
          </a:p>
        </p:txBody>
      </p:sp>
      <p:sp>
        <p:nvSpPr>
          <p:cNvPr name="TextBox 10" id="10"/>
          <p:cNvSpPr txBox="true"/>
          <p:nvPr/>
        </p:nvSpPr>
        <p:spPr>
          <a:xfrm rot="0">
            <a:off x="5382720" y="6407785"/>
            <a:ext cx="5606820" cy="2155190"/>
          </a:xfrm>
          <a:prstGeom prst="rect">
            <a:avLst/>
          </a:prstGeom>
        </p:spPr>
        <p:txBody>
          <a:bodyPr anchor="t" rtlCol="false" tIns="0" lIns="0" bIns="0" rIns="0">
            <a:spAutoFit/>
          </a:bodyPr>
          <a:lstStyle/>
          <a:p>
            <a:pPr algn="l" marL="474981" indent="-237491" lvl="1">
              <a:lnSpc>
                <a:spcPts val="3520"/>
              </a:lnSpc>
              <a:spcBef>
                <a:spcPct val="0"/>
              </a:spcBef>
              <a:buFont typeface="Arial"/>
              <a:buChar char="•"/>
            </a:pPr>
            <a:r>
              <a:rPr lang="en-US" sz="2200">
                <a:solidFill>
                  <a:srgbClr val="331B0D"/>
                </a:solidFill>
                <a:latin typeface="Open Sauce"/>
                <a:ea typeface="Open Sauce"/>
                <a:cs typeface="Open Sauce"/>
                <a:sym typeface="Open Sauce"/>
              </a:rPr>
              <a:t>Specifies AI-bas</a:t>
            </a:r>
            <a:r>
              <a:rPr lang="en-US" sz="2200" strike="noStrike" u="none">
                <a:solidFill>
                  <a:srgbClr val="331B0D"/>
                </a:solidFill>
                <a:latin typeface="Open Sauce"/>
                <a:ea typeface="Open Sauce"/>
                <a:cs typeface="Open Sauce"/>
                <a:sym typeface="Open Sauce"/>
              </a:rPr>
              <a:t>ed functionalities such as performance prediction and academic analytics.</a:t>
            </a:r>
          </a:p>
          <a:p>
            <a:pPr algn="l" marL="474981" indent="-237491" lvl="1">
              <a:lnSpc>
                <a:spcPts val="3520"/>
              </a:lnSpc>
              <a:spcBef>
                <a:spcPct val="0"/>
              </a:spcBef>
              <a:buFont typeface="Arial"/>
              <a:buChar char="•"/>
            </a:pPr>
            <a:r>
              <a:rPr lang="en-US" sz="2200" strike="noStrike" u="none">
                <a:solidFill>
                  <a:srgbClr val="331B0D"/>
                </a:solidFill>
                <a:latin typeface="Open Sauce"/>
                <a:ea typeface="Open Sauce"/>
                <a:cs typeface="Open Sauce"/>
                <a:sym typeface="Open Sauce"/>
              </a:rPr>
              <a:t>Supports data-driven decision-making through intelligent insights.</a:t>
            </a:r>
          </a:p>
        </p:txBody>
      </p:sp>
      <p:sp>
        <p:nvSpPr>
          <p:cNvPr name="TextBox 11" id="11"/>
          <p:cNvSpPr txBox="true"/>
          <p:nvPr/>
        </p:nvSpPr>
        <p:spPr>
          <a:xfrm rot="0">
            <a:off x="1165248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Institutional Alignment</a:t>
            </a:r>
          </a:p>
        </p:txBody>
      </p:sp>
      <p:sp>
        <p:nvSpPr>
          <p:cNvPr name="TextBox 12" id="12"/>
          <p:cNvSpPr txBox="true"/>
          <p:nvPr/>
        </p:nvSpPr>
        <p:spPr>
          <a:xfrm rot="0">
            <a:off x="11375910" y="6504305"/>
            <a:ext cx="5606820" cy="2155190"/>
          </a:xfrm>
          <a:prstGeom prst="rect">
            <a:avLst/>
          </a:prstGeom>
        </p:spPr>
        <p:txBody>
          <a:bodyPr anchor="t" rtlCol="false" tIns="0" lIns="0" bIns="0" rIns="0">
            <a:spAutoFit/>
          </a:bodyPr>
          <a:lstStyle/>
          <a:p>
            <a:pPr algn="l" marL="474981" indent="-237491" lvl="1">
              <a:lnSpc>
                <a:spcPts val="3520"/>
              </a:lnSpc>
              <a:spcBef>
                <a:spcPct val="0"/>
              </a:spcBef>
              <a:buFont typeface="Arial"/>
              <a:buChar char="•"/>
            </a:pPr>
            <a:r>
              <a:rPr lang="en-US" sz="2200">
                <a:solidFill>
                  <a:srgbClr val="331B0D"/>
                </a:solidFill>
                <a:latin typeface="Open Sauce"/>
                <a:ea typeface="Open Sauce"/>
                <a:cs typeface="Open Sauce"/>
                <a:sym typeface="Open Sauce"/>
              </a:rPr>
              <a:t>En</a:t>
            </a:r>
            <a:r>
              <a:rPr lang="en-US" sz="2200" strike="noStrike" u="none">
                <a:solidFill>
                  <a:srgbClr val="331B0D"/>
                </a:solidFill>
                <a:latin typeface="Open Sauce"/>
                <a:ea typeface="Open Sauce"/>
                <a:cs typeface="Open Sauce"/>
                <a:sym typeface="Open Sauce"/>
              </a:rPr>
              <a:t>sures the system fulfills academic and administrative requirements of institutions.</a:t>
            </a:r>
          </a:p>
          <a:p>
            <a:pPr algn="l" marL="474981" indent="-237491" lvl="1">
              <a:lnSpc>
                <a:spcPts val="3520"/>
              </a:lnSpc>
              <a:spcBef>
                <a:spcPct val="0"/>
              </a:spcBef>
              <a:buFont typeface="Arial"/>
              <a:buChar char="•"/>
            </a:pPr>
            <a:r>
              <a:rPr lang="en-US" sz="2200" strike="noStrike" u="none">
                <a:solidFill>
                  <a:srgbClr val="331B0D"/>
                </a:solidFill>
                <a:latin typeface="Open Sauce"/>
                <a:ea typeface="Open Sauce"/>
                <a:cs typeface="Open Sauce"/>
                <a:sym typeface="Open Sauce"/>
              </a:rPr>
              <a:t>Enhances operational efficiency and academic performance monitoring.</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Software Requirements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14</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METHODOLOGY</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092536" y="3778572"/>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Processor</a:t>
            </a:r>
          </a:p>
        </p:txBody>
      </p:sp>
      <p:sp>
        <p:nvSpPr>
          <p:cNvPr name="TextBox 6" id="6"/>
          <p:cNvSpPr txBox="true"/>
          <p:nvPr/>
        </p:nvSpPr>
        <p:spPr>
          <a:xfrm rot="0">
            <a:off x="4706166" y="4357692"/>
            <a:ext cx="5606820" cy="94488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Int</a:t>
            </a:r>
            <a:r>
              <a:rPr lang="en-US" sz="2400" strike="noStrike" u="none">
                <a:solidFill>
                  <a:srgbClr val="331B0D"/>
                </a:solidFill>
                <a:latin typeface="Open Sauce"/>
                <a:ea typeface="Open Sauce"/>
                <a:cs typeface="Open Sauce"/>
                <a:sym typeface="Open Sauce"/>
              </a:rPr>
              <a:t>el i5 / i7 </a:t>
            </a:r>
            <a:r>
              <a:rPr lang="en-US" sz="2400" strike="noStrike" u="none">
                <a:solidFill>
                  <a:srgbClr val="331B0D"/>
                </a:solidFill>
                <a:latin typeface="Open Sauce"/>
                <a:ea typeface="Open Sauce"/>
                <a:cs typeface="Open Sauce"/>
                <a:sym typeface="Open Sauce"/>
              </a:rPr>
              <a:t>(8th G</a:t>
            </a:r>
            <a:r>
              <a:rPr lang="en-US" sz="2400" strike="noStrike" u="none">
                <a:solidFill>
                  <a:srgbClr val="331B0D"/>
                </a:solidFill>
                <a:latin typeface="Open Sauce"/>
                <a:ea typeface="Open Sauce"/>
                <a:cs typeface="Open Sauce"/>
                <a:sym typeface="Open Sauce"/>
              </a:rPr>
              <a:t>en or above)</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OR AMD Ryzen 5 / Ryzen 7</a:t>
            </a:r>
          </a:p>
        </p:txBody>
      </p:sp>
      <p:sp>
        <p:nvSpPr>
          <p:cNvPr name="TextBox 7" id="7"/>
          <p:cNvSpPr txBox="true"/>
          <p:nvPr/>
        </p:nvSpPr>
        <p:spPr>
          <a:xfrm rot="0">
            <a:off x="10975926" y="3778572"/>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RAM</a:t>
            </a:r>
          </a:p>
        </p:txBody>
      </p:sp>
      <p:sp>
        <p:nvSpPr>
          <p:cNvPr name="TextBox 8" id="8"/>
          <p:cNvSpPr txBox="true"/>
          <p:nvPr/>
        </p:nvSpPr>
        <p:spPr>
          <a:xfrm rot="0">
            <a:off x="10699356" y="4357692"/>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M</a:t>
            </a:r>
            <a:r>
              <a:rPr lang="en-US" sz="2400" strike="noStrike" u="none">
                <a:solidFill>
                  <a:srgbClr val="331B0D"/>
                </a:solidFill>
                <a:latin typeface="Open Sauce"/>
                <a:ea typeface="Open Sauce"/>
                <a:cs typeface="Open Sauce"/>
                <a:sym typeface="Open Sauce"/>
              </a:rPr>
              <a:t>inimum: 8 GB</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Recommended: 16 GB (for AI model training &amp; backend processing)</a:t>
            </a:r>
          </a:p>
        </p:txBody>
      </p:sp>
      <p:sp>
        <p:nvSpPr>
          <p:cNvPr name="TextBox 9" id="9"/>
          <p:cNvSpPr txBox="true"/>
          <p:nvPr/>
        </p:nvSpPr>
        <p:spPr>
          <a:xfrm rot="0">
            <a:off x="5092536" y="6817047"/>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Storage</a:t>
            </a:r>
          </a:p>
        </p:txBody>
      </p:sp>
      <p:sp>
        <p:nvSpPr>
          <p:cNvPr name="TextBox 10" id="10"/>
          <p:cNvSpPr txBox="true"/>
          <p:nvPr/>
        </p:nvSpPr>
        <p:spPr>
          <a:xfrm rot="0">
            <a:off x="4618246" y="7490782"/>
            <a:ext cx="5606820" cy="94488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Mi</a:t>
            </a:r>
            <a:r>
              <a:rPr lang="en-US" sz="2400" strike="noStrike" u="none">
                <a:solidFill>
                  <a:srgbClr val="331B0D"/>
                </a:solidFill>
                <a:latin typeface="Open Sauce"/>
                <a:ea typeface="Open Sauce"/>
                <a:cs typeface="Open Sauce"/>
                <a:sym typeface="Open Sauce"/>
              </a:rPr>
              <a:t>nimum: 256 GB SSD</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Recommended: 512 GB SSD</a:t>
            </a:r>
          </a:p>
        </p:txBody>
      </p:sp>
      <p:sp>
        <p:nvSpPr>
          <p:cNvPr name="TextBox 11" id="11"/>
          <p:cNvSpPr txBox="true"/>
          <p:nvPr/>
        </p:nvSpPr>
        <p:spPr>
          <a:xfrm rot="0">
            <a:off x="10975926" y="6817047"/>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GPU</a:t>
            </a:r>
          </a:p>
        </p:txBody>
      </p:sp>
      <p:sp>
        <p:nvSpPr>
          <p:cNvPr name="TextBox 12" id="12"/>
          <p:cNvSpPr txBox="true"/>
          <p:nvPr/>
        </p:nvSpPr>
        <p:spPr>
          <a:xfrm rot="0">
            <a:off x="10699356" y="7490782"/>
            <a:ext cx="5606820" cy="94488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NVIDIA GPU</a:t>
            </a:r>
            <a:r>
              <a:rPr lang="en-US" sz="2400" strike="noStrike" u="none">
                <a:solidFill>
                  <a:srgbClr val="331B0D"/>
                </a:solidFill>
                <a:latin typeface="Open Sauce"/>
                <a:ea typeface="Open Sauce"/>
                <a:cs typeface="Open Sauce"/>
                <a:sym typeface="Open Sauce"/>
              </a:rPr>
              <a:t> with CUDA support (if advanced ML models are used)</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Hardware Requirements</a:t>
            </a:r>
          </a:p>
        </p:txBody>
      </p:sp>
      <p:sp>
        <p:nvSpPr>
          <p:cNvPr name="TextBox 14" id="14"/>
          <p:cNvSpPr txBox="true"/>
          <p:nvPr/>
        </p:nvSpPr>
        <p:spPr>
          <a:xfrm rot="0">
            <a:off x="7333737" y="2361251"/>
            <a:ext cx="5782659" cy="4552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Developnment Server</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15</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METHODOLOGY</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09253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Processor</a:t>
            </a:r>
          </a:p>
        </p:txBody>
      </p:sp>
      <p:sp>
        <p:nvSpPr>
          <p:cNvPr name="TextBox 6" id="6"/>
          <p:cNvSpPr txBox="true"/>
          <p:nvPr/>
        </p:nvSpPr>
        <p:spPr>
          <a:xfrm rot="0">
            <a:off x="4706166" y="4357692"/>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2 vCPU</a:t>
            </a:r>
            <a:r>
              <a:rPr lang="en-US" sz="2400" strike="noStrike" u="none">
                <a:solidFill>
                  <a:srgbClr val="331B0D"/>
                </a:solidFill>
                <a:latin typeface="Open Sauce"/>
                <a:ea typeface="Open Sauce"/>
                <a:cs typeface="Open Sauce"/>
                <a:sym typeface="Open Sauce"/>
              </a:rPr>
              <a:t> (minimum)</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4 vCPU (</a:t>
            </a:r>
            <a:r>
              <a:rPr lang="en-US" sz="2400" strike="noStrike" u="none">
                <a:solidFill>
                  <a:srgbClr val="331B0D"/>
                </a:solidFill>
                <a:latin typeface="Open Sauce"/>
                <a:ea typeface="Open Sauce"/>
                <a:cs typeface="Open Sauce"/>
                <a:sym typeface="Open Sauce"/>
              </a:rPr>
              <a:t>recomm</a:t>
            </a:r>
            <a:r>
              <a:rPr lang="en-US" sz="2400" strike="noStrike" u="none">
                <a:solidFill>
                  <a:srgbClr val="331B0D"/>
                </a:solidFill>
                <a:latin typeface="Open Sauce"/>
                <a:ea typeface="Open Sauce"/>
                <a:cs typeface="Open Sauce"/>
                <a:sym typeface="Open Sauce"/>
              </a:rPr>
              <a:t>ended for large institutions)</a:t>
            </a:r>
          </a:p>
        </p:txBody>
      </p:sp>
      <p:sp>
        <p:nvSpPr>
          <p:cNvPr name="TextBox 7" id="7"/>
          <p:cNvSpPr txBox="true"/>
          <p:nvPr/>
        </p:nvSpPr>
        <p:spPr>
          <a:xfrm rot="0">
            <a:off x="1097592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RAM</a:t>
            </a:r>
          </a:p>
        </p:txBody>
      </p:sp>
      <p:sp>
        <p:nvSpPr>
          <p:cNvPr name="TextBox 8" id="8"/>
          <p:cNvSpPr txBox="true"/>
          <p:nvPr/>
        </p:nvSpPr>
        <p:spPr>
          <a:xfrm rot="0">
            <a:off x="10699356" y="4357692"/>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M</a:t>
            </a:r>
            <a:r>
              <a:rPr lang="en-US" sz="2400" strike="noStrike" u="none">
                <a:solidFill>
                  <a:srgbClr val="331B0D"/>
                </a:solidFill>
                <a:latin typeface="Open Sauce"/>
                <a:ea typeface="Open Sauce"/>
                <a:cs typeface="Open Sauce"/>
                <a:sym typeface="Open Sauce"/>
              </a:rPr>
              <a:t>inimum: 2 GB</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Recommended: 4–8 GB (for AI processing &amp; concurrent users)</a:t>
            </a:r>
          </a:p>
        </p:txBody>
      </p:sp>
      <p:sp>
        <p:nvSpPr>
          <p:cNvPr name="TextBox 9" id="9"/>
          <p:cNvSpPr txBox="true"/>
          <p:nvPr/>
        </p:nvSpPr>
        <p:spPr>
          <a:xfrm rot="0">
            <a:off x="5092536" y="6572411"/>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Storage</a:t>
            </a:r>
          </a:p>
        </p:txBody>
      </p:sp>
      <p:sp>
        <p:nvSpPr>
          <p:cNvPr name="TextBox 10" id="10"/>
          <p:cNvSpPr txBox="true"/>
          <p:nvPr/>
        </p:nvSpPr>
        <p:spPr>
          <a:xfrm rot="0">
            <a:off x="4618246" y="7246146"/>
            <a:ext cx="5606820" cy="94488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20–50 GB SSD (depending on student data size)</a:t>
            </a:r>
          </a:p>
        </p:txBody>
      </p:sp>
      <p:sp>
        <p:nvSpPr>
          <p:cNvPr name="TextBox 11" id="11"/>
          <p:cNvSpPr txBox="true"/>
          <p:nvPr/>
        </p:nvSpPr>
        <p:spPr>
          <a:xfrm rot="0">
            <a:off x="10975926" y="6572411"/>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Hosting Environment</a:t>
            </a:r>
          </a:p>
        </p:txBody>
      </p:sp>
      <p:sp>
        <p:nvSpPr>
          <p:cNvPr name="TextBox 12" id="12"/>
          <p:cNvSpPr txBox="true"/>
          <p:nvPr/>
        </p:nvSpPr>
        <p:spPr>
          <a:xfrm rot="0">
            <a:off x="10482023" y="7246146"/>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Runs on</a:t>
            </a:r>
            <a:r>
              <a:rPr lang="en-US" sz="2400" strike="noStrike" u="none">
                <a:solidFill>
                  <a:srgbClr val="331B0D"/>
                </a:solidFill>
                <a:latin typeface="Open Sauce"/>
                <a:ea typeface="Open Sauce"/>
                <a:cs typeface="Open Sauce"/>
                <a:sym typeface="Open Sauce"/>
              </a:rPr>
              <a:t> institutional/local machine</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Backend hosted using Node.js + Express locally</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Hardware Requirements</a:t>
            </a:r>
          </a:p>
        </p:txBody>
      </p:sp>
      <p:sp>
        <p:nvSpPr>
          <p:cNvPr name="TextBox 14" id="14"/>
          <p:cNvSpPr txBox="true"/>
          <p:nvPr/>
        </p:nvSpPr>
        <p:spPr>
          <a:xfrm rot="0">
            <a:off x="7321662" y="2361251"/>
            <a:ext cx="5806808" cy="8743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Production Server </a:t>
            </a:r>
          </a:p>
          <a:p>
            <a:pPr algn="ctr">
              <a:lnSpc>
                <a:spcPts val="3300"/>
              </a:lnSpc>
            </a:pPr>
            <a:r>
              <a:rPr lang="en-US" sz="3300" spc="-198">
                <a:solidFill>
                  <a:srgbClr val="331B0D"/>
                </a:solidFill>
                <a:latin typeface="Open Sauce"/>
                <a:ea typeface="Open Sauce"/>
                <a:cs typeface="Open Sauce"/>
                <a:sym typeface="Open Sauce"/>
              </a:rPr>
              <a:t>(Deployment Environment)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338074" y="229385"/>
            <a:ext cx="17259300" cy="10057615"/>
          </a:xfrm>
          <a:custGeom>
            <a:avLst/>
            <a:gdLst/>
            <a:ahLst/>
            <a:cxnLst/>
            <a:rect r="r" b="b" t="t" l="l"/>
            <a:pathLst>
              <a:path h="10057615" w="17259300">
                <a:moveTo>
                  <a:pt x="0" y="0"/>
                </a:moveTo>
                <a:lnTo>
                  <a:pt x="17259300" y="0"/>
                </a:lnTo>
                <a:lnTo>
                  <a:pt x="17259300" y="10057615"/>
                </a:lnTo>
                <a:lnTo>
                  <a:pt x="0" y="10057615"/>
                </a:lnTo>
                <a:lnTo>
                  <a:pt x="0" y="0"/>
                </a:lnTo>
                <a:close/>
              </a:path>
            </a:pathLst>
          </a:custGeom>
          <a:blipFill>
            <a:blip r:embed="rId2"/>
            <a:stretch>
              <a:fillRect l="0" t="-51" r="0" b="-51"/>
            </a:stretch>
          </a:blipFill>
        </p:spPr>
      </p:sp>
      <p:sp>
        <p:nvSpPr>
          <p:cNvPr name="TextBox 3" id="3"/>
          <p:cNvSpPr txBox="true"/>
          <p:nvPr/>
        </p:nvSpPr>
        <p:spPr>
          <a:xfrm rot="0">
            <a:off x="13181579" y="9781504"/>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16</a:t>
            </a:r>
          </a:p>
        </p:txBody>
      </p:sp>
      <p:sp>
        <p:nvSpPr>
          <p:cNvPr name="TextBox 4" id="4"/>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ER Diagram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4984156" y="0"/>
            <a:ext cx="8837854" cy="10192349"/>
            <a:chOff x="0" y="0"/>
            <a:chExt cx="1170100" cy="1349431"/>
          </a:xfrm>
        </p:grpSpPr>
        <p:sp>
          <p:nvSpPr>
            <p:cNvPr name="Freeform 3" id="3"/>
            <p:cNvSpPr/>
            <p:nvPr/>
          </p:nvSpPr>
          <p:spPr>
            <a:xfrm flipH="false" flipV="false" rot="0">
              <a:off x="0" y="0"/>
              <a:ext cx="1170100" cy="1349431"/>
            </a:xfrm>
            <a:custGeom>
              <a:avLst/>
              <a:gdLst/>
              <a:ahLst/>
              <a:cxnLst/>
              <a:rect r="r" b="b" t="t" l="l"/>
              <a:pathLst>
                <a:path h="1349431" w="1170100">
                  <a:moveTo>
                    <a:pt x="0" y="0"/>
                  </a:moveTo>
                  <a:lnTo>
                    <a:pt x="1170100" y="0"/>
                  </a:lnTo>
                  <a:lnTo>
                    <a:pt x="1170100" y="1349431"/>
                  </a:lnTo>
                  <a:lnTo>
                    <a:pt x="0" y="1349431"/>
                  </a:lnTo>
                  <a:close/>
                </a:path>
              </a:pathLst>
            </a:custGeom>
            <a:blipFill>
              <a:blip r:embed="rId2"/>
              <a:stretch>
                <a:fillRect l="0" t="-200" r="0" b="-200"/>
              </a:stretch>
            </a:blipFill>
          </p:spPr>
        </p:sp>
      </p:grpSp>
      <p:sp>
        <p:nvSpPr>
          <p:cNvPr name="TextBox 4" id="4"/>
          <p:cNvSpPr txBox="true"/>
          <p:nvPr/>
        </p:nvSpPr>
        <p:spPr>
          <a:xfrm rot="0">
            <a:off x="17530332" y="9781504"/>
            <a:ext cx="211931"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17</a:t>
            </a:r>
          </a:p>
        </p:txBody>
      </p:sp>
      <p:sp>
        <p:nvSpPr>
          <p:cNvPr name="TextBox 5" id="5"/>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DFD DATA FLOW DIAGRAM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12000" y="-1532323"/>
            <a:ext cx="7059821" cy="13148955"/>
          </a:xfrm>
          <a:custGeom>
            <a:avLst/>
            <a:gdLst/>
            <a:ahLst/>
            <a:cxnLst/>
            <a:rect r="r" b="b" t="t" l="l"/>
            <a:pathLst>
              <a:path h="13148955" w="7059821">
                <a:moveTo>
                  <a:pt x="0" y="0"/>
                </a:moveTo>
                <a:lnTo>
                  <a:pt x="7059821" y="0"/>
                </a:lnTo>
                <a:lnTo>
                  <a:pt x="7059821" y="13148955"/>
                </a:lnTo>
                <a:lnTo>
                  <a:pt x="0" y="13148955"/>
                </a:lnTo>
                <a:lnTo>
                  <a:pt x="0" y="0"/>
                </a:lnTo>
                <a:close/>
              </a:path>
            </a:pathLst>
          </a:custGeom>
          <a:blipFill>
            <a:blip r:embed="rId2"/>
            <a:stretch>
              <a:fillRect l="-20" t="0" r="-307" b="-679"/>
            </a:stretch>
          </a:blipFill>
        </p:spPr>
      </p:sp>
      <p:sp>
        <p:nvSpPr>
          <p:cNvPr name="TextBox 3" id="3"/>
          <p:cNvSpPr txBox="true"/>
          <p:nvPr/>
        </p:nvSpPr>
        <p:spPr>
          <a:xfrm rot="0">
            <a:off x="13181579" y="9781504"/>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18</a:t>
            </a:r>
          </a:p>
        </p:txBody>
      </p:sp>
      <p:sp>
        <p:nvSpPr>
          <p:cNvPr name="TextBox 4" id="4"/>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DFD DATA FLOW DIAGRAM</a:t>
            </a:r>
          </a:p>
        </p:txBody>
      </p:sp>
      <p:sp>
        <p:nvSpPr>
          <p:cNvPr name="TextBox 5" id="5"/>
          <p:cNvSpPr txBox="true"/>
          <p:nvPr/>
        </p:nvSpPr>
        <p:spPr>
          <a:xfrm rot="0">
            <a:off x="7755578" y="8753040"/>
            <a:ext cx="3677466" cy="245745"/>
          </a:xfrm>
          <a:prstGeom prst="rect">
            <a:avLst/>
          </a:prstGeom>
        </p:spPr>
        <p:txBody>
          <a:bodyPr anchor="t" rtlCol="false" tIns="0" lIns="0" bIns="0" rIns="0">
            <a:spAutoFit/>
          </a:bodyPr>
          <a:lstStyle/>
          <a:p>
            <a:pPr algn="ctr">
              <a:lnSpc>
                <a:spcPts val="1800"/>
              </a:lnSpc>
              <a:spcBef>
                <a:spcPct val="0"/>
              </a:spcBef>
            </a:pPr>
            <a:r>
              <a:rPr lang="en-US" b="true" sz="1800" spc="179">
                <a:solidFill>
                  <a:srgbClr val="8C7753"/>
                </a:solidFill>
                <a:latin typeface="Open Sauce Bold"/>
                <a:ea typeface="Open Sauce Bold"/>
                <a:cs typeface="Open Sauce Bold"/>
                <a:sym typeface="Open Sauce Bold"/>
              </a:rPr>
              <a:t>LEVEL 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2684656"/>
            <a:ext cx="18368862" cy="4505772"/>
          </a:xfrm>
          <a:custGeom>
            <a:avLst/>
            <a:gdLst/>
            <a:ahLst/>
            <a:cxnLst/>
            <a:rect r="r" b="b" t="t" l="l"/>
            <a:pathLst>
              <a:path h="4505772" w="18368862">
                <a:moveTo>
                  <a:pt x="0" y="0"/>
                </a:moveTo>
                <a:lnTo>
                  <a:pt x="18368862" y="0"/>
                </a:lnTo>
                <a:lnTo>
                  <a:pt x="18368862" y="4505773"/>
                </a:lnTo>
                <a:lnTo>
                  <a:pt x="0" y="4505773"/>
                </a:lnTo>
                <a:lnTo>
                  <a:pt x="0" y="0"/>
                </a:lnTo>
                <a:close/>
              </a:path>
            </a:pathLst>
          </a:custGeom>
          <a:blipFill>
            <a:blip r:embed="rId2"/>
            <a:stretch>
              <a:fillRect l="0" t="-403" r="0" b="-403"/>
            </a:stretch>
          </a:blipFill>
        </p:spPr>
      </p:sp>
      <p:sp>
        <p:nvSpPr>
          <p:cNvPr name="TextBox 3" id="3"/>
          <p:cNvSpPr txBox="true"/>
          <p:nvPr/>
        </p:nvSpPr>
        <p:spPr>
          <a:xfrm rot="0">
            <a:off x="13100503" y="9822042"/>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19</a:t>
            </a:r>
          </a:p>
        </p:txBody>
      </p:sp>
      <p:sp>
        <p:nvSpPr>
          <p:cNvPr name="TextBox 4" id="4"/>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DFD DATA FLOW DIAGRAM</a:t>
            </a:r>
          </a:p>
        </p:txBody>
      </p:sp>
      <p:sp>
        <p:nvSpPr>
          <p:cNvPr name="TextBox 5" id="5"/>
          <p:cNvSpPr txBox="true"/>
          <p:nvPr/>
        </p:nvSpPr>
        <p:spPr>
          <a:xfrm rot="0">
            <a:off x="7603178" y="8600640"/>
            <a:ext cx="3677466" cy="245745"/>
          </a:xfrm>
          <a:prstGeom prst="rect">
            <a:avLst/>
          </a:prstGeom>
        </p:spPr>
        <p:txBody>
          <a:bodyPr anchor="t" rtlCol="false" tIns="0" lIns="0" bIns="0" rIns="0">
            <a:spAutoFit/>
          </a:bodyPr>
          <a:lstStyle/>
          <a:p>
            <a:pPr algn="ctr">
              <a:lnSpc>
                <a:spcPts val="1800"/>
              </a:lnSpc>
              <a:spcBef>
                <a:spcPct val="0"/>
              </a:spcBef>
            </a:pPr>
            <a:r>
              <a:rPr lang="en-US" b="true" sz="1800" spc="179">
                <a:solidFill>
                  <a:srgbClr val="8C7753"/>
                </a:solidFill>
                <a:latin typeface="Open Sauce Bold"/>
                <a:ea typeface="Open Sauce Bold"/>
                <a:cs typeface="Open Sauce Bold"/>
                <a:sym typeface="Open Sauce Bold"/>
              </a:rPr>
              <a:t>LEVEL 2</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20</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References</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5" id="5"/>
          <p:cNvSpPr txBox="true"/>
          <p:nvPr/>
        </p:nvSpPr>
        <p:spPr>
          <a:xfrm rot="0">
            <a:off x="576909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REACT/JS</a:t>
            </a:r>
          </a:p>
        </p:txBody>
      </p:sp>
      <p:sp>
        <p:nvSpPr>
          <p:cNvPr name="TextBox 6" id="6"/>
          <p:cNvSpPr txBox="true"/>
          <p:nvPr/>
        </p:nvSpPr>
        <p:spPr>
          <a:xfrm rot="0">
            <a:off x="5769090" y="322707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Us</a:t>
            </a:r>
            <a:r>
              <a:rPr lang="en-US" sz="2400" strike="noStrike" u="none">
                <a:solidFill>
                  <a:srgbClr val="331B0D"/>
                </a:solidFill>
                <a:latin typeface="Open Sauce"/>
                <a:ea typeface="Open Sauce"/>
                <a:cs typeface="Open Sauce"/>
                <a:sym typeface="Open Sauce"/>
              </a:rPr>
              <a:t>ed fo</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 understan</a:t>
            </a:r>
            <a:r>
              <a:rPr lang="en-US" sz="2400" strike="noStrike" u="none">
                <a:solidFill>
                  <a:srgbClr val="331B0D"/>
                </a:solidFill>
                <a:latin typeface="Open Sauce"/>
                <a:ea typeface="Open Sauce"/>
                <a:cs typeface="Open Sauce"/>
                <a:sym typeface="Open Sauce"/>
              </a:rPr>
              <a:t>din</a:t>
            </a:r>
            <a:r>
              <a:rPr lang="en-US" sz="2400" strike="noStrike" u="none">
                <a:solidFill>
                  <a:srgbClr val="331B0D"/>
                </a:solidFill>
                <a:latin typeface="Open Sauce"/>
                <a:ea typeface="Open Sauce"/>
                <a:cs typeface="Open Sauce"/>
                <a:sym typeface="Open Sauce"/>
              </a:rPr>
              <a:t>g Com</a:t>
            </a:r>
            <a:r>
              <a:rPr lang="en-US" sz="2400" strike="noStrike" u="none">
                <a:solidFill>
                  <a:srgbClr val="331B0D"/>
                </a:solidFill>
                <a:latin typeface="Open Sauce"/>
                <a:ea typeface="Open Sauce"/>
                <a:cs typeface="Open Sauce"/>
                <a:sym typeface="Open Sauce"/>
              </a:rPr>
              <a:t>pon</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nt</a:t>
            </a:r>
            <a:r>
              <a:rPr lang="en-US" sz="2400" strike="noStrike" u="none">
                <a:solidFill>
                  <a:srgbClr val="331B0D"/>
                </a:solidFill>
                <a:latin typeface="Open Sauce"/>
                <a:ea typeface="Open Sauce"/>
                <a:cs typeface="Open Sauce"/>
                <a:sym typeface="Open Sauce"/>
              </a:rPr>
              <a:t> Lifecycle and Hooks</a:t>
            </a:r>
            <a:r>
              <a:rPr lang="en-US" sz="2400" strike="noStrike" u="none">
                <a:solidFill>
                  <a:srgbClr val="331B0D"/>
                </a:solidFill>
                <a:latin typeface="Open Sauce"/>
                <a:ea typeface="Open Sauce"/>
                <a:cs typeface="Open Sauce"/>
                <a:sym typeface="Open Sauce"/>
              </a:rPr>
              <a:t> (useS</a:t>
            </a:r>
            <a:r>
              <a:rPr lang="en-US" sz="2400" strike="noStrike" u="none">
                <a:solidFill>
                  <a:srgbClr val="331B0D"/>
                </a:solidFill>
                <a:latin typeface="Open Sauce"/>
                <a:ea typeface="Open Sauce"/>
                <a:cs typeface="Open Sauce"/>
                <a:sym typeface="Open Sauce"/>
              </a:rPr>
              <a:t>tate, useEffect).</a:t>
            </a:r>
          </a:p>
        </p:txBody>
      </p:sp>
      <p:sp>
        <p:nvSpPr>
          <p:cNvPr name="TextBox 7" id="7"/>
          <p:cNvSpPr txBox="true"/>
          <p:nvPr/>
        </p:nvSpPr>
        <p:spPr>
          <a:xfrm rot="0">
            <a:off x="11652480" y="264795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NODE/JS</a:t>
            </a:r>
          </a:p>
        </p:txBody>
      </p:sp>
      <p:sp>
        <p:nvSpPr>
          <p:cNvPr name="TextBox 8" id="8"/>
          <p:cNvSpPr txBox="true"/>
          <p:nvPr/>
        </p:nvSpPr>
        <p:spPr>
          <a:xfrm rot="0">
            <a:off x="11652480" y="322707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eferenced for backend routing, </a:t>
            </a:r>
            <a:r>
              <a:rPr lang="en-US" sz="2400" strike="noStrike" u="none">
                <a:solidFill>
                  <a:srgbClr val="331B0D"/>
                </a:solidFill>
                <a:latin typeface="Open Sauce"/>
                <a:ea typeface="Open Sauce"/>
                <a:cs typeface="Open Sauce"/>
                <a:sym typeface="Open Sauce"/>
              </a:rPr>
              <a:t>mi</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dl</a:t>
            </a:r>
            <a:r>
              <a:rPr lang="en-US" sz="2400" strike="noStrike" u="none">
                <a:solidFill>
                  <a:srgbClr val="331B0D"/>
                </a:solidFill>
                <a:latin typeface="Open Sauce"/>
                <a:ea typeface="Open Sauce"/>
                <a:cs typeface="Open Sauce"/>
                <a:sym typeface="Open Sauce"/>
              </a:rPr>
              <a:t>eware integration, and server-side logic.</a:t>
            </a:r>
          </a:p>
        </p:txBody>
      </p:sp>
      <p:sp>
        <p:nvSpPr>
          <p:cNvPr name="TextBox 9" id="9"/>
          <p:cNvSpPr txBox="true"/>
          <p:nvPr/>
        </p:nvSpPr>
        <p:spPr>
          <a:xfrm rot="0">
            <a:off x="576909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MySQL Refe</a:t>
            </a:r>
            <a:r>
              <a:rPr lang="en-US" b="true" sz="2400" strike="noStrike" u="none">
                <a:solidFill>
                  <a:srgbClr val="8C7753"/>
                </a:solidFill>
                <a:latin typeface="Open Sauce Bold"/>
                <a:ea typeface="Open Sauce Bold"/>
                <a:cs typeface="Open Sauce Bold"/>
                <a:sym typeface="Open Sauce Bold"/>
              </a:rPr>
              <a:t>rence </a:t>
            </a:r>
            <a:r>
              <a:rPr lang="en-US" b="true" sz="2400" strike="noStrike" u="none">
                <a:solidFill>
                  <a:srgbClr val="8C7753"/>
                </a:solidFill>
                <a:latin typeface="Open Sauce Bold"/>
                <a:ea typeface="Open Sauce Bold"/>
                <a:cs typeface="Open Sauce Bold"/>
                <a:sym typeface="Open Sauce Bold"/>
              </a:rPr>
              <a:t>Ma</a:t>
            </a:r>
            <a:r>
              <a:rPr lang="en-US" b="true" sz="2400" strike="noStrike" u="none">
                <a:solidFill>
                  <a:srgbClr val="8C7753"/>
                </a:solidFill>
                <a:latin typeface="Open Sauce Bold"/>
                <a:ea typeface="Open Sauce Bold"/>
                <a:cs typeface="Open Sauce Bold"/>
                <a:sym typeface="Open Sauce Bold"/>
              </a:rPr>
              <a:t>n</a:t>
            </a:r>
            <a:r>
              <a:rPr lang="en-US" b="true" sz="2400" strike="noStrike" u="none">
                <a:solidFill>
                  <a:srgbClr val="8C7753"/>
                </a:solidFill>
                <a:latin typeface="Open Sauce Bold"/>
                <a:ea typeface="Open Sauce Bold"/>
                <a:cs typeface="Open Sauce Bold"/>
                <a:sym typeface="Open Sauce Bold"/>
              </a:rPr>
              <a:t>ual</a:t>
            </a:r>
          </a:p>
        </p:txBody>
      </p:sp>
      <p:sp>
        <p:nvSpPr>
          <p:cNvPr name="TextBox 10" id="10"/>
          <p:cNvSpPr txBox="true"/>
          <p:nvPr/>
        </p:nvSpPr>
        <p:spPr>
          <a:xfrm rot="0">
            <a:off x="5769090" y="639064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Us</a:t>
            </a:r>
            <a:r>
              <a:rPr lang="en-US" sz="2400" strike="noStrike" u="none">
                <a:solidFill>
                  <a:srgbClr val="331B0D"/>
                </a:solidFill>
                <a:latin typeface="Open Sauce"/>
                <a:ea typeface="Open Sauce"/>
                <a:cs typeface="Open Sauce"/>
                <a:sym typeface="Open Sauce"/>
              </a:rPr>
              <a:t>ed for designing the Relational </a:t>
            </a:r>
            <a:r>
              <a:rPr lang="en-US" sz="2400" strike="noStrike" u="none">
                <a:solidFill>
                  <a:srgbClr val="331B0D"/>
                </a:solidFill>
                <a:latin typeface="Open Sauce"/>
                <a:ea typeface="Open Sauce"/>
                <a:cs typeface="Open Sauce"/>
                <a:sym typeface="Open Sauce"/>
              </a:rPr>
              <a:t>Da</a:t>
            </a:r>
            <a:r>
              <a:rPr lang="en-US" sz="2400" strike="noStrike" u="none">
                <a:solidFill>
                  <a:srgbClr val="331B0D"/>
                </a:solidFill>
                <a:latin typeface="Open Sauce"/>
                <a:ea typeface="Open Sauce"/>
                <a:cs typeface="Open Sauce"/>
                <a:sym typeface="Open Sauce"/>
              </a:rPr>
              <a:t>tabase Schema and writing SQL queries.</a:t>
            </a:r>
          </a:p>
        </p:txBody>
      </p:sp>
      <p:sp>
        <p:nvSpPr>
          <p:cNvPr name="TextBox 11" id="11"/>
          <p:cNvSpPr txBox="true"/>
          <p:nvPr/>
        </p:nvSpPr>
        <p:spPr>
          <a:xfrm rot="0">
            <a:off x="11652480" y="5811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Tailwind CSS</a:t>
            </a:r>
          </a:p>
        </p:txBody>
      </p:sp>
      <p:sp>
        <p:nvSpPr>
          <p:cNvPr name="TextBox 12" id="12"/>
          <p:cNvSpPr txBox="true"/>
          <p:nvPr/>
        </p:nvSpPr>
        <p:spPr>
          <a:xfrm rot="0">
            <a:off x="11652480" y="639064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sed for responsive UI design and utility-based styling.</a:t>
            </a:r>
          </a:p>
          <a:p>
            <a:pPr algn="l" marL="0" indent="0" lvl="0">
              <a:lnSpc>
                <a:spcPts val="3840"/>
              </a:lnSpc>
              <a:spcBef>
                <a:spcPct val="0"/>
              </a:spcBef>
            </a:pPr>
            <a:r>
              <a:rPr lang="en-US" sz="2400" strike="noStrike" u="none">
                <a:solidFill>
                  <a:srgbClr val="331B0D"/>
                </a:solidFill>
                <a:latin typeface="Open Sauce"/>
                <a:ea typeface="Open Sauce"/>
                <a:cs typeface="Open Sauce"/>
                <a:sym typeface="Open Sauce"/>
              </a:rPr>
              <a:t>https://tailwindcss.com/docs/</a:t>
            </a:r>
          </a:p>
        </p:txBody>
      </p:sp>
      <p:sp>
        <p:nvSpPr>
          <p:cNvPr name="TextBox 13" id="13"/>
          <p:cNvSpPr txBox="true"/>
          <p:nvPr/>
        </p:nvSpPr>
        <p:spPr>
          <a:xfrm rot="0">
            <a:off x="1028700" y="1989777"/>
            <a:ext cx="3436408"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Got</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Implementations Details</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21</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Implementations</a:t>
            </a:r>
          </a:p>
        </p:txBody>
      </p:sp>
      <p:grpSp>
        <p:nvGrpSpPr>
          <p:cNvPr name="Group 5" id="5"/>
          <p:cNvGrpSpPr/>
          <p:nvPr/>
        </p:nvGrpSpPr>
        <p:grpSpPr>
          <a:xfrm rot="0">
            <a:off x="0" y="4140722"/>
            <a:ext cx="5297232" cy="1543050"/>
            <a:chOff x="0" y="0"/>
            <a:chExt cx="1395156" cy="406400"/>
          </a:xfrm>
        </p:grpSpPr>
        <p:sp>
          <p:nvSpPr>
            <p:cNvPr name="Freeform 6" id="6"/>
            <p:cNvSpPr/>
            <p:nvPr/>
          </p:nvSpPr>
          <p:spPr>
            <a:xfrm flipH="false" flipV="false" rot="0">
              <a:off x="0" y="0"/>
              <a:ext cx="1395156" cy="406400"/>
            </a:xfrm>
            <a:custGeom>
              <a:avLst/>
              <a:gdLst/>
              <a:ahLst/>
              <a:cxnLst/>
              <a:rect r="r" b="b" t="t" l="l"/>
              <a:pathLst>
                <a:path h="406400" w="1395156">
                  <a:moveTo>
                    <a:pt x="1191956" y="0"/>
                  </a:moveTo>
                  <a:lnTo>
                    <a:pt x="0" y="0"/>
                  </a:lnTo>
                  <a:lnTo>
                    <a:pt x="0" y="406400"/>
                  </a:lnTo>
                  <a:lnTo>
                    <a:pt x="1191956" y="406400"/>
                  </a:lnTo>
                  <a:lnTo>
                    <a:pt x="1395156" y="203200"/>
                  </a:lnTo>
                  <a:lnTo>
                    <a:pt x="1191956" y="0"/>
                  </a:lnTo>
                  <a:close/>
                </a:path>
              </a:pathLst>
            </a:custGeom>
            <a:solidFill>
              <a:srgbClr val="8C7753"/>
            </a:solidFill>
          </p:spPr>
        </p:sp>
        <p:sp>
          <p:nvSpPr>
            <p:cNvPr name="TextBox 7" id="7"/>
            <p:cNvSpPr txBox="true"/>
            <p:nvPr/>
          </p:nvSpPr>
          <p:spPr>
            <a:xfrm>
              <a:off x="0" y="-47625"/>
              <a:ext cx="1280856" cy="454025"/>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4559125" y="4140722"/>
            <a:ext cx="3811973" cy="1543050"/>
            <a:chOff x="0" y="0"/>
            <a:chExt cx="1003976" cy="406400"/>
          </a:xfrm>
        </p:grpSpPr>
        <p:sp>
          <p:nvSpPr>
            <p:cNvPr name="Freeform 9" id="9"/>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80000"/>
              </a:srgbClr>
            </a:solidFill>
          </p:spPr>
        </p:sp>
        <p:sp>
          <p:nvSpPr>
            <p:cNvPr name="TextBox 10" id="10"/>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0792629" y="4140722"/>
            <a:ext cx="3811973" cy="1543050"/>
            <a:chOff x="0" y="0"/>
            <a:chExt cx="1003976" cy="406400"/>
          </a:xfrm>
        </p:grpSpPr>
        <p:sp>
          <p:nvSpPr>
            <p:cNvPr name="Freeform 12" id="12"/>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AE894A">
                <a:alpha val="60000"/>
              </a:srgbClr>
            </a:solidFill>
          </p:spPr>
        </p:sp>
        <p:sp>
          <p:nvSpPr>
            <p:cNvPr name="TextBox 13" id="13"/>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7678141" y="4140722"/>
            <a:ext cx="3811973" cy="1543050"/>
            <a:chOff x="0" y="0"/>
            <a:chExt cx="1003976" cy="406400"/>
          </a:xfrm>
        </p:grpSpPr>
        <p:sp>
          <p:nvSpPr>
            <p:cNvPr name="Freeform 15" id="15"/>
            <p:cNvSpPr/>
            <p:nvPr/>
          </p:nvSpPr>
          <p:spPr>
            <a:xfrm flipH="false" flipV="false" rot="0">
              <a:off x="0" y="0"/>
              <a:ext cx="1003976" cy="406400"/>
            </a:xfrm>
            <a:custGeom>
              <a:avLst/>
              <a:gdLst/>
              <a:ahLst/>
              <a:cxnLst/>
              <a:rect r="r" b="b" t="t" l="l"/>
              <a:pathLst>
                <a:path h="406400" w="1003976">
                  <a:moveTo>
                    <a:pt x="0" y="0"/>
                  </a:moveTo>
                  <a:lnTo>
                    <a:pt x="800776" y="0"/>
                  </a:lnTo>
                  <a:lnTo>
                    <a:pt x="1003976" y="203200"/>
                  </a:lnTo>
                  <a:lnTo>
                    <a:pt x="800776" y="406400"/>
                  </a:lnTo>
                  <a:lnTo>
                    <a:pt x="0" y="406400"/>
                  </a:lnTo>
                  <a:lnTo>
                    <a:pt x="203200" y="203200"/>
                  </a:lnTo>
                  <a:lnTo>
                    <a:pt x="0" y="0"/>
                  </a:lnTo>
                  <a:close/>
                </a:path>
              </a:pathLst>
            </a:custGeom>
            <a:solidFill>
              <a:srgbClr val="8C7753">
                <a:alpha val="60000"/>
              </a:srgbClr>
            </a:solidFill>
          </p:spPr>
        </p:sp>
        <p:sp>
          <p:nvSpPr>
            <p:cNvPr name="TextBox 16" id="16"/>
            <p:cNvSpPr txBox="true"/>
            <p:nvPr/>
          </p:nvSpPr>
          <p:spPr>
            <a:xfrm>
              <a:off x="177800" y="-47625"/>
              <a:ext cx="749976" cy="454025"/>
            </a:xfrm>
            <a:prstGeom prst="rect">
              <a:avLst/>
            </a:prstGeom>
          </p:spPr>
          <p:txBody>
            <a:bodyPr anchor="ctr" rtlCol="false" tIns="50800" lIns="50800" bIns="50800" rIns="50800"/>
            <a:lstStyle/>
            <a:p>
              <a:pPr algn="ctr">
                <a:lnSpc>
                  <a:spcPts val="2940"/>
                </a:lnSpc>
              </a:pPr>
            </a:p>
          </p:txBody>
        </p:sp>
      </p:grpSp>
      <p:grpSp>
        <p:nvGrpSpPr>
          <p:cNvPr name="Group 17" id="17"/>
          <p:cNvGrpSpPr/>
          <p:nvPr/>
        </p:nvGrpSpPr>
        <p:grpSpPr>
          <a:xfrm rot="0">
            <a:off x="14013840" y="4140722"/>
            <a:ext cx="5573098" cy="1543050"/>
            <a:chOff x="0" y="0"/>
            <a:chExt cx="1467812" cy="406400"/>
          </a:xfrm>
        </p:grpSpPr>
        <p:sp>
          <p:nvSpPr>
            <p:cNvPr name="Freeform 18" id="18"/>
            <p:cNvSpPr/>
            <p:nvPr/>
          </p:nvSpPr>
          <p:spPr>
            <a:xfrm flipH="false" flipV="false" rot="0">
              <a:off x="0" y="0"/>
              <a:ext cx="1467812" cy="406400"/>
            </a:xfrm>
            <a:custGeom>
              <a:avLst/>
              <a:gdLst/>
              <a:ahLst/>
              <a:cxnLst/>
              <a:rect r="r" b="b" t="t" l="l"/>
              <a:pathLst>
                <a:path h="406400" w="1467812">
                  <a:moveTo>
                    <a:pt x="0" y="0"/>
                  </a:moveTo>
                  <a:lnTo>
                    <a:pt x="1264612" y="0"/>
                  </a:lnTo>
                  <a:lnTo>
                    <a:pt x="1467812" y="203200"/>
                  </a:lnTo>
                  <a:lnTo>
                    <a:pt x="1264612" y="406400"/>
                  </a:lnTo>
                  <a:lnTo>
                    <a:pt x="0" y="406400"/>
                  </a:lnTo>
                  <a:lnTo>
                    <a:pt x="203200" y="203200"/>
                  </a:lnTo>
                  <a:lnTo>
                    <a:pt x="0" y="0"/>
                  </a:lnTo>
                  <a:close/>
                </a:path>
              </a:pathLst>
            </a:custGeom>
            <a:solidFill>
              <a:srgbClr val="8C7753">
                <a:alpha val="40000"/>
              </a:srgbClr>
            </a:solidFill>
          </p:spPr>
        </p:sp>
        <p:sp>
          <p:nvSpPr>
            <p:cNvPr name="TextBox 19" id="19"/>
            <p:cNvSpPr txBox="true"/>
            <p:nvPr/>
          </p:nvSpPr>
          <p:spPr>
            <a:xfrm>
              <a:off x="177800" y="-47625"/>
              <a:ext cx="1213812" cy="454025"/>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1331312" y="4705555"/>
            <a:ext cx="1317304"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Frontend </a:t>
            </a:r>
          </a:p>
        </p:txBody>
      </p:sp>
      <p:sp>
        <p:nvSpPr>
          <p:cNvPr name="TextBox 21" id="21"/>
          <p:cNvSpPr txBox="true"/>
          <p:nvPr/>
        </p:nvSpPr>
        <p:spPr>
          <a:xfrm rot="0">
            <a:off x="5573486" y="4705555"/>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Backend &amp;API</a:t>
            </a:r>
          </a:p>
        </p:txBody>
      </p:sp>
      <p:sp>
        <p:nvSpPr>
          <p:cNvPr name="TextBox 22" id="22"/>
          <p:cNvSpPr txBox="true"/>
          <p:nvPr/>
        </p:nvSpPr>
        <p:spPr>
          <a:xfrm rot="0">
            <a:off x="8790198" y="4705555"/>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DataBase</a:t>
            </a:r>
          </a:p>
        </p:txBody>
      </p:sp>
      <p:sp>
        <p:nvSpPr>
          <p:cNvPr name="TextBox 23" id="23"/>
          <p:cNvSpPr txBox="true"/>
          <p:nvPr/>
        </p:nvSpPr>
        <p:spPr>
          <a:xfrm rot="0">
            <a:off x="11909214" y="4705555"/>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Architecture</a:t>
            </a:r>
          </a:p>
        </p:txBody>
      </p:sp>
      <p:sp>
        <p:nvSpPr>
          <p:cNvPr name="TextBox 24" id="24"/>
          <p:cNvSpPr txBox="true"/>
          <p:nvPr/>
        </p:nvSpPr>
        <p:spPr>
          <a:xfrm rot="0">
            <a:off x="-214280" y="6488088"/>
            <a:ext cx="4355740"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Built using R</a:t>
            </a:r>
            <a:r>
              <a:rPr lang="en-US" sz="2299">
                <a:solidFill>
                  <a:srgbClr val="331B0D"/>
                </a:solidFill>
                <a:latin typeface="Open Sauce"/>
                <a:ea typeface="Open Sauce"/>
                <a:cs typeface="Open Sauce"/>
                <a:sym typeface="Open Sauce"/>
              </a:rPr>
              <a:t>eact (Vite) and Tailwind CSS to create a responsive and interactive user interface for academic dashboards and system modules.</a:t>
            </a:r>
          </a:p>
        </p:txBody>
      </p:sp>
      <p:sp>
        <p:nvSpPr>
          <p:cNvPr name="TextBox 25" id="25"/>
          <p:cNvSpPr txBox="true"/>
          <p:nvPr/>
        </p:nvSpPr>
        <p:spPr>
          <a:xfrm rot="0">
            <a:off x="4408699" y="6509995"/>
            <a:ext cx="3811482" cy="198945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Developed using Node.js and Express.js to handle</a:t>
            </a:r>
            <a:r>
              <a:rPr lang="en-US" sz="2299">
                <a:solidFill>
                  <a:srgbClr val="331B0D"/>
                </a:solidFill>
                <a:latin typeface="Open Sauce"/>
                <a:ea typeface="Open Sauce"/>
                <a:cs typeface="Open Sauce"/>
                <a:sym typeface="Open Sauce"/>
              </a:rPr>
              <a:t> RESTful APIs, routing, authentication, and server-side logic.</a:t>
            </a:r>
          </a:p>
        </p:txBody>
      </p:sp>
      <p:sp>
        <p:nvSpPr>
          <p:cNvPr name="AutoShape 26" id="26"/>
          <p:cNvSpPr/>
          <p:nvPr/>
        </p:nvSpPr>
        <p:spPr>
          <a:xfrm>
            <a:off x="2985689" y="5661865"/>
            <a:ext cx="0" cy="861252"/>
          </a:xfrm>
          <a:prstGeom prst="line">
            <a:avLst/>
          </a:prstGeom>
          <a:ln cap="flat" w="38100">
            <a:solidFill>
              <a:srgbClr val="8C7753"/>
            </a:solidFill>
            <a:prstDash val="solid"/>
            <a:headEnd type="none" len="sm" w="sm"/>
            <a:tailEnd type="arrow" len="sm" w="med"/>
          </a:ln>
        </p:spPr>
      </p:sp>
      <p:sp>
        <p:nvSpPr>
          <p:cNvPr name="AutoShape 27" id="27"/>
          <p:cNvSpPr/>
          <p:nvPr/>
        </p:nvSpPr>
        <p:spPr>
          <a:xfrm>
            <a:off x="6935862" y="5683772"/>
            <a:ext cx="0" cy="861252"/>
          </a:xfrm>
          <a:prstGeom prst="line">
            <a:avLst/>
          </a:prstGeom>
          <a:ln cap="flat" w="38100">
            <a:solidFill>
              <a:srgbClr val="8C7753">
                <a:alpha val="69804"/>
              </a:srgbClr>
            </a:solidFill>
            <a:prstDash val="solid"/>
            <a:headEnd type="none" len="sm" w="sm"/>
            <a:tailEnd type="arrow" len="sm" w="med"/>
          </a:ln>
        </p:spPr>
      </p:sp>
      <p:sp>
        <p:nvSpPr>
          <p:cNvPr name="AutoShape 28" id="28"/>
          <p:cNvSpPr/>
          <p:nvPr/>
        </p:nvSpPr>
        <p:spPr>
          <a:xfrm>
            <a:off x="13424150" y="5649269"/>
            <a:ext cx="0" cy="861252"/>
          </a:xfrm>
          <a:prstGeom prst="line">
            <a:avLst/>
          </a:prstGeom>
          <a:ln cap="flat" w="38100">
            <a:solidFill>
              <a:srgbClr val="8C7753">
                <a:alpha val="40000"/>
              </a:srgbClr>
            </a:solidFill>
            <a:prstDash val="solid"/>
            <a:headEnd type="none" len="sm" w="sm"/>
            <a:tailEnd type="arrow" len="sm" w="med"/>
          </a:ln>
        </p:spPr>
      </p:sp>
      <p:sp>
        <p:nvSpPr>
          <p:cNvPr name="AutoShape 29" id="29"/>
          <p:cNvSpPr/>
          <p:nvPr/>
        </p:nvSpPr>
        <p:spPr>
          <a:xfrm flipV="true">
            <a:off x="9565078" y="3279470"/>
            <a:ext cx="0" cy="861252"/>
          </a:xfrm>
          <a:prstGeom prst="line">
            <a:avLst/>
          </a:prstGeom>
          <a:ln cap="flat" w="38100">
            <a:solidFill>
              <a:srgbClr val="8C7753">
                <a:alpha val="69804"/>
              </a:srgbClr>
            </a:solidFill>
            <a:prstDash val="solid"/>
            <a:headEnd type="none" len="sm" w="sm"/>
            <a:tailEnd type="arrow" len="sm" w="med"/>
          </a:ln>
        </p:spPr>
      </p:sp>
      <p:sp>
        <p:nvSpPr>
          <p:cNvPr name="TextBox 30" id="30"/>
          <p:cNvSpPr txBox="true"/>
          <p:nvPr/>
        </p:nvSpPr>
        <p:spPr>
          <a:xfrm rot="0">
            <a:off x="8790198" y="875987"/>
            <a:ext cx="3600043"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Developed using Node.js and</a:t>
            </a:r>
            <a:r>
              <a:rPr lang="en-US" sz="2299">
                <a:solidFill>
                  <a:srgbClr val="331B0D"/>
                </a:solidFill>
                <a:latin typeface="Open Sauce"/>
                <a:ea typeface="Open Sauce"/>
                <a:cs typeface="Open Sauce"/>
                <a:sym typeface="Open Sauce"/>
              </a:rPr>
              <a:t> Express.js to handle RESTful APIs, routing, authentication, and server-side logic.</a:t>
            </a:r>
          </a:p>
        </p:txBody>
      </p:sp>
      <p:sp>
        <p:nvSpPr>
          <p:cNvPr name="TextBox 31" id="31"/>
          <p:cNvSpPr txBox="true"/>
          <p:nvPr/>
        </p:nvSpPr>
        <p:spPr>
          <a:xfrm rot="0">
            <a:off x="11756814" y="6475492"/>
            <a:ext cx="3600043" cy="238950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Keeps everyone in the loop with instant, real-time alerts for exam schedules,</a:t>
            </a:r>
            <a:r>
              <a:rPr lang="en-US" sz="2299">
                <a:solidFill>
                  <a:srgbClr val="331B0D"/>
                </a:solidFill>
                <a:latin typeface="Open Sauce"/>
                <a:ea typeface="Open Sauce"/>
                <a:cs typeface="Open Sauce"/>
                <a:sym typeface="Open Sauce"/>
              </a:rPr>
              <a:t> fee reminders, and syllabus updates.</a:t>
            </a:r>
          </a:p>
        </p:txBody>
      </p:sp>
      <p:sp>
        <p:nvSpPr>
          <p:cNvPr name="TextBox 32" id="32"/>
          <p:cNvSpPr txBox="true"/>
          <p:nvPr/>
        </p:nvSpPr>
        <p:spPr>
          <a:xfrm rot="0">
            <a:off x="15356857" y="4705555"/>
            <a:ext cx="1828401"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AI Integration</a:t>
            </a:r>
          </a:p>
        </p:txBody>
      </p:sp>
      <p:sp>
        <p:nvSpPr>
          <p:cNvPr name="AutoShape 33" id="33"/>
          <p:cNvSpPr/>
          <p:nvPr/>
        </p:nvSpPr>
        <p:spPr>
          <a:xfrm flipH="true" flipV="true">
            <a:off x="16107885" y="3279470"/>
            <a:ext cx="0" cy="861252"/>
          </a:xfrm>
          <a:prstGeom prst="line">
            <a:avLst/>
          </a:prstGeom>
          <a:ln cap="flat" w="38100">
            <a:solidFill>
              <a:srgbClr val="8C7753">
                <a:alpha val="40000"/>
              </a:srgbClr>
            </a:solidFill>
            <a:prstDash val="solid"/>
            <a:headEnd type="none" len="sm" w="sm"/>
            <a:tailEnd type="arrow" len="sm" w="med"/>
          </a:ln>
        </p:spPr>
      </p:sp>
      <p:sp>
        <p:nvSpPr>
          <p:cNvPr name="TextBox 34" id="34"/>
          <p:cNvSpPr txBox="true"/>
          <p:nvPr/>
        </p:nvSpPr>
        <p:spPr>
          <a:xfrm rot="0">
            <a:off x="14307863" y="475937"/>
            <a:ext cx="3600043" cy="2789555"/>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331B0D"/>
                </a:solidFill>
                <a:latin typeface="Open Sauce"/>
                <a:ea typeface="Open Sauce"/>
                <a:cs typeface="Open Sauce"/>
                <a:sym typeface="Open Sauce"/>
              </a:rPr>
              <a:t>An AI prediction module analyzes academic data to predict student</a:t>
            </a:r>
            <a:r>
              <a:rPr lang="en-US" sz="2299">
                <a:solidFill>
                  <a:srgbClr val="331B0D"/>
                </a:solidFill>
                <a:latin typeface="Open Sauce"/>
                <a:ea typeface="Open Sauce"/>
                <a:cs typeface="Open Sauce"/>
                <a:sym typeface="Open Sauce"/>
              </a:rPr>
              <a:t> performance and identify at-risk students.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564824" y="1123950"/>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Testing Approach</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22</a:t>
            </a:r>
          </a:p>
        </p:txBody>
      </p:sp>
      <p:sp>
        <p:nvSpPr>
          <p:cNvPr name="TextBox 4" id="4"/>
          <p:cNvSpPr txBox="true"/>
          <p:nvPr/>
        </p:nvSpPr>
        <p:spPr>
          <a:xfrm rot="0">
            <a:off x="341315" y="464702"/>
            <a:ext cx="3065119"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TESTING APPROACH</a:t>
            </a:r>
          </a:p>
        </p:txBody>
      </p:sp>
      <p:sp>
        <p:nvSpPr>
          <p:cNvPr name="TextBox 5" id="5"/>
          <p:cNvSpPr txBox="true"/>
          <p:nvPr/>
        </p:nvSpPr>
        <p:spPr>
          <a:xfrm rot="0">
            <a:off x="564824" y="2380644"/>
            <a:ext cx="3065119" cy="260350"/>
          </a:xfrm>
          <a:prstGeom prst="rect">
            <a:avLst/>
          </a:prstGeom>
        </p:spPr>
        <p:txBody>
          <a:bodyPr anchor="t" rtlCol="false" tIns="0" lIns="0" bIns="0" rIns="0">
            <a:spAutoFit/>
          </a:bodyPr>
          <a:lstStyle/>
          <a:p>
            <a:pPr algn="just">
              <a:lnSpc>
                <a:spcPts val="1999"/>
              </a:lnSpc>
              <a:spcBef>
                <a:spcPct val="0"/>
              </a:spcBef>
            </a:pPr>
            <a:r>
              <a:rPr lang="en-US" b="true" sz="1999" spc="199">
                <a:solidFill>
                  <a:srgbClr val="903232"/>
                </a:solidFill>
                <a:latin typeface="Open Sauce Bold"/>
                <a:ea typeface="Open Sauce Bold"/>
                <a:cs typeface="Open Sauce Bold"/>
                <a:sym typeface="Open Sauce Bold"/>
              </a:rPr>
              <a:t>Unit Testing:</a:t>
            </a:r>
          </a:p>
        </p:txBody>
      </p:sp>
      <p:sp>
        <p:nvSpPr>
          <p:cNvPr name="TextBox 6" id="6"/>
          <p:cNvSpPr txBox="true"/>
          <p:nvPr/>
        </p:nvSpPr>
        <p:spPr>
          <a:xfrm rot="0">
            <a:off x="849259" y="2874039"/>
            <a:ext cx="8115300" cy="937262"/>
          </a:xfrm>
          <a:prstGeom prst="rect">
            <a:avLst/>
          </a:prstGeom>
        </p:spPr>
        <p:txBody>
          <a:bodyPr anchor="t" rtlCol="false" tIns="0" lIns="0" bIns="0" rIns="0">
            <a:spAutoFit/>
          </a:bodyPr>
          <a:lstStyle/>
          <a:p>
            <a:pPr algn="l">
              <a:lnSpc>
                <a:spcPts val="2400"/>
              </a:lnSpc>
            </a:pPr>
            <a:r>
              <a:rPr lang="en-US" sz="2400" spc="-144">
                <a:solidFill>
                  <a:srgbClr val="331B0D"/>
                </a:solidFill>
                <a:latin typeface="Open Sauce"/>
                <a:ea typeface="Open Sauce"/>
                <a:cs typeface="Open Sauce"/>
                <a:sym typeface="Open Sauce"/>
              </a:rPr>
              <a:t>Tested individual backend APIs and frontend components such as login validation, attendance entry, and student data handling.</a:t>
            </a:r>
          </a:p>
        </p:txBody>
      </p:sp>
      <p:sp>
        <p:nvSpPr>
          <p:cNvPr name="TextBox 7" id="7"/>
          <p:cNvSpPr txBox="true"/>
          <p:nvPr/>
        </p:nvSpPr>
        <p:spPr>
          <a:xfrm rot="0">
            <a:off x="564824" y="4285645"/>
            <a:ext cx="3705099" cy="260350"/>
          </a:xfrm>
          <a:prstGeom prst="rect">
            <a:avLst/>
          </a:prstGeom>
        </p:spPr>
        <p:txBody>
          <a:bodyPr anchor="t" rtlCol="false" tIns="0" lIns="0" bIns="0" rIns="0">
            <a:spAutoFit/>
          </a:bodyPr>
          <a:lstStyle/>
          <a:p>
            <a:pPr algn="just">
              <a:lnSpc>
                <a:spcPts val="1999"/>
              </a:lnSpc>
              <a:spcBef>
                <a:spcPct val="0"/>
              </a:spcBef>
            </a:pPr>
            <a:r>
              <a:rPr lang="en-US" b="true" sz="1999" spc="199">
                <a:solidFill>
                  <a:srgbClr val="903232"/>
                </a:solidFill>
                <a:latin typeface="Open Sauce Bold"/>
                <a:ea typeface="Open Sauce Bold"/>
                <a:cs typeface="Open Sauce Bold"/>
                <a:sym typeface="Open Sauce Bold"/>
              </a:rPr>
              <a:t>Integration Testing:</a:t>
            </a:r>
          </a:p>
        </p:txBody>
      </p:sp>
      <p:sp>
        <p:nvSpPr>
          <p:cNvPr name="TextBox 8" id="8"/>
          <p:cNvSpPr txBox="true"/>
          <p:nvPr/>
        </p:nvSpPr>
        <p:spPr>
          <a:xfrm rot="0">
            <a:off x="849259" y="4779040"/>
            <a:ext cx="8115300" cy="632462"/>
          </a:xfrm>
          <a:prstGeom prst="rect">
            <a:avLst/>
          </a:prstGeom>
        </p:spPr>
        <p:txBody>
          <a:bodyPr anchor="t" rtlCol="false" tIns="0" lIns="0" bIns="0" rIns="0">
            <a:spAutoFit/>
          </a:bodyPr>
          <a:lstStyle/>
          <a:p>
            <a:pPr algn="l">
              <a:lnSpc>
                <a:spcPts val="2400"/>
              </a:lnSpc>
            </a:pPr>
            <a:r>
              <a:rPr lang="en-US" sz="2400" spc="-144">
                <a:solidFill>
                  <a:srgbClr val="331B0D"/>
                </a:solidFill>
                <a:latin typeface="Open Sauce"/>
                <a:ea typeface="Open Sauce"/>
                <a:cs typeface="Open Sauce"/>
                <a:sym typeface="Open Sauce"/>
              </a:rPr>
              <a:t>Verified smooth communication between React frontend, Node.js backend, and MySQL database through REST APIs.</a:t>
            </a:r>
          </a:p>
        </p:txBody>
      </p:sp>
      <p:sp>
        <p:nvSpPr>
          <p:cNvPr name="TextBox 9" id="9"/>
          <p:cNvSpPr txBox="true"/>
          <p:nvPr/>
        </p:nvSpPr>
        <p:spPr>
          <a:xfrm rot="0">
            <a:off x="564824" y="6190647"/>
            <a:ext cx="3705099" cy="260350"/>
          </a:xfrm>
          <a:prstGeom prst="rect">
            <a:avLst/>
          </a:prstGeom>
        </p:spPr>
        <p:txBody>
          <a:bodyPr anchor="t" rtlCol="false" tIns="0" lIns="0" bIns="0" rIns="0">
            <a:spAutoFit/>
          </a:bodyPr>
          <a:lstStyle/>
          <a:p>
            <a:pPr algn="just">
              <a:lnSpc>
                <a:spcPts val="1999"/>
              </a:lnSpc>
              <a:spcBef>
                <a:spcPct val="0"/>
              </a:spcBef>
            </a:pPr>
            <a:r>
              <a:rPr lang="en-US" b="true" sz="1999" spc="199">
                <a:solidFill>
                  <a:srgbClr val="903232"/>
                </a:solidFill>
                <a:latin typeface="Open Sauce Bold"/>
                <a:ea typeface="Open Sauce Bold"/>
                <a:cs typeface="Open Sauce Bold"/>
                <a:sym typeface="Open Sauce Bold"/>
              </a:rPr>
              <a:t>System Testing:</a:t>
            </a:r>
          </a:p>
        </p:txBody>
      </p:sp>
      <p:sp>
        <p:nvSpPr>
          <p:cNvPr name="TextBox 10" id="10"/>
          <p:cNvSpPr txBox="true"/>
          <p:nvPr/>
        </p:nvSpPr>
        <p:spPr>
          <a:xfrm rot="0">
            <a:off x="849259" y="6684042"/>
            <a:ext cx="8115300" cy="632462"/>
          </a:xfrm>
          <a:prstGeom prst="rect">
            <a:avLst/>
          </a:prstGeom>
        </p:spPr>
        <p:txBody>
          <a:bodyPr anchor="t" rtlCol="false" tIns="0" lIns="0" bIns="0" rIns="0">
            <a:spAutoFit/>
          </a:bodyPr>
          <a:lstStyle/>
          <a:p>
            <a:pPr algn="l">
              <a:lnSpc>
                <a:spcPts val="2400"/>
              </a:lnSpc>
            </a:pPr>
            <a:r>
              <a:rPr lang="en-US" sz="2400" spc="-144">
                <a:solidFill>
                  <a:srgbClr val="331B0D"/>
                </a:solidFill>
                <a:latin typeface="Open Sauce"/>
                <a:ea typeface="Open Sauce"/>
                <a:cs typeface="Open Sauce"/>
                <a:sym typeface="Open Sauce"/>
              </a:rPr>
              <a:t>Tested the complete workflow including login → student management → attendance → results → AI prediction.</a:t>
            </a:r>
          </a:p>
        </p:txBody>
      </p:sp>
      <p:sp>
        <p:nvSpPr>
          <p:cNvPr name="TextBox 11" id="11"/>
          <p:cNvSpPr txBox="true"/>
          <p:nvPr/>
        </p:nvSpPr>
        <p:spPr>
          <a:xfrm rot="0">
            <a:off x="564824" y="8095648"/>
            <a:ext cx="3705099" cy="260350"/>
          </a:xfrm>
          <a:prstGeom prst="rect">
            <a:avLst/>
          </a:prstGeom>
        </p:spPr>
        <p:txBody>
          <a:bodyPr anchor="t" rtlCol="false" tIns="0" lIns="0" bIns="0" rIns="0">
            <a:spAutoFit/>
          </a:bodyPr>
          <a:lstStyle/>
          <a:p>
            <a:pPr algn="just">
              <a:lnSpc>
                <a:spcPts val="1999"/>
              </a:lnSpc>
              <a:spcBef>
                <a:spcPct val="0"/>
              </a:spcBef>
            </a:pPr>
            <a:r>
              <a:rPr lang="en-US" b="true" sz="1999" spc="199">
                <a:solidFill>
                  <a:srgbClr val="903232"/>
                </a:solidFill>
                <a:latin typeface="Open Sauce Bold"/>
                <a:ea typeface="Open Sauce Bold"/>
                <a:cs typeface="Open Sauce Bold"/>
                <a:sym typeface="Open Sauce Bold"/>
              </a:rPr>
              <a:t>Model Testing:</a:t>
            </a:r>
          </a:p>
        </p:txBody>
      </p:sp>
      <p:sp>
        <p:nvSpPr>
          <p:cNvPr name="TextBox 12" id="12"/>
          <p:cNvSpPr txBox="true"/>
          <p:nvPr/>
        </p:nvSpPr>
        <p:spPr>
          <a:xfrm rot="0">
            <a:off x="849259" y="8589043"/>
            <a:ext cx="8115300" cy="632462"/>
          </a:xfrm>
          <a:prstGeom prst="rect">
            <a:avLst/>
          </a:prstGeom>
        </p:spPr>
        <p:txBody>
          <a:bodyPr anchor="t" rtlCol="false" tIns="0" lIns="0" bIns="0" rIns="0">
            <a:spAutoFit/>
          </a:bodyPr>
          <a:lstStyle/>
          <a:p>
            <a:pPr algn="l">
              <a:lnSpc>
                <a:spcPts val="2400"/>
              </a:lnSpc>
            </a:pPr>
            <a:r>
              <a:rPr lang="en-US" sz="2400" spc="-144">
                <a:solidFill>
                  <a:srgbClr val="331B0D"/>
                </a:solidFill>
                <a:latin typeface="Open Sauce"/>
                <a:ea typeface="Open Sauce"/>
                <a:cs typeface="Open Sauce"/>
                <a:sym typeface="Open Sauce"/>
              </a:rPr>
              <a:t>Validated the prediction module using sample academic datasets to ensure accurate performance insights.</a:t>
            </a:r>
          </a:p>
        </p:txBody>
      </p:sp>
      <p:pic>
        <p:nvPicPr>
          <p:cNvPr name="Picture 13" id="13"/>
          <p:cNvPicPr>
            <a:picLocks noChangeAspect="true"/>
          </p:cNvPicPr>
          <p:nvPr/>
        </p:nvPicPr>
        <p:blipFill>
          <a:blip r:embed="rId2"/>
          <a:stretch>
            <a:fillRect/>
          </a:stretch>
        </p:blipFill>
        <p:spPr>
          <a:xfrm rot="0">
            <a:off x="7569031" y="572833"/>
            <a:ext cx="11693420" cy="9677336"/>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9788212"/>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23</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MODULES</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G42</a:t>
            </a:r>
          </a:p>
        </p:txBody>
      </p:sp>
      <p:sp>
        <p:nvSpPr>
          <p:cNvPr name="TextBox 5" id="5"/>
          <p:cNvSpPr txBox="true"/>
          <p:nvPr/>
        </p:nvSpPr>
        <p:spPr>
          <a:xfrm rot="0">
            <a:off x="3537180"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Profile Management</a:t>
            </a:r>
          </a:p>
        </p:txBody>
      </p:sp>
      <p:sp>
        <p:nvSpPr>
          <p:cNvPr name="TextBox 6" id="6"/>
          <p:cNvSpPr txBox="true"/>
          <p:nvPr/>
        </p:nvSpPr>
        <p:spPr>
          <a:xfrm rot="0">
            <a:off x="3150810" y="4357692"/>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Students can view</a:t>
            </a:r>
            <a:r>
              <a:rPr lang="en-US" sz="2400" strike="noStrike" u="none">
                <a:solidFill>
                  <a:srgbClr val="331B0D"/>
                </a:solidFill>
                <a:latin typeface="Open Sauce"/>
                <a:ea typeface="Open Sauce"/>
                <a:cs typeface="Open Sauce"/>
                <a:sym typeface="Open Sauce"/>
              </a:rPr>
              <a:t> and update pe</a:t>
            </a:r>
            <a:r>
              <a:rPr lang="en-US" sz="2400" strike="noStrike" u="none">
                <a:solidFill>
                  <a:srgbClr val="331B0D"/>
                </a:solidFill>
                <a:latin typeface="Open Sauce"/>
                <a:ea typeface="Open Sauce"/>
                <a:cs typeface="Open Sauce"/>
                <a:sym typeface="Open Sauce"/>
              </a:rPr>
              <a:t>rs</a:t>
            </a:r>
            <a:r>
              <a:rPr lang="en-US" sz="2400" strike="noStrike" u="none">
                <a:solidFill>
                  <a:srgbClr val="331B0D"/>
                </a:solidFill>
                <a:latin typeface="Open Sauce"/>
                <a:ea typeface="Open Sauce"/>
                <a:cs typeface="Open Sauce"/>
                <a:sym typeface="Open Sauce"/>
              </a:rPr>
              <a:t>onal academic information</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Displays department, semester, and enrolled courses</a:t>
            </a:r>
          </a:p>
        </p:txBody>
      </p:sp>
      <p:sp>
        <p:nvSpPr>
          <p:cNvPr name="TextBox 7" id="7"/>
          <p:cNvSpPr txBox="true"/>
          <p:nvPr/>
        </p:nvSpPr>
        <p:spPr>
          <a:xfrm rot="0">
            <a:off x="1125249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Academic Performance</a:t>
            </a:r>
          </a:p>
        </p:txBody>
      </p:sp>
      <p:sp>
        <p:nvSpPr>
          <p:cNvPr name="TextBox 8" id="8"/>
          <p:cNvSpPr txBox="true"/>
          <p:nvPr/>
        </p:nvSpPr>
        <p:spPr>
          <a:xfrm rot="0">
            <a:off x="10975926" y="4357692"/>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View </a:t>
            </a:r>
            <a:r>
              <a:rPr lang="en-US" sz="2400" strike="noStrike" u="none">
                <a:solidFill>
                  <a:srgbClr val="331B0D"/>
                </a:solidFill>
                <a:latin typeface="Open Sauce"/>
                <a:ea typeface="Open Sauce"/>
                <a:cs typeface="Open Sauce"/>
                <a:sym typeface="Open Sauce"/>
              </a:rPr>
              <a:t>internal marks, exam results, and grades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Track academic progress across semesters</a:t>
            </a:r>
          </a:p>
        </p:txBody>
      </p:sp>
      <p:sp>
        <p:nvSpPr>
          <p:cNvPr name="TextBox 9" id="9"/>
          <p:cNvSpPr txBox="true"/>
          <p:nvPr/>
        </p:nvSpPr>
        <p:spPr>
          <a:xfrm rot="0">
            <a:off x="3625100" y="7236147"/>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Attendance Tracking</a:t>
            </a:r>
          </a:p>
        </p:txBody>
      </p:sp>
      <p:sp>
        <p:nvSpPr>
          <p:cNvPr name="TextBox 10" id="10"/>
          <p:cNvSpPr txBox="true"/>
          <p:nvPr/>
        </p:nvSpPr>
        <p:spPr>
          <a:xfrm rot="0">
            <a:off x="3150810" y="7909882"/>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Students can monitor subject-wise attendance</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System provides alerts for low attendance</a:t>
            </a:r>
          </a:p>
        </p:txBody>
      </p:sp>
      <p:sp>
        <p:nvSpPr>
          <p:cNvPr name="TextBox 11" id="11"/>
          <p:cNvSpPr txBox="true"/>
          <p:nvPr/>
        </p:nvSpPr>
        <p:spPr>
          <a:xfrm rot="0">
            <a:off x="11252496" y="74234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AI Performance Insights</a:t>
            </a:r>
          </a:p>
        </p:txBody>
      </p:sp>
      <p:sp>
        <p:nvSpPr>
          <p:cNvPr name="TextBox 12" id="12"/>
          <p:cNvSpPr txBox="true"/>
          <p:nvPr/>
        </p:nvSpPr>
        <p:spPr>
          <a:xfrm rot="0">
            <a:off x="10758593" y="8097207"/>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AI analyzes a</a:t>
            </a:r>
            <a:r>
              <a:rPr lang="en-US" sz="2400" strike="noStrike" u="none">
                <a:solidFill>
                  <a:srgbClr val="331B0D"/>
                </a:solidFill>
                <a:latin typeface="Open Sauce"/>
                <a:ea typeface="Open Sauce"/>
                <a:cs typeface="Open Sauce"/>
                <a:sym typeface="Open Sauce"/>
              </a:rPr>
              <a:t>ttendance and marks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Provides performance prediction and improvement suggestions</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Module </a:t>
            </a:r>
          </a:p>
          <a:p>
            <a:pPr algn="l">
              <a:lnSpc>
                <a:spcPts val="4800"/>
              </a:lnSpc>
            </a:pPr>
            <a:r>
              <a:rPr lang="en-US" sz="4800" spc="-288">
                <a:solidFill>
                  <a:srgbClr val="331B0D"/>
                </a:solidFill>
                <a:latin typeface="Open Sauce"/>
                <a:ea typeface="Open Sauce"/>
                <a:cs typeface="Open Sauce"/>
                <a:sym typeface="Open Sauce"/>
              </a:rPr>
              <a:t>Explanations</a:t>
            </a:r>
          </a:p>
        </p:txBody>
      </p:sp>
      <p:sp>
        <p:nvSpPr>
          <p:cNvPr name="TextBox 14" id="14"/>
          <p:cNvSpPr txBox="true"/>
          <p:nvPr/>
        </p:nvSpPr>
        <p:spPr>
          <a:xfrm rot="0">
            <a:off x="7321662" y="2361251"/>
            <a:ext cx="5806808" cy="4552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Student Module</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9788212"/>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24</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MODULES</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G42</a:t>
            </a:r>
          </a:p>
        </p:txBody>
      </p:sp>
      <p:sp>
        <p:nvSpPr>
          <p:cNvPr name="TextBox 5" id="5"/>
          <p:cNvSpPr txBox="true"/>
          <p:nvPr/>
        </p:nvSpPr>
        <p:spPr>
          <a:xfrm rot="0">
            <a:off x="3537180"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Course Management</a:t>
            </a:r>
          </a:p>
        </p:txBody>
      </p:sp>
      <p:sp>
        <p:nvSpPr>
          <p:cNvPr name="TextBox 6" id="6"/>
          <p:cNvSpPr txBox="true"/>
          <p:nvPr/>
        </p:nvSpPr>
        <p:spPr>
          <a:xfrm rot="0">
            <a:off x="3150810" y="4357692"/>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View</a:t>
            </a:r>
            <a:r>
              <a:rPr lang="en-US" sz="2400" strike="noStrike" u="none">
                <a:solidFill>
                  <a:srgbClr val="331B0D"/>
                </a:solidFill>
                <a:latin typeface="Open Sauce"/>
                <a:ea typeface="Open Sauce"/>
                <a:cs typeface="Open Sauce"/>
                <a:sym typeface="Open Sauce"/>
              </a:rPr>
              <a:t> and manage assigned courses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Access student enrollment details</a:t>
            </a:r>
          </a:p>
        </p:txBody>
      </p:sp>
      <p:sp>
        <p:nvSpPr>
          <p:cNvPr name="TextBox 7" id="7"/>
          <p:cNvSpPr txBox="true"/>
          <p:nvPr/>
        </p:nvSpPr>
        <p:spPr>
          <a:xfrm rot="0">
            <a:off x="1125249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Attendance Management</a:t>
            </a:r>
          </a:p>
        </p:txBody>
      </p:sp>
      <p:sp>
        <p:nvSpPr>
          <p:cNvPr name="TextBox 8" id="8"/>
          <p:cNvSpPr txBox="true"/>
          <p:nvPr/>
        </p:nvSpPr>
        <p:spPr>
          <a:xfrm rot="0">
            <a:off x="10975926" y="4357692"/>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Record da</a:t>
            </a:r>
            <a:r>
              <a:rPr lang="en-US" sz="2400" strike="noStrike" u="none">
                <a:solidFill>
                  <a:srgbClr val="331B0D"/>
                </a:solidFill>
                <a:latin typeface="Open Sauce"/>
                <a:ea typeface="Open Sauce"/>
                <a:cs typeface="Open Sauce"/>
                <a:sym typeface="Open Sauce"/>
              </a:rPr>
              <a:t>ily student attendance</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Update or correct attendance records</a:t>
            </a:r>
          </a:p>
        </p:txBody>
      </p:sp>
      <p:sp>
        <p:nvSpPr>
          <p:cNvPr name="TextBox 9" id="9"/>
          <p:cNvSpPr txBox="true"/>
          <p:nvPr/>
        </p:nvSpPr>
        <p:spPr>
          <a:xfrm rot="0">
            <a:off x="3625100" y="695992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Marks &amp; Evaluation</a:t>
            </a:r>
          </a:p>
        </p:txBody>
      </p:sp>
      <p:sp>
        <p:nvSpPr>
          <p:cNvPr name="TextBox 10" id="10"/>
          <p:cNvSpPr txBox="true"/>
          <p:nvPr/>
        </p:nvSpPr>
        <p:spPr>
          <a:xfrm rot="0">
            <a:off x="3150810" y="763365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En</a:t>
            </a:r>
            <a:r>
              <a:rPr lang="en-US" sz="2400" strike="noStrike" u="none">
                <a:solidFill>
                  <a:srgbClr val="331B0D"/>
                </a:solidFill>
                <a:latin typeface="Open Sauce"/>
                <a:ea typeface="Open Sauce"/>
                <a:cs typeface="Open Sauce"/>
                <a:sym typeface="Open Sauce"/>
              </a:rPr>
              <a:t>ter internal marks and assessment scores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Calculate grades and academic results</a:t>
            </a:r>
          </a:p>
        </p:txBody>
      </p:sp>
      <p:sp>
        <p:nvSpPr>
          <p:cNvPr name="TextBox 11" id="11"/>
          <p:cNvSpPr txBox="true"/>
          <p:nvPr/>
        </p:nvSpPr>
        <p:spPr>
          <a:xfrm rot="0">
            <a:off x="11222878" y="6973116"/>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Student Monitoring</a:t>
            </a:r>
          </a:p>
        </p:txBody>
      </p:sp>
      <p:sp>
        <p:nvSpPr>
          <p:cNvPr name="TextBox 12" id="12"/>
          <p:cNvSpPr txBox="true"/>
          <p:nvPr/>
        </p:nvSpPr>
        <p:spPr>
          <a:xfrm rot="0">
            <a:off x="10728975" y="7646851"/>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Track student progress and a</a:t>
            </a:r>
            <a:r>
              <a:rPr lang="en-US" sz="2400" strike="noStrike" u="none">
                <a:solidFill>
                  <a:srgbClr val="331B0D"/>
                </a:solidFill>
                <a:latin typeface="Open Sauce"/>
                <a:ea typeface="Open Sauce"/>
                <a:cs typeface="Open Sauce"/>
                <a:sym typeface="Open Sauce"/>
              </a:rPr>
              <a:t>ttendance trends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Use AI insights to identify struggling students</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Module </a:t>
            </a:r>
          </a:p>
          <a:p>
            <a:pPr algn="l">
              <a:lnSpc>
                <a:spcPts val="4800"/>
              </a:lnSpc>
            </a:pPr>
            <a:r>
              <a:rPr lang="en-US" sz="4800" spc="-288">
                <a:solidFill>
                  <a:srgbClr val="331B0D"/>
                </a:solidFill>
                <a:latin typeface="Open Sauce"/>
                <a:ea typeface="Open Sauce"/>
                <a:cs typeface="Open Sauce"/>
                <a:sym typeface="Open Sauce"/>
              </a:rPr>
              <a:t>Explanations</a:t>
            </a:r>
          </a:p>
        </p:txBody>
      </p:sp>
      <p:sp>
        <p:nvSpPr>
          <p:cNvPr name="TextBox 14" id="14"/>
          <p:cNvSpPr txBox="true"/>
          <p:nvPr/>
        </p:nvSpPr>
        <p:spPr>
          <a:xfrm rot="0">
            <a:off x="7321662" y="2361251"/>
            <a:ext cx="5806808" cy="4552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Faculty Module</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9788212"/>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25</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MODULES</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G42</a:t>
            </a:r>
          </a:p>
        </p:txBody>
      </p:sp>
      <p:sp>
        <p:nvSpPr>
          <p:cNvPr name="TextBox 5" id="5"/>
          <p:cNvSpPr txBox="true"/>
          <p:nvPr/>
        </p:nvSpPr>
        <p:spPr>
          <a:xfrm rot="0">
            <a:off x="3537180"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User Management</a:t>
            </a:r>
          </a:p>
        </p:txBody>
      </p:sp>
      <p:sp>
        <p:nvSpPr>
          <p:cNvPr name="TextBox 6" id="6"/>
          <p:cNvSpPr txBox="true"/>
          <p:nvPr/>
        </p:nvSpPr>
        <p:spPr>
          <a:xfrm rot="0">
            <a:off x="10728975" y="447643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Create courses, departments,</a:t>
            </a:r>
            <a:r>
              <a:rPr lang="en-US" sz="2400" strike="noStrike" u="none">
                <a:solidFill>
                  <a:srgbClr val="331B0D"/>
                </a:solidFill>
                <a:latin typeface="Open Sauce"/>
                <a:ea typeface="Open Sauce"/>
                <a:cs typeface="Open Sauce"/>
                <a:sym typeface="Open Sauce"/>
              </a:rPr>
              <a:t> and academic structures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Assign faculty members to courses</a:t>
            </a:r>
          </a:p>
        </p:txBody>
      </p:sp>
      <p:sp>
        <p:nvSpPr>
          <p:cNvPr name="TextBox 7" id="7"/>
          <p:cNvSpPr txBox="true"/>
          <p:nvPr/>
        </p:nvSpPr>
        <p:spPr>
          <a:xfrm rot="0">
            <a:off x="1125249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Course &amp; Department Setup</a:t>
            </a:r>
          </a:p>
        </p:txBody>
      </p:sp>
      <p:sp>
        <p:nvSpPr>
          <p:cNvPr name="TextBox 8" id="8"/>
          <p:cNvSpPr txBox="true"/>
          <p:nvPr/>
        </p:nvSpPr>
        <p:spPr>
          <a:xfrm rot="0">
            <a:off x="3150810" y="447643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Add, update, or remove</a:t>
            </a:r>
            <a:r>
              <a:rPr lang="en-US" sz="2400" strike="noStrike" u="none">
                <a:solidFill>
                  <a:srgbClr val="331B0D"/>
                </a:solidFill>
                <a:latin typeface="Open Sauce"/>
                <a:ea typeface="Open Sauce"/>
                <a:cs typeface="Open Sauce"/>
                <a:sym typeface="Open Sauce"/>
              </a:rPr>
              <a:t> student and faculty accounts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M</a:t>
            </a:r>
            <a:r>
              <a:rPr lang="en-US" sz="2400" strike="noStrike" u="none">
                <a:solidFill>
                  <a:srgbClr val="331B0D"/>
                </a:solidFill>
                <a:latin typeface="Open Sauce"/>
                <a:ea typeface="Open Sauce"/>
                <a:cs typeface="Open Sauce"/>
                <a:sym typeface="Open Sauce"/>
              </a:rPr>
              <a:t>anage system login credentials and roles</a:t>
            </a:r>
          </a:p>
        </p:txBody>
      </p:sp>
      <p:sp>
        <p:nvSpPr>
          <p:cNvPr name="TextBox 9" id="9"/>
          <p:cNvSpPr txBox="true"/>
          <p:nvPr/>
        </p:nvSpPr>
        <p:spPr>
          <a:xfrm rot="0">
            <a:off x="3625100" y="695992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Data Management</a:t>
            </a:r>
          </a:p>
        </p:txBody>
      </p:sp>
      <p:sp>
        <p:nvSpPr>
          <p:cNvPr name="TextBox 10" id="10"/>
          <p:cNvSpPr txBox="true"/>
          <p:nvPr/>
        </p:nvSpPr>
        <p:spPr>
          <a:xfrm rot="0">
            <a:off x="3150810" y="7633657"/>
            <a:ext cx="5606820" cy="1430655"/>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Main</a:t>
            </a:r>
            <a:r>
              <a:rPr lang="en-US" sz="2400" strike="noStrike" u="none">
                <a:solidFill>
                  <a:srgbClr val="331B0D"/>
                </a:solidFill>
                <a:latin typeface="Open Sauce"/>
                <a:ea typeface="Open Sauce"/>
                <a:cs typeface="Open Sauce"/>
                <a:sym typeface="Open Sauce"/>
              </a:rPr>
              <a:t>tain centralized academic records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Ens</a:t>
            </a:r>
            <a:r>
              <a:rPr lang="en-US" sz="2400" strike="noStrike" u="none">
                <a:solidFill>
                  <a:srgbClr val="331B0D"/>
                </a:solidFill>
                <a:latin typeface="Open Sauce"/>
                <a:ea typeface="Open Sauce"/>
                <a:cs typeface="Open Sauce"/>
                <a:sym typeface="Open Sauce"/>
              </a:rPr>
              <a:t>ure data accuracy and integrity</a:t>
            </a:r>
          </a:p>
        </p:txBody>
      </p:sp>
      <p:sp>
        <p:nvSpPr>
          <p:cNvPr name="TextBox 11" id="11"/>
          <p:cNvSpPr txBox="true"/>
          <p:nvPr/>
        </p:nvSpPr>
        <p:spPr>
          <a:xfrm rot="0">
            <a:off x="11222878" y="6973116"/>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Reports &amp; Analytics</a:t>
            </a:r>
          </a:p>
        </p:txBody>
      </p:sp>
      <p:sp>
        <p:nvSpPr>
          <p:cNvPr name="TextBox 12" id="12"/>
          <p:cNvSpPr txBox="true"/>
          <p:nvPr/>
        </p:nvSpPr>
        <p:spPr>
          <a:xfrm rot="0">
            <a:off x="10728975" y="7646851"/>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Generate institutional reports and sta</a:t>
            </a:r>
            <a:r>
              <a:rPr lang="en-US" sz="2400" strike="noStrike" u="none">
                <a:solidFill>
                  <a:srgbClr val="331B0D"/>
                </a:solidFill>
                <a:latin typeface="Open Sauce"/>
                <a:ea typeface="Open Sauce"/>
                <a:cs typeface="Open Sauce"/>
                <a:sym typeface="Open Sauce"/>
              </a:rPr>
              <a:t>tistics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Monitor overall academic performance</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Module </a:t>
            </a:r>
          </a:p>
          <a:p>
            <a:pPr algn="l">
              <a:lnSpc>
                <a:spcPts val="4800"/>
              </a:lnSpc>
            </a:pPr>
            <a:r>
              <a:rPr lang="en-US" sz="4800" spc="-288">
                <a:solidFill>
                  <a:srgbClr val="331B0D"/>
                </a:solidFill>
                <a:latin typeface="Open Sauce"/>
                <a:ea typeface="Open Sauce"/>
                <a:cs typeface="Open Sauce"/>
                <a:sym typeface="Open Sauce"/>
              </a:rPr>
              <a:t>Explanations</a:t>
            </a:r>
          </a:p>
        </p:txBody>
      </p:sp>
      <p:sp>
        <p:nvSpPr>
          <p:cNvPr name="TextBox 14" id="14"/>
          <p:cNvSpPr txBox="true"/>
          <p:nvPr/>
        </p:nvSpPr>
        <p:spPr>
          <a:xfrm rot="0">
            <a:off x="7321662" y="2361251"/>
            <a:ext cx="5806808" cy="4552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Admin Module</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9788212"/>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25</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sz="1800" spc="179">
                <a:solidFill>
                  <a:srgbClr val="8C7753"/>
                </a:solidFill>
                <a:latin typeface="Open Sauce"/>
                <a:ea typeface="Open Sauce"/>
                <a:cs typeface="Open Sauce"/>
                <a:sym typeface="Open Sauce"/>
              </a:rPr>
              <a:t>MODULES</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G42</a:t>
            </a:r>
          </a:p>
        </p:txBody>
      </p:sp>
      <p:sp>
        <p:nvSpPr>
          <p:cNvPr name="TextBox 5" id="5"/>
          <p:cNvSpPr txBox="true"/>
          <p:nvPr/>
        </p:nvSpPr>
        <p:spPr>
          <a:xfrm rot="0">
            <a:off x="3537180"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Data Collection</a:t>
            </a:r>
          </a:p>
        </p:txBody>
      </p:sp>
      <p:sp>
        <p:nvSpPr>
          <p:cNvPr name="TextBox 6" id="6"/>
          <p:cNvSpPr txBox="true"/>
          <p:nvPr/>
        </p:nvSpPr>
        <p:spPr>
          <a:xfrm rot="0">
            <a:off x="10728975" y="447643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Provide actionable insights to faculty</a:t>
            </a:r>
            <a:r>
              <a:rPr lang="en-US" sz="2400" strike="noStrike" u="none">
                <a:solidFill>
                  <a:srgbClr val="331B0D"/>
                </a:solidFill>
                <a:latin typeface="Open Sauce"/>
                <a:ea typeface="Open Sauce"/>
                <a:cs typeface="Open Sauce"/>
                <a:sym typeface="Open Sauce"/>
              </a:rPr>
              <a:t> and admin</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Support data-driven academic decision-making</a:t>
            </a:r>
          </a:p>
        </p:txBody>
      </p:sp>
      <p:sp>
        <p:nvSpPr>
          <p:cNvPr name="TextBox 7" id="7"/>
          <p:cNvSpPr txBox="true"/>
          <p:nvPr/>
        </p:nvSpPr>
        <p:spPr>
          <a:xfrm rot="0">
            <a:off x="11252496" y="377857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Insights &amp; Recommendations</a:t>
            </a:r>
          </a:p>
        </p:txBody>
      </p:sp>
      <p:sp>
        <p:nvSpPr>
          <p:cNvPr name="TextBox 8" id="8"/>
          <p:cNvSpPr txBox="true"/>
          <p:nvPr/>
        </p:nvSpPr>
        <p:spPr>
          <a:xfrm rot="0">
            <a:off x="3150810" y="447643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Collect academic data</a:t>
            </a:r>
            <a:r>
              <a:rPr lang="en-US" sz="2400" strike="noStrike" u="none">
                <a:solidFill>
                  <a:srgbClr val="331B0D"/>
                </a:solidFill>
                <a:latin typeface="Open Sauce"/>
                <a:ea typeface="Open Sauce"/>
                <a:cs typeface="Open Sauce"/>
                <a:sym typeface="Open Sauce"/>
              </a:rPr>
              <a:t> such as attendance and marks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Process historical academic records</a:t>
            </a:r>
          </a:p>
        </p:txBody>
      </p:sp>
      <p:sp>
        <p:nvSpPr>
          <p:cNvPr name="TextBox 9" id="9"/>
          <p:cNvSpPr txBox="true"/>
          <p:nvPr/>
        </p:nvSpPr>
        <p:spPr>
          <a:xfrm rot="0">
            <a:off x="3625100" y="6959922"/>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Data Analysis</a:t>
            </a:r>
          </a:p>
        </p:txBody>
      </p:sp>
      <p:sp>
        <p:nvSpPr>
          <p:cNvPr name="TextBox 10" id="10"/>
          <p:cNvSpPr txBox="true"/>
          <p:nvPr/>
        </p:nvSpPr>
        <p:spPr>
          <a:xfrm rot="0">
            <a:off x="3150810" y="7633657"/>
            <a:ext cx="5606820" cy="1916430"/>
          </a:xfrm>
          <a:prstGeom prst="rect">
            <a:avLst/>
          </a:prstGeom>
        </p:spPr>
        <p:txBody>
          <a:bodyPr anchor="t" rtlCol="false" tIns="0" lIns="0" bIns="0" rIns="0">
            <a:spAutoFit/>
          </a:bodyPr>
          <a:lstStyle/>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Apply machine le</a:t>
            </a:r>
            <a:r>
              <a:rPr lang="en-US" sz="2400" strike="noStrike" u="none">
                <a:solidFill>
                  <a:srgbClr val="331B0D"/>
                </a:solidFill>
                <a:latin typeface="Open Sauce"/>
                <a:ea typeface="Open Sauce"/>
                <a:cs typeface="Open Sauce"/>
                <a:sym typeface="Open Sauce"/>
              </a:rPr>
              <a:t>arning techniques to analyze patterns</a:t>
            </a:r>
          </a:p>
          <a:p>
            <a:pPr algn="l" marL="518160" indent="-259080" lvl="1">
              <a:lnSpc>
                <a:spcPts val="3840"/>
              </a:lnSpc>
              <a:spcBef>
                <a:spcPct val="0"/>
              </a:spcBef>
              <a:buFont typeface="Arial"/>
              <a:buChar char="•"/>
            </a:pPr>
            <a:r>
              <a:rPr lang="en-US" sz="2400" strike="noStrike" u="none">
                <a:solidFill>
                  <a:srgbClr val="331B0D"/>
                </a:solidFill>
                <a:latin typeface="Open Sauce"/>
                <a:ea typeface="Open Sauce"/>
                <a:cs typeface="Open Sauce"/>
                <a:sym typeface="Open Sauce"/>
              </a:rPr>
              <a:t>Detect performa</a:t>
            </a:r>
            <a:r>
              <a:rPr lang="en-US" sz="2400" strike="noStrike" u="none">
                <a:solidFill>
                  <a:srgbClr val="331B0D"/>
                </a:solidFill>
                <a:latin typeface="Open Sauce"/>
                <a:ea typeface="Open Sauce"/>
                <a:cs typeface="Open Sauce"/>
                <a:sym typeface="Open Sauce"/>
              </a:rPr>
              <a:t>nc</a:t>
            </a:r>
            <a:r>
              <a:rPr lang="en-US" sz="2400" strike="noStrike" u="none">
                <a:solidFill>
                  <a:srgbClr val="331B0D"/>
                </a:solidFill>
                <a:latin typeface="Open Sauce"/>
                <a:ea typeface="Open Sauce"/>
                <a:cs typeface="Open Sauce"/>
                <a:sym typeface="Open Sauce"/>
              </a:rPr>
              <a:t>e trends and risk indicators</a:t>
            </a:r>
          </a:p>
        </p:txBody>
      </p:sp>
      <p:sp>
        <p:nvSpPr>
          <p:cNvPr name="TextBox 11" id="11"/>
          <p:cNvSpPr txBox="true"/>
          <p:nvPr/>
        </p:nvSpPr>
        <p:spPr>
          <a:xfrm rot="0">
            <a:off x="11222878" y="6973116"/>
            <a:ext cx="5606820"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8C7753"/>
                </a:solidFill>
                <a:latin typeface="Open Sauce Bold"/>
                <a:ea typeface="Open Sauce Bold"/>
                <a:cs typeface="Open Sauce Bold"/>
                <a:sym typeface="Open Sauce Bold"/>
              </a:rPr>
              <a:t>Performance Prediction</a:t>
            </a:r>
          </a:p>
        </p:txBody>
      </p:sp>
      <p:sp>
        <p:nvSpPr>
          <p:cNvPr name="TextBox 12" id="12"/>
          <p:cNvSpPr txBox="true"/>
          <p:nvPr/>
        </p:nvSpPr>
        <p:spPr>
          <a:xfrm rot="0">
            <a:off x="10728975" y="7646851"/>
            <a:ext cx="5606820" cy="1916430"/>
          </a:xfrm>
          <a:prstGeom prst="rect">
            <a:avLst/>
          </a:prstGeom>
        </p:spPr>
        <p:txBody>
          <a:bodyPr anchor="t" rtlCol="false" tIns="0" lIns="0" bIns="0" rIns="0">
            <a:spAutoFit/>
          </a:bodyPr>
          <a:lstStyle/>
          <a:p>
            <a:pPr algn="l" marL="518160" indent="-259080" lvl="1">
              <a:lnSpc>
                <a:spcPts val="3840"/>
              </a:lnSpc>
              <a:buFont typeface="Arial"/>
              <a:buChar char="•"/>
            </a:pPr>
            <a:r>
              <a:rPr lang="en-US" sz="2400">
                <a:solidFill>
                  <a:srgbClr val="331B0D"/>
                </a:solidFill>
                <a:latin typeface="Open Sauce"/>
                <a:ea typeface="Open Sauce"/>
                <a:cs typeface="Open Sauce"/>
                <a:sym typeface="Open Sauce"/>
              </a:rPr>
              <a:t>Predict student academic outcomes</a:t>
            </a:r>
          </a:p>
          <a:p>
            <a:pPr algn="l" marL="518160" indent="-259080" lvl="1">
              <a:lnSpc>
                <a:spcPts val="3840"/>
              </a:lnSpc>
              <a:spcBef>
                <a:spcPct val="0"/>
              </a:spcBef>
              <a:buFont typeface="Arial"/>
              <a:buChar char="•"/>
            </a:pPr>
            <a:r>
              <a:rPr lang="en-US" sz="2400">
                <a:solidFill>
                  <a:srgbClr val="331B0D"/>
                </a:solidFill>
                <a:latin typeface="Open Sauce"/>
                <a:ea typeface="Open Sauce"/>
                <a:cs typeface="Open Sauce"/>
                <a:sym typeface="Open Sauce"/>
              </a:rPr>
              <a:t>Iden</a:t>
            </a:r>
            <a:r>
              <a:rPr lang="en-US" sz="2400" strike="noStrike" u="none">
                <a:solidFill>
                  <a:srgbClr val="331B0D"/>
                </a:solidFill>
                <a:latin typeface="Open Sauce"/>
                <a:ea typeface="Open Sauce"/>
                <a:cs typeface="Open Sauce"/>
                <a:sym typeface="Open Sauce"/>
              </a:rPr>
              <a:t>tify students who may require academic support</a:t>
            </a:r>
          </a:p>
        </p:txBody>
      </p:sp>
      <p:sp>
        <p:nvSpPr>
          <p:cNvPr name="TextBox 13" id="13"/>
          <p:cNvSpPr txBox="true"/>
          <p:nvPr/>
        </p:nvSpPr>
        <p:spPr>
          <a:xfrm rot="0">
            <a:off x="1028700" y="1989777"/>
            <a:ext cx="3677466" cy="12458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Module </a:t>
            </a:r>
          </a:p>
          <a:p>
            <a:pPr algn="l">
              <a:lnSpc>
                <a:spcPts val="4800"/>
              </a:lnSpc>
            </a:pPr>
            <a:r>
              <a:rPr lang="en-US" sz="4800" spc="-288">
                <a:solidFill>
                  <a:srgbClr val="331B0D"/>
                </a:solidFill>
                <a:latin typeface="Open Sauce"/>
                <a:ea typeface="Open Sauce"/>
                <a:cs typeface="Open Sauce"/>
                <a:sym typeface="Open Sauce"/>
              </a:rPr>
              <a:t>Explanations</a:t>
            </a:r>
          </a:p>
        </p:txBody>
      </p:sp>
      <p:sp>
        <p:nvSpPr>
          <p:cNvPr name="TextBox 14" id="14"/>
          <p:cNvSpPr txBox="true"/>
          <p:nvPr/>
        </p:nvSpPr>
        <p:spPr>
          <a:xfrm rot="0">
            <a:off x="7321662" y="2361251"/>
            <a:ext cx="5806808" cy="455296"/>
          </a:xfrm>
          <a:prstGeom prst="rect">
            <a:avLst/>
          </a:prstGeom>
        </p:spPr>
        <p:txBody>
          <a:bodyPr anchor="t" rtlCol="false" tIns="0" lIns="0" bIns="0" rIns="0">
            <a:spAutoFit/>
          </a:bodyPr>
          <a:lstStyle/>
          <a:p>
            <a:pPr algn="ctr">
              <a:lnSpc>
                <a:spcPts val="3300"/>
              </a:lnSpc>
            </a:pPr>
            <a:r>
              <a:rPr lang="en-US" sz="3300" spc="-198">
                <a:solidFill>
                  <a:srgbClr val="331B0D"/>
                </a:solidFill>
                <a:latin typeface="Open Sauce"/>
                <a:ea typeface="Open Sauce"/>
                <a:cs typeface="Open Sauce"/>
                <a:sym typeface="Open Sauce"/>
              </a:rPr>
              <a:t>Prediction Module</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34427" t="0" r="-34427" b="0"/>
            </a:stretch>
          </a:blipFill>
        </p:spPr>
      </p:sp>
      <p:sp>
        <p:nvSpPr>
          <p:cNvPr name="TextBox 3" id="3"/>
          <p:cNvSpPr txBox="true"/>
          <p:nvPr/>
        </p:nvSpPr>
        <p:spPr>
          <a:xfrm rot="0">
            <a:off x="9912749" y="1989777"/>
            <a:ext cx="7342398"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Summary</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5" id="5"/>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FFFFF"/>
                </a:solidFill>
                <a:latin typeface="Open Sauce Bold"/>
                <a:ea typeface="Open Sauce Bold"/>
                <a:cs typeface="Open Sauce Bold"/>
                <a:sym typeface="Open Sauce Bold"/>
              </a:rPr>
              <a:t>Solution Overview</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7" id="7"/>
          <p:cNvSpPr txBox="true"/>
          <p:nvPr/>
        </p:nvSpPr>
        <p:spPr>
          <a:xfrm rot="0">
            <a:off x="9912749" y="3073722"/>
            <a:ext cx="367119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We Cre</a:t>
            </a:r>
            <a:r>
              <a:rPr lang="en-US" sz="2400">
                <a:solidFill>
                  <a:srgbClr val="8C7753"/>
                </a:solidFill>
                <a:latin typeface="Open Sauce"/>
                <a:ea typeface="Open Sauce"/>
                <a:cs typeface="Open Sauce"/>
                <a:sym typeface="Open Sauce"/>
              </a:rPr>
              <a:t>ated</a:t>
            </a:r>
          </a:p>
        </p:txBody>
      </p:sp>
      <p:sp>
        <p:nvSpPr>
          <p:cNvPr name="TextBox 8" id="8"/>
          <p:cNvSpPr txBox="true"/>
          <p:nvPr/>
        </p:nvSpPr>
        <p:spPr>
          <a:xfrm rot="0">
            <a:off x="9912749"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We d</a:t>
            </a:r>
            <a:r>
              <a:rPr lang="en-US" sz="2100">
                <a:solidFill>
                  <a:srgbClr val="331B0D"/>
                </a:solidFill>
                <a:latin typeface="Open Sauce"/>
                <a:ea typeface="Open Sauce"/>
                <a:cs typeface="Open Sauce"/>
                <a:sym typeface="Open Sauce"/>
              </a:rPr>
              <a:t>esigned a lightweight digital planner made for students who want to stay organized without feeling overwhelmed.</a:t>
            </a:r>
          </a:p>
        </p:txBody>
      </p:sp>
      <p:sp>
        <p:nvSpPr>
          <p:cNvPr name="TextBox 9" id="9"/>
          <p:cNvSpPr txBox="true"/>
          <p:nvPr/>
        </p:nvSpPr>
        <p:spPr>
          <a:xfrm rot="0">
            <a:off x="9912749"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It Does</a:t>
            </a:r>
          </a:p>
        </p:txBody>
      </p:sp>
      <p:sp>
        <p:nvSpPr>
          <p:cNvPr name="TextBox 10" id="10"/>
          <p:cNvSpPr txBox="true"/>
          <p:nvPr/>
        </p:nvSpPr>
        <p:spPr>
          <a:xfrm rot="0">
            <a:off x="9912749" y="6460812"/>
            <a:ext cx="7342398"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Allows users to cre</a:t>
            </a:r>
            <a:r>
              <a:rPr lang="en-US" sz="2100">
                <a:solidFill>
                  <a:srgbClr val="331B0D"/>
                </a:solidFill>
                <a:latin typeface="Open Sauce"/>
                <a:ea typeface="Open Sauce"/>
                <a:cs typeface="Open Sauce"/>
                <a:sym typeface="Open Sauce"/>
              </a:rPr>
              <a:t>ate and manage tasks effortlessly</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Off</a:t>
            </a:r>
            <a:r>
              <a:rPr lang="en-US" sz="2100">
                <a:solidFill>
                  <a:srgbClr val="331B0D"/>
                </a:solidFill>
                <a:latin typeface="Open Sauce"/>
                <a:ea typeface="Open Sauce"/>
                <a:cs typeface="Open Sauce"/>
                <a:sym typeface="Open Sauce"/>
              </a:rPr>
              <a:t>ers a distraction-free “focus mode” for study or work</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Provides customizable reminders and alerts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Syncs data across multiple devices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Supp</a:t>
            </a:r>
            <a:r>
              <a:rPr lang="en-US" sz="2100">
                <a:solidFill>
                  <a:srgbClr val="331B0D"/>
                </a:solidFill>
                <a:latin typeface="Open Sauce"/>
                <a:ea typeface="Open Sauce"/>
                <a:cs typeface="Open Sauce"/>
                <a:sym typeface="Open Sauce"/>
              </a:rPr>
              <a:t>orts offline access for uninterrupted use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Key Features</a:t>
            </a:r>
          </a:p>
        </p:txBody>
      </p:sp>
      <p:sp>
        <p:nvSpPr>
          <p:cNvPr name="TextBox 3" id="3"/>
          <p:cNvSpPr txBox="true"/>
          <p:nvPr/>
        </p:nvSpPr>
        <p:spPr>
          <a:xfrm rot="0">
            <a:off x="1028700" y="4219448"/>
            <a:ext cx="6999640" cy="4345305"/>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Ou</a:t>
            </a:r>
            <a:r>
              <a:rPr lang="en-US" sz="2400">
                <a:solidFill>
                  <a:srgbClr val="331B0D"/>
                </a:solidFill>
                <a:latin typeface="Open Sauce"/>
                <a:ea typeface="Open Sauce"/>
                <a:cs typeface="Open Sauce"/>
                <a:sym typeface="Open Sauce"/>
              </a:rPr>
              <a:t>r final design includes a set of focused features aimed at enhancing usability and effectiveness. These include a clean visual layout for easy navigation, a drag-and-drop task scheduler, gentle reminders to reduce stress, and an offline mode for uninterrupted access. Each component was chosen to support the user’s productivity while keeping the interface simple and distraction-free.</a:t>
            </a:r>
          </a:p>
        </p:txBody>
      </p:sp>
      <p:sp>
        <p:nvSpPr>
          <p:cNvPr name="Freeform 4" id="4"/>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63065" t="0" r="-63065"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6" id="6"/>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Key Features</a:t>
            </a:r>
          </a:p>
        </p:txBody>
      </p:sp>
      <p:sp>
        <p:nvSpPr>
          <p:cNvPr name="TextBox 7" id="7"/>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6455618"/>
          </a:xfrm>
          <a:custGeom>
            <a:avLst/>
            <a:gdLst/>
            <a:ahLst/>
            <a:cxnLst/>
            <a:rect r="r" b="b" t="t" l="l"/>
            <a:pathLst>
              <a:path h="6455618" w="18288000">
                <a:moveTo>
                  <a:pt x="0" y="0"/>
                </a:moveTo>
                <a:lnTo>
                  <a:pt x="18288000" y="0"/>
                </a:lnTo>
                <a:lnTo>
                  <a:pt x="18288000" y="6455618"/>
                </a:lnTo>
                <a:lnTo>
                  <a:pt x="0" y="6455618"/>
                </a:lnTo>
                <a:lnTo>
                  <a:pt x="0" y="0"/>
                </a:lnTo>
                <a:close/>
              </a:path>
            </a:pathLst>
          </a:custGeom>
          <a:blipFill>
            <a:blip r:embed="rId2"/>
            <a:stretch>
              <a:fillRect l="0" t="-29674" r="0" b="-29674"/>
            </a:stretch>
          </a:blipFill>
        </p:spPr>
      </p:sp>
      <p:sp>
        <p:nvSpPr>
          <p:cNvPr name="TextBox 3" id="3"/>
          <p:cNvSpPr txBox="true"/>
          <p:nvPr/>
        </p:nvSpPr>
        <p:spPr>
          <a:xfrm rot="0">
            <a:off x="1028700"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S</a:t>
            </a:r>
            <a:r>
              <a:rPr lang="en-US" sz="2400">
                <a:solidFill>
                  <a:srgbClr val="331B0D"/>
                </a:solidFill>
                <a:latin typeface="Open Sauce"/>
                <a:ea typeface="Open Sauce"/>
                <a:cs typeface="Open Sauce"/>
                <a:sym typeface="Open Sauce"/>
              </a:rPr>
              <a:t>imple layout with today’s tasks and quick notes</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5" id="5"/>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FAF7F0"/>
                </a:solidFill>
                <a:latin typeface="Open Sauce Bold"/>
                <a:ea typeface="Open Sauce Bold"/>
                <a:cs typeface="Open Sauce Bold"/>
                <a:sym typeface="Open Sauce Bold"/>
              </a:rPr>
              <a:t>Prototype</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FAF7F0"/>
                </a:solidFill>
                <a:latin typeface="Open Sauce Bold"/>
                <a:ea typeface="Open Sauce Bold"/>
                <a:cs typeface="Open Sauce Bold"/>
                <a:sym typeface="Open Sauce Bold"/>
              </a:rPr>
              <a:t>Team A</a:t>
            </a:r>
          </a:p>
        </p:txBody>
      </p:sp>
      <p:sp>
        <p:nvSpPr>
          <p:cNvPr name="TextBox 7" id="7"/>
          <p:cNvSpPr txBox="true"/>
          <p:nvPr/>
        </p:nvSpPr>
        <p:spPr>
          <a:xfrm rot="0">
            <a:off x="7115551"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Dr</a:t>
            </a:r>
            <a:r>
              <a:rPr lang="en-US" sz="2400">
                <a:solidFill>
                  <a:srgbClr val="331B0D"/>
                </a:solidFill>
                <a:latin typeface="Open Sauce"/>
                <a:ea typeface="Open Sauce"/>
                <a:cs typeface="Open Sauce"/>
                <a:sym typeface="Open Sauce"/>
              </a:rPr>
              <a:t>ag-and-drop interface to organize your week</a:t>
            </a:r>
          </a:p>
        </p:txBody>
      </p:sp>
      <p:sp>
        <p:nvSpPr>
          <p:cNvPr name="TextBox 8" id="8"/>
          <p:cNvSpPr txBox="true"/>
          <p:nvPr/>
        </p:nvSpPr>
        <p:spPr>
          <a:xfrm rot="0">
            <a:off x="13202402" y="731286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Min</a:t>
            </a:r>
            <a:r>
              <a:rPr lang="en-US" sz="2400">
                <a:solidFill>
                  <a:srgbClr val="331B0D"/>
                </a:solidFill>
                <a:latin typeface="Open Sauce"/>
                <a:ea typeface="Open Sauce"/>
                <a:cs typeface="Open Sauce"/>
                <a:sym typeface="Open Sauce"/>
              </a:rPr>
              <a:t>imal screen with timer and soft reminders</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The End</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TEAM A</a:t>
            </a:r>
          </a:p>
        </p:txBody>
      </p:sp>
      <p:sp>
        <p:nvSpPr>
          <p:cNvPr name="TextBox 4" id="4"/>
          <p:cNvSpPr txBox="true"/>
          <p:nvPr/>
        </p:nvSpPr>
        <p:spPr>
          <a:xfrm rot="0">
            <a:off x="12698616" y="7778115"/>
            <a:ext cx="4560684" cy="1480185"/>
          </a:xfrm>
          <a:prstGeom prst="rect">
            <a:avLst/>
          </a:prstGeom>
        </p:spPr>
        <p:txBody>
          <a:bodyPr anchor="t" rtlCol="false" tIns="0" lIns="0" bIns="0" rIns="0">
            <a:spAutoFit/>
          </a:bodyPr>
          <a:lstStyle/>
          <a:p>
            <a:pPr algn="r">
              <a:lnSpc>
                <a:spcPts val="2940"/>
              </a:lnSpc>
            </a:pPr>
            <a:r>
              <a:rPr lang="en-US" sz="2100">
                <a:solidFill>
                  <a:srgbClr val="331B0D"/>
                </a:solidFill>
                <a:latin typeface="Open Sauce"/>
                <a:ea typeface="Open Sauce"/>
                <a:cs typeface="Open Sauce"/>
                <a:sym typeface="Open Sauce"/>
              </a:rPr>
              <a:t>Drew Feig</a:t>
            </a:r>
          </a:p>
          <a:p>
            <a:pPr algn="r">
              <a:lnSpc>
                <a:spcPts val="2940"/>
              </a:lnSpc>
            </a:pPr>
            <a:r>
              <a:rPr lang="en-US" sz="2100">
                <a:solidFill>
                  <a:srgbClr val="331B0D"/>
                </a:solidFill>
                <a:latin typeface="Open Sauce"/>
                <a:ea typeface="Open Sauce"/>
                <a:cs typeface="Open Sauce"/>
                <a:sym typeface="Open Sauce"/>
              </a:rPr>
              <a:t>Eleanor Fitzgerald</a:t>
            </a:r>
          </a:p>
          <a:p>
            <a:pPr algn="r">
              <a:lnSpc>
                <a:spcPts val="2940"/>
              </a:lnSpc>
            </a:pPr>
            <a:r>
              <a:rPr lang="en-US" sz="2100">
                <a:solidFill>
                  <a:srgbClr val="331B0D"/>
                </a:solidFill>
                <a:latin typeface="Open Sauce"/>
                <a:ea typeface="Open Sauce"/>
                <a:cs typeface="Open Sauce"/>
                <a:sym typeface="Open Sauce"/>
              </a:rPr>
              <a:t>Estelle Darcy</a:t>
            </a:r>
          </a:p>
          <a:p>
            <a:pPr algn="r">
              <a:lnSpc>
                <a:spcPts val="2940"/>
              </a:lnSpc>
            </a:pPr>
            <a:r>
              <a:rPr lang="en-US" sz="2100">
                <a:solidFill>
                  <a:srgbClr val="331B0D"/>
                </a:solidFill>
                <a:latin typeface="Open Sauce"/>
                <a:ea typeface="Open Sauce"/>
                <a:cs typeface="Open Sauce"/>
                <a:sym typeface="Open Sauce"/>
              </a:rPr>
              <a:t>Donna Stroupe</a:t>
            </a:r>
          </a:p>
        </p:txBody>
      </p:sp>
      <p:sp>
        <p:nvSpPr>
          <p:cNvPr name="TextBox 5" id="5"/>
          <p:cNvSpPr txBox="true"/>
          <p:nvPr/>
        </p:nvSpPr>
        <p:spPr>
          <a:xfrm rot="0">
            <a:off x="1028700" y="1057275"/>
            <a:ext cx="4560684"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Studio Shodw</a:t>
            </a:r>
            <a:r>
              <a:rPr lang="en-US" b="true" sz="1800" spc="179">
                <a:solidFill>
                  <a:srgbClr val="8C7753"/>
                </a:solidFill>
                <a:latin typeface="Open Sauce Bold"/>
                <a:ea typeface="Open Sauce Bold"/>
                <a:cs typeface="Open Sauce Bold"/>
                <a:sym typeface="Open Sauce Bold"/>
              </a:rPr>
              <a:t>E</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4632" y="3702372"/>
            <a:ext cx="1706721" cy="1733445"/>
          </a:xfrm>
          <a:custGeom>
            <a:avLst/>
            <a:gdLst/>
            <a:ahLst/>
            <a:cxnLst/>
            <a:rect r="r" b="b" t="t" l="l"/>
            <a:pathLst>
              <a:path h="1733445" w="1706721">
                <a:moveTo>
                  <a:pt x="0" y="0"/>
                </a:moveTo>
                <a:lnTo>
                  <a:pt x="1706721" y="0"/>
                </a:lnTo>
                <a:lnTo>
                  <a:pt x="1706721" y="1733445"/>
                </a:lnTo>
                <a:lnTo>
                  <a:pt x="0" y="1733445"/>
                </a:lnTo>
                <a:lnTo>
                  <a:pt x="0" y="0"/>
                </a:lnTo>
                <a:close/>
              </a:path>
            </a:pathLst>
          </a:custGeom>
          <a:blipFill>
            <a:blip r:embed="rId2"/>
            <a:stretch>
              <a:fillRect l="0" t="0" r="0" b="0"/>
            </a:stretch>
          </a:blipFill>
        </p:spPr>
      </p:sp>
      <p:sp>
        <p:nvSpPr>
          <p:cNvPr name="Freeform 3" id="3"/>
          <p:cNvSpPr/>
          <p:nvPr/>
        </p:nvSpPr>
        <p:spPr>
          <a:xfrm flipH="false" flipV="false" rot="0">
            <a:off x="9276000" y="3597597"/>
            <a:ext cx="1675859" cy="2022153"/>
          </a:xfrm>
          <a:custGeom>
            <a:avLst/>
            <a:gdLst/>
            <a:ahLst/>
            <a:cxnLst/>
            <a:rect r="r" b="b" t="t" l="l"/>
            <a:pathLst>
              <a:path h="2022153" w="1675859">
                <a:moveTo>
                  <a:pt x="0" y="0"/>
                </a:moveTo>
                <a:lnTo>
                  <a:pt x="1675859" y="0"/>
                </a:lnTo>
                <a:lnTo>
                  <a:pt x="1675859" y="2022153"/>
                </a:lnTo>
                <a:lnTo>
                  <a:pt x="0" y="2022153"/>
                </a:lnTo>
                <a:lnTo>
                  <a:pt x="0" y="0"/>
                </a:lnTo>
                <a:close/>
              </a:path>
            </a:pathLst>
          </a:custGeom>
          <a:blipFill>
            <a:blip r:embed="rId3"/>
            <a:stretch>
              <a:fillRect l="0" t="0" r="0" b="0"/>
            </a:stretch>
          </a:blipFill>
        </p:spPr>
      </p:sp>
      <p:sp>
        <p:nvSpPr>
          <p:cNvPr name="Freeform 4" id="4"/>
          <p:cNvSpPr/>
          <p:nvPr/>
        </p:nvSpPr>
        <p:spPr>
          <a:xfrm flipH="false" flipV="false" rot="0">
            <a:off x="0" y="7607622"/>
            <a:ext cx="18288000" cy="2679378"/>
          </a:xfrm>
          <a:custGeom>
            <a:avLst/>
            <a:gdLst/>
            <a:ahLst/>
            <a:cxnLst/>
            <a:rect r="r" b="b" t="t" l="l"/>
            <a:pathLst>
              <a:path h="2679378" w="18288000">
                <a:moveTo>
                  <a:pt x="0" y="0"/>
                </a:moveTo>
                <a:lnTo>
                  <a:pt x="18288000" y="0"/>
                </a:lnTo>
                <a:lnTo>
                  <a:pt x="18288000" y="2679378"/>
                </a:lnTo>
                <a:lnTo>
                  <a:pt x="0" y="2679378"/>
                </a:lnTo>
                <a:lnTo>
                  <a:pt x="0" y="0"/>
                </a:lnTo>
                <a:close/>
              </a:path>
            </a:pathLst>
          </a:custGeom>
          <a:blipFill>
            <a:blip r:embed="rId4"/>
            <a:stretch>
              <a:fillRect l="0" t="-79715" r="0" b="-275315"/>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7" id="7"/>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Target Audience</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Team A</a:t>
            </a:r>
          </a:p>
        </p:txBody>
      </p:sp>
      <p:sp>
        <p:nvSpPr>
          <p:cNvPr name="TextBox 9" id="9"/>
          <p:cNvSpPr txBox="true"/>
          <p:nvPr/>
        </p:nvSpPr>
        <p:spPr>
          <a:xfrm rot="0">
            <a:off x="3149424" y="354997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Target User</a:t>
            </a:r>
          </a:p>
        </p:txBody>
      </p:sp>
      <p:sp>
        <p:nvSpPr>
          <p:cNvPr name="TextBox 10" id="10"/>
          <p:cNvSpPr txBox="true"/>
          <p:nvPr/>
        </p:nvSpPr>
        <p:spPr>
          <a:xfrm rot="0">
            <a:off x="3149424" y="4308162"/>
            <a:ext cx="4355740"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Coll</a:t>
            </a:r>
            <a:r>
              <a:rPr lang="en-US" sz="2100">
                <a:solidFill>
                  <a:srgbClr val="331B0D"/>
                </a:solidFill>
                <a:latin typeface="Open Sauce"/>
                <a:ea typeface="Open Sauce"/>
                <a:cs typeface="Open Sauce"/>
                <a:sym typeface="Open Sauce"/>
              </a:rPr>
              <a:t>ege students between 18–24 years old, balancing academics, part-time jobs, and personal life.</a:t>
            </a:r>
          </a:p>
        </p:txBody>
      </p:sp>
      <p:sp>
        <p:nvSpPr>
          <p:cNvPr name="TextBox 11" id="11"/>
          <p:cNvSpPr txBox="true"/>
          <p:nvPr/>
        </p:nvSpPr>
        <p:spPr>
          <a:xfrm rot="0">
            <a:off x="11425565" y="3549972"/>
            <a:ext cx="27926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Their Challenges</a:t>
            </a:r>
          </a:p>
        </p:txBody>
      </p:sp>
      <p:sp>
        <p:nvSpPr>
          <p:cNvPr name="TextBox 12" id="12"/>
          <p:cNvSpPr txBox="true"/>
          <p:nvPr/>
        </p:nvSpPr>
        <p:spPr>
          <a:xfrm rot="0">
            <a:off x="11425565" y="4308162"/>
            <a:ext cx="5152170"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Struggl</a:t>
            </a:r>
            <a:r>
              <a:rPr lang="en-US" sz="2100">
                <a:solidFill>
                  <a:srgbClr val="331B0D"/>
                </a:solidFill>
                <a:latin typeface="Open Sauce"/>
                <a:ea typeface="Open Sauce"/>
                <a:cs typeface="Open Sauce"/>
                <a:sym typeface="Open Sauce"/>
              </a:rPr>
              <a:t>e with managing time and deadlines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Easily distracted by phones or unstructured routines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Feel overwhelmed by traditional productivity apps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DAG--tCR0FY</dc:identifier>
  <dcterms:modified xsi:type="dcterms:W3CDTF">2011-08-01T06:04:30Z</dcterms:modified>
  <cp:revision>1</cp:revision>
  <dc:title> Final Project Presentation</dc:title>
</cp:coreProperties>
</file>